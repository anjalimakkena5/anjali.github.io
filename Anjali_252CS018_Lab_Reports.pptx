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11.jpeg" ContentType="image/jpeg"/>
  <Override PartName="/ppt/media/image13.png" ContentType="image/pn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46CFC80-DC0E-4129-97CA-4A21CA9197B8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A26D67-857C-49EB-BDCB-02DBE592D9C9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0FF05B-E726-4B47-B5F7-01CDE49D341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018A4D-FFA9-4A71-B6A8-64354F8CCC2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F0C04E-5083-4722-AE3A-96479172B220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B51784-AD77-41D3-9385-479D4C49FF8A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94231F-3025-4493-9F70-9F674BDA8F6D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FAFAA8-5D14-44A1-99B6-50A92724883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286D84-F117-472E-80CB-D47DDE47CE65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539DE1-1CDA-40EF-9651-04775962BEA7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A8B200-0D97-48EE-9597-6C24967389DB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850765-86C9-4101-88EA-4C948FF8E14D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0743E1-6C81-480A-B3F9-AF4CF75970D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A81203-C6E5-4BA4-A99F-EA57E9067081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8ED106-0DC5-4858-836E-206679B01B10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52D256-383A-478E-A2FD-88282005AA4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62DB0C-1935-4E71-AA0F-43628D17AF1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3E6402-AB2A-4F72-823B-03FF44C366B1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73A095-6D9E-4D64-AE63-EBCD1EA9816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D3090D-9D8B-4ED6-B0BC-8AD96431717E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84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2286000"/>
            <a:ext cx="9143640" cy="2377080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456840" cy="51433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DDM Lab &amp; Data Engineering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82296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4caf7d"/>
                </a:solidFill>
                <a:uFillTx/>
                <a:latin typeface="Calibri"/>
                <a:ea typeface="Calibri"/>
              </a:rPr>
              <a:t>Laboratory Reports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132588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ccccc"/>
                </a:solidFill>
                <a:uFillTx/>
                <a:latin typeface="Calibri"/>
                <a:ea typeface="Calibri"/>
              </a:rPr>
              <a:t>Crop Recommendation using Hadoop MapReduce  ·  ETL Pipeline  ·  EDA &amp; Machine Learning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40080" y="2423160"/>
            <a:ext cx="3840120" cy="208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822960" y="25146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4caf7d"/>
                </a:solidFill>
                <a:uFillTx/>
                <a:latin typeface="Calibri"/>
                <a:ea typeface="Calibri"/>
              </a:rPr>
              <a:t>Student Details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22960" y="285300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7d"/>
                </a:solidFill>
                <a:uFillTx/>
                <a:latin typeface="Calibri"/>
                <a:ea typeface="Calibri"/>
              </a:rPr>
              <a:t>Name: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176200" y="285300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eeeee"/>
                </a:solidFill>
                <a:uFillTx/>
                <a:latin typeface="Calibri"/>
                <a:ea typeface="Calibri"/>
              </a:rPr>
              <a:t>Anjali Makkena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822960" y="316368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7d"/>
                </a:solidFill>
                <a:uFillTx/>
                <a:latin typeface="Calibri"/>
                <a:ea typeface="Calibri"/>
              </a:rPr>
              <a:t>Roll Number: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2176200" y="316368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eeeee"/>
                </a:solidFill>
                <a:uFillTx/>
                <a:latin typeface="Calibri"/>
                <a:ea typeface="Calibri"/>
              </a:rPr>
              <a:t>252CS018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822960" y="347472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7d"/>
                </a:solidFill>
                <a:uFillTx/>
                <a:latin typeface="Calibri"/>
                <a:ea typeface="Calibri"/>
              </a:rPr>
              <a:t>Subject: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2176200" y="347472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eeeee"/>
                </a:solidFill>
                <a:uFillTx/>
                <a:latin typeface="Calibri"/>
                <a:ea typeface="Calibri"/>
              </a:rPr>
              <a:t>Distributed Data Management (DDM Lab)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822960" y="37857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7d"/>
                </a:solidFill>
                <a:uFillTx/>
                <a:latin typeface="Calibri"/>
                <a:ea typeface="Calibri"/>
              </a:rPr>
              <a:t>Platform: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2176200" y="378576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eeeee"/>
                </a:solidFill>
                <a:uFillTx/>
                <a:latin typeface="Calibri"/>
                <a:ea typeface="Calibri"/>
              </a:rPr>
              <a:t>Hadoop 3.3.6 · Python 3 · Google Colab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822960" y="409644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7d"/>
                </a:solidFill>
                <a:uFillTx/>
                <a:latin typeface="Calibri"/>
                <a:ea typeface="Calibri"/>
              </a:rPr>
              <a:t>Dataset: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2176200" y="409644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eeeee"/>
                </a:solidFill>
                <a:uFillTx/>
                <a:latin typeface="Calibri"/>
                <a:ea typeface="Calibri"/>
              </a:rPr>
              <a:t>Crop Recommendation (500K records + 2200 records)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4754880" y="2423160"/>
            <a:ext cx="4023000" cy="959760"/>
          </a:xfrm>
          <a:prstGeom prst="rect">
            <a:avLst/>
          </a:prstGeom>
          <a:solidFill>
            <a:srgbClr val="1a3a2a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4937760" y="2496240"/>
            <a:ext cx="1005480" cy="273960"/>
          </a:xfrm>
          <a:prstGeom prst="rect">
            <a:avLst/>
          </a:prstGeom>
          <a:solidFill>
            <a:srgbClr val="4caf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DDM LAB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016680" y="2496240"/>
            <a:ext cx="263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eeeee"/>
                </a:solidFill>
                <a:uFillTx/>
                <a:latin typeface="Calibri"/>
                <a:ea typeface="Calibri"/>
              </a:rPr>
              <a:t>Distributed Crop Recommendation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eeeee"/>
                </a:solidFill>
                <a:uFillTx/>
                <a:latin typeface="Calibri"/>
                <a:ea typeface="Calibri"/>
              </a:rPr>
              <a:t>Hadoop MapReduce · HDFS · YARN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4937760" y="30175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4caf7d"/>
                </a:solidFill>
                <a:uFillTx/>
                <a:latin typeface="Calibri"/>
                <a:ea typeface="Calibri"/>
              </a:rPr>
              <a:t>Java 8 · Python 3 · 500,000 records · 5 Regions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4754880" y="3493080"/>
            <a:ext cx="4023000" cy="959760"/>
          </a:xfrm>
          <a:prstGeom prst="rect">
            <a:avLst/>
          </a:prstGeom>
          <a:solidFill>
            <a:srgbClr val="1a3a2a"/>
          </a:solidFill>
          <a:ln w="127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4937760" y="3566160"/>
            <a:ext cx="1005480" cy="273960"/>
          </a:xfrm>
          <a:prstGeom prst="rect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DEP LAB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6016680" y="3566160"/>
            <a:ext cx="263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eeeee"/>
                </a:solidFill>
                <a:uFillTx/>
                <a:latin typeface="Calibri"/>
                <a:ea typeface="Calibri"/>
              </a:rPr>
              <a:t>ETL Pipeline · EDA · KNN Classifier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eeeee"/>
                </a:solidFill>
                <a:uFillTx/>
                <a:latin typeface="Calibri"/>
                <a:ea typeface="Calibri"/>
              </a:rPr>
              <a:t>LAB-1 &amp; LAB-2 Combined Report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4937760" y="408744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e8a838"/>
                </a:solidFill>
                <a:uFillTx/>
                <a:latin typeface="Calibri"/>
                <a:ea typeface="Calibri"/>
              </a:rPr>
              <a:t>97.82% KNN Accuracy · 2200 records · 22 crop types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1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84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0" y="1691640"/>
            <a:ext cx="9143640" cy="1737000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457200" y="914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caf7d"/>
                </a:solidFill>
                <a:uFillTx/>
                <a:latin typeface="Calibri"/>
                <a:ea typeface="Calibri"/>
              </a:rPr>
              <a:t>SECTION 1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457200" y="1783080"/>
            <a:ext cx="8229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DDM Lab Assignment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457200" y="2633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caf7d"/>
                </a:solidFill>
                <a:uFillTx/>
                <a:latin typeface="Calibri"/>
                <a:ea typeface="Calibri"/>
              </a:rPr>
              <a:t>Distributed Crop Recommendation System Using Hadoop MapReduce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Abstract &amp; Objectives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365760" y="7772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Agriculture generates terabytes of IoT sensor data annually. Existing crop recommendation systems process data on a single machine — suffering memory limits, long processing times, and single points of failure at scale.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365760" y="1298520"/>
            <a:ext cx="1691280" cy="91404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365760" y="1371600"/>
            <a:ext cx="1691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500K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365760" y="180144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Records Processed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2194560" y="1298520"/>
            <a:ext cx="1691280" cy="91404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2194560" y="1371600"/>
            <a:ext cx="1691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25.2s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2194560" y="180144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Total Execution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4023360" y="1298520"/>
            <a:ext cx="1691280" cy="91404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4023360" y="1371600"/>
            <a:ext cx="1691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5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4023360" y="180144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Indian Regions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5852160" y="1298520"/>
            <a:ext cx="1691280" cy="91404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5852160" y="1371600"/>
            <a:ext cx="1691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100%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5852160" y="180144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Data Locality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7680960" y="1298520"/>
            <a:ext cx="1298160" cy="91404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7680960" y="1371600"/>
            <a:ext cx="1298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0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7680960" y="1801440"/>
            <a:ext cx="1298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Job Failures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365760" y="2331720"/>
            <a:ext cx="841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Objectives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365760" y="2606040"/>
            <a:ext cx="50288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Design and implement a MapReduce-based crop recommendation system on Apache Hadoop HDFS 3.3.6.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Process a dataset of 500,000 agricultural records across 5 Indian regions (Karnataka, Punjab, Tamil Nadu, Maharashtra, Uttar Pradesh).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Compare performance against single-node pandas processing at multiple dataset scales (10K–500K records).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Demonstrate horizontal scalability, fault tolerance, and data locality advantages of distributed processing.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Implement a weighted Euclidean distance scoring function to recommend the most suitable crop per region.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Shape 20"/>
          <p:cNvSpPr/>
          <p:nvPr/>
        </p:nvSpPr>
        <p:spPr>
          <a:xfrm>
            <a:off x="5623560" y="2331720"/>
            <a:ext cx="3154320" cy="24868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5733360" y="2404800"/>
            <a:ext cx="2971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Technology Stack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Text 22"/>
          <p:cNvSpPr/>
          <p:nvPr/>
        </p:nvSpPr>
        <p:spPr>
          <a:xfrm>
            <a:off x="5733360" y="2697480"/>
            <a:ext cx="2971440" cy="20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Storage: Apache Hadoop HDFS 3.3.6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Compute: Hadoop MapReduce (YARN)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Language: Java 8 (MapReduce) + Python 3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Platform: Ubuntu Linux, pseudo-distributed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Tools: HDFS, YARN, Matplotlib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Text 23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3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System Architecture — 4-Layer MapReduce Pipeline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365760" y="777240"/>
            <a:ext cx="8412120" cy="9597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365760" y="777240"/>
            <a:ext cx="1188360" cy="959760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365760" y="103320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Layer 1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Data Ingestion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1664280" y="941760"/>
            <a:ext cx="6994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Agricultural data (N, P, K, temp, humidity, pH, rainfall, region, label) uploaded to HDFS. Data automatically split into 128 MB blocks for distributed storage.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4434840" y="1737360"/>
            <a:ext cx="4568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</a:rPr>
              <a:t>▼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365760" y="1828800"/>
            <a:ext cx="8412120" cy="9597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Shape 8"/>
          <p:cNvSpPr/>
          <p:nvPr/>
        </p:nvSpPr>
        <p:spPr>
          <a:xfrm>
            <a:off x="365760" y="1828800"/>
            <a:ext cx="1188360" cy="9597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365760" y="208476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Layer 2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Map Phase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1664280" y="1993320"/>
            <a:ext cx="6994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Each Mapper processes one HDFS block independently. Emits key=region_id, value=feature_string. 1 map task processed all 500,001 input records. 100% data locality.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4434840" y="2788920"/>
            <a:ext cx="4568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</a:rPr>
              <a:t>▼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Shape 12"/>
          <p:cNvSpPr/>
          <p:nvPr/>
        </p:nvSpPr>
        <p:spPr>
          <a:xfrm>
            <a:off x="365760" y="2880360"/>
            <a:ext cx="8412120" cy="9597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365760" y="2880360"/>
            <a:ext cx="1188360" cy="959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365760" y="313632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Layer 3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Shuffle &amp; Sort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1664280" y="3044880"/>
            <a:ext cx="6994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Hadoop automatically groups all values by region key. All 'Karnataka' records → Reducer 1, 'Punjab' → Reducer 2, etc. 5 reduce tasks launched — one per region.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Text 16"/>
          <p:cNvSpPr/>
          <p:nvPr/>
        </p:nvSpPr>
        <p:spPr>
          <a:xfrm>
            <a:off x="4434840" y="3840480"/>
            <a:ext cx="4568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</a:rPr>
              <a:t>▼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Shape 17"/>
          <p:cNvSpPr/>
          <p:nvPr/>
        </p:nvSpPr>
        <p:spPr>
          <a:xfrm>
            <a:off x="365760" y="3931920"/>
            <a:ext cx="8412120" cy="9597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Shape 18"/>
          <p:cNvSpPr/>
          <p:nvPr/>
        </p:nvSpPr>
        <p:spPr>
          <a:xfrm>
            <a:off x="365760" y="3931920"/>
            <a:ext cx="1188360" cy="959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2" name="Text 19"/>
          <p:cNvSpPr/>
          <p:nvPr/>
        </p:nvSpPr>
        <p:spPr>
          <a:xfrm>
            <a:off x="365760" y="418788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Layer 4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Reduce Phase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Text 20"/>
          <p:cNvSpPr/>
          <p:nvPr/>
        </p:nvSpPr>
        <p:spPr>
          <a:xfrm>
            <a:off x="1664280" y="4096440"/>
            <a:ext cx="6994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Each Reducer computes per-feature averages, scores against 10 crop ideal profiles using weighted Euclidean distance, and outputs the recommended crop.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Text 21"/>
          <p:cNvSpPr/>
          <p:nvPr/>
        </p:nvSpPr>
        <p:spPr>
          <a:xfrm>
            <a:off x="365760" y="4983480"/>
            <a:ext cx="841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Scoring: score(region, crop) = √(Σᵢ wᵢ × ((avg_featureᵢ − idealᵢ) / max_featureᵢ)²)  |  Weights: N=0.15, P=0.10, K=0.10, Temp=0.20, Humidity=0.15, pH=0.15, Rainfall=0.15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Text 22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4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Dataset — 500,000 Synthetic Agricultural Records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365760" y="77724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Left: Dataset attributes and crop classes. Right: Actual region distribution from MapReduce output (near-uniform ~100K/region).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365760" y="1005840"/>
            <a:ext cx="1371240" cy="25560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Attribute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1737360" y="1005840"/>
            <a:ext cx="2925720" cy="25560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Description / Range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365760" y="1261800"/>
            <a:ext cx="1371240" cy="3470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438840" y="13168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region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1737360" y="1261800"/>
            <a:ext cx="2925720" cy="3470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1810440" y="131688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Karnataka · Punjab · Tamil Nadu · Maharashtra · Uttar Pradesh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365760" y="1645920"/>
            <a:ext cx="137124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438840" y="170064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N (kg/ha)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Shape 11"/>
          <p:cNvSpPr/>
          <p:nvPr/>
        </p:nvSpPr>
        <p:spPr>
          <a:xfrm>
            <a:off x="1737360" y="1645920"/>
            <a:ext cx="292572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1810440" y="170064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Nitrogen content: 0–200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365760" y="2030040"/>
            <a:ext cx="1371240" cy="3470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438840" y="208476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P (kg/ha)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Shape 15"/>
          <p:cNvSpPr/>
          <p:nvPr/>
        </p:nvSpPr>
        <p:spPr>
          <a:xfrm>
            <a:off x="1737360" y="2030040"/>
            <a:ext cx="2925720" cy="3470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1810440" y="208476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Phosphorus: 0–145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Shape 17"/>
          <p:cNvSpPr/>
          <p:nvPr/>
        </p:nvSpPr>
        <p:spPr>
          <a:xfrm>
            <a:off x="365760" y="2414160"/>
            <a:ext cx="137124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Text 18"/>
          <p:cNvSpPr/>
          <p:nvPr/>
        </p:nvSpPr>
        <p:spPr>
          <a:xfrm>
            <a:off x="438840" y="24688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K (kg/ha)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Shape 19"/>
          <p:cNvSpPr/>
          <p:nvPr/>
        </p:nvSpPr>
        <p:spPr>
          <a:xfrm>
            <a:off x="1737360" y="2414160"/>
            <a:ext cx="292572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Text 20"/>
          <p:cNvSpPr/>
          <p:nvPr/>
        </p:nvSpPr>
        <p:spPr>
          <a:xfrm>
            <a:off x="1810440" y="246888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Potassium: 0–205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Shape 21"/>
          <p:cNvSpPr/>
          <p:nvPr/>
        </p:nvSpPr>
        <p:spPr>
          <a:xfrm>
            <a:off x="365760" y="2797920"/>
            <a:ext cx="1371240" cy="3470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 22"/>
          <p:cNvSpPr/>
          <p:nvPr/>
        </p:nvSpPr>
        <p:spPr>
          <a:xfrm>
            <a:off x="438840" y="285300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temp (°C)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Shape 23"/>
          <p:cNvSpPr/>
          <p:nvPr/>
        </p:nvSpPr>
        <p:spPr>
          <a:xfrm>
            <a:off x="1737360" y="2797920"/>
            <a:ext cx="2925720" cy="3470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Text 24"/>
          <p:cNvSpPr/>
          <p:nvPr/>
        </p:nvSpPr>
        <p:spPr>
          <a:xfrm>
            <a:off x="1810440" y="285300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Air temperature: 8–44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Shape 25"/>
          <p:cNvSpPr/>
          <p:nvPr/>
        </p:nvSpPr>
        <p:spPr>
          <a:xfrm>
            <a:off x="365760" y="3182040"/>
            <a:ext cx="137124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Text 26"/>
          <p:cNvSpPr/>
          <p:nvPr/>
        </p:nvSpPr>
        <p:spPr>
          <a:xfrm>
            <a:off x="438840" y="323712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humidity (%)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Shape 27"/>
          <p:cNvSpPr/>
          <p:nvPr/>
        </p:nvSpPr>
        <p:spPr>
          <a:xfrm>
            <a:off x="1737360" y="3182040"/>
            <a:ext cx="292572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Text 28"/>
          <p:cNvSpPr/>
          <p:nvPr/>
        </p:nvSpPr>
        <p:spPr>
          <a:xfrm>
            <a:off x="1810440" y="323712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Relative humidity: 14–100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Shape 29"/>
          <p:cNvSpPr/>
          <p:nvPr/>
        </p:nvSpPr>
        <p:spPr>
          <a:xfrm>
            <a:off x="365760" y="3566160"/>
            <a:ext cx="1371240" cy="3470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Text 30"/>
          <p:cNvSpPr/>
          <p:nvPr/>
        </p:nvSpPr>
        <p:spPr>
          <a:xfrm>
            <a:off x="438840" y="36208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pH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Shape 31"/>
          <p:cNvSpPr/>
          <p:nvPr/>
        </p:nvSpPr>
        <p:spPr>
          <a:xfrm>
            <a:off x="1737360" y="3566160"/>
            <a:ext cx="2925720" cy="3470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Text 32"/>
          <p:cNvSpPr/>
          <p:nvPr/>
        </p:nvSpPr>
        <p:spPr>
          <a:xfrm>
            <a:off x="1810440" y="362088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Soil pH: 3.5–10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Shape 33"/>
          <p:cNvSpPr/>
          <p:nvPr/>
        </p:nvSpPr>
        <p:spPr>
          <a:xfrm>
            <a:off x="365760" y="3950280"/>
            <a:ext cx="137124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Text 34"/>
          <p:cNvSpPr/>
          <p:nvPr/>
        </p:nvSpPr>
        <p:spPr>
          <a:xfrm>
            <a:off x="438840" y="400500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rainfall (mm)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Shape 35"/>
          <p:cNvSpPr/>
          <p:nvPr/>
        </p:nvSpPr>
        <p:spPr>
          <a:xfrm>
            <a:off x="1737360" y="3950280"/>
            <a:ext cx="292572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Text 36"/>
          <p:cNvSpPr/>
          <p:nvPr/>
        </p:nvSpPr>
        <p:spPr>
          <a:xfrm>
            <a:off x="1810440" y="400500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Annual rainfall: 20–300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Text 37"/>
          <p:cNvSpPr/>
          <p:nvPr/>
        </p:nvSpPr>
        <p:spPr>
          <a:xfrm>
            <a:off x="365760" y="436176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10 Crop Classes: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 38"/>
          <p:cNvSpPr/>
          <p:nvPr/>
        </p:nvSpPr>
        <p:spPr>
          <a:xfrm>
            <a:off x="2194560" y="4361760"/>
            <a:ext cx="6583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Rice · Wheat · Maize · Chickpea · Cotton · Sugarcane · Banana · Mango · Grapes · Coffee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5" name="Image 0" descr="/home/claude/imgs/charts/lab2_p09_img02.png"/>
          <p:cNvPicPr/>
          <p:nvPr/>
        </p:nvPicPr>
        <p:blipFill>
          <a:blip r:embed="rId1"/>
          <a:stretch/>
        </p:blipFill>
        <p:spPr>
          <a:xfrm>
            <a:off x="4572000" y="960120"/>
            <a:ext cx="4205880" cy="33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39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5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MapReduce Results — Regional Crop Recommendations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365760" y="804600"/>
            <a:ext cx="1508400" cy="29232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Region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1874520" y="804600"/>
            <a:ext cx="1115280" cy="29232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Recommended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2990160" y="804600"/>
            <a:ext cx="639720" cy="29232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Avg N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3630240" y="804600"/>
            <a:ext cx="804240" cy="29232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Avg Temp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4434840" y="804600"/>
            <a:ext cx="932400" cy="29232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Avg Humidity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5367600" y="804600"/>
            <a:ext cx="932400" cy="29232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Avg Rainfall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6300360" y="804600"/>
            <a:ext cx="914040" cy="29232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Records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6" name="Shape 9"/>
          <p:cNvSpPr/>
          <p:nvPr/>
        </p:nvSpPr>
        <p:spPr>
          <a:xfrm>
            <a:off x="365760" y="1097280"/>
            <a:ext cx="150840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420480" y="1161360"/>
            <a:ext cx="143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Karnataka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1874520" y="1097280"/>
            <a:ext cx="111528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1929240" y="1161360"/>
            <a:ext cx="1042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Sugarcane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2990160" y="1097280"/>
            <a:ext cx="63972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3044880" y="1161360"/>
            <a:ext cx="566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116.0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Shape 15"/>
          <p:cNvSpPr/>
          <p:nvPr/>
        </p:nvSpPr>
        <p:spPr>
          <a:xfrm>
            <a:off x="3630240" y="1097280"/>
            <a:ext cx="80424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3684960" y="116136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26.0°C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4434840" y="1097280"/>
            <a:ext cx="93240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4489560" y="1161360"/>
            <a:ext cx="85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76.5%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Shape 19"/>
          <p:cNvSpPr/>
          <p:nvPr/>
        </p:nvSpPr>
        <p:spPr>
          <a:xfrm>
            <a:off x="5367600" y="1097280"/>
            <a:ext cx="93240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5422320" y="1161360"/>
            <a:ext cx="85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161 mm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Shape 21"/>
          <p:cNvSpPr/>
          <p:nvPr/>
        </p:nvSpPr>
        <p:spPr>
          <a:xfrm>
            <a:off x="6300360" y="1097280"/>
            <a:ext cx="91404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Text 22"/>
          <p:cNvSpPr/>
          <p:nvPr/>
        </p:nvSpPr>
        <p:spPr>
          <a:xfrm>
            <a:off x="6355080" y="1161360"/>
            <a:ext cx="840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100,178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Shape 23"/>
          <p:cNvSpPr/>
          <p:nvPr/>
        </p:nvSpPr>
        <p:spPr>
          <a:xfrm>
            <a:off x="365760" y="1554480"/>
            <a:ext cx="150840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Text 24"/>
          <p:cNvSpPr/>
          <p:nvPr/>
        </p:nvSpPr>
        <p:spPr>
          <a:xfrm>
            <a:off x="420480" y="1618560"/>
            <a:ext cx="143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Punjab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Shape 25"/>
          <p:cNvSpPr/>
          <p:nvPr/>
        </p:nvSpPr>
        <p:spPr>
          <a:xfrm>
            <a:off x="1874520" y="1554480"/>
            <a:ext cx="111528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Text 26"/>
          <p:cNvSpPr/>
          <p:nvPr/>
        </p:nvSpPr>
        <p:spPr>
          <a:xfrm>
            <a:off x="1929240" y="1618560"/>
            <a:ext cx="1042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5fa6"/>
                </a:solidFill>
                <a:uFillTx/>
                <a:latin typeface="Calibri"/>
                <a:ea typeface="Calibri"/>
              </a:rPr>
              <a:t>Maize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Shape 27"/>
          <p:cNvSpPr/>
          <p:nvPr/>
        </p:nvSpPr>
        <p:spPr>
          <a:xfrm>
            <a:off x="2990160" y="1554480"/>
            <a:ext cx="63972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Text 28"/>
          <p:cNvSpPr/>
          <p:nvPr/>
        </p:nvSpPr>
        <p:spPr>
          <a:xfrm>
            <a:off x="3044880" y="1618560"/>
            <a:ext cx="566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95.1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Shape 29"/>
          <p:cNvSpPr/>
          <p:nvPr/>
        </p:nvSpPr>
        <p:spPr>
          <a:xfrm>
            <a:off x="3630240" y="1554480"/>
            <a:ext cx="80424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Text 30"/>
          <p:cNvSpPr/>
          <p:nvPr/>
        </p:nvSpPr>
        <p:spPr>
          <a:xfrm>
            <a:off x="3684960" y="161856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22.6°C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Shape 31"/>
          <p:cNvSpPr/>
          <p:nvPr/>
        </p:nvSpPr>
        <p:spPr>
          <a:xfrm>
            <a:off x="4434840" y="1554480"/>
            <a:ext cx="93240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Text 32"/>
          <p:cNvSpPr/>
          <p:nvPr/>
        </p:nvSpPr>
        <p:spPr>
          <a:xfrm>
            <a:off x="4489560" y="1618560"/>
            <a:ext cx="85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59.0%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Shape 33"/>
          <p:cNvSpPr/>
          <p:nvPr/>
        </p:nvSpPr>
        <p:spPr>
          <a:xfrm>
            <a:off x="5367600" y="1554480"/>
            <a:ext cx="93240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Text 34"/>
          <p:cNvSpPr/>
          <p:nvPr/>
        </p:nvSpPr>
        <p:spPr>
          <a:xfrm>
            <a:off x="5422320" y="1618560"/>
            <a:ext cx="85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111 mm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Shape 35"/>
          <p:cNvSpPr/>
          <p:nvPr/>
        </p:nvSpPr>
        <p:spPr>
          <a:xfrm>
            <a:off x="6300360" y="1554480"/>
            <a:ext cx="91404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Text 36"/>
          <p:cNvSpPr/>
          <p:nvPr/>
        </p:nvSpPr>
        <p:spPr>
          <a:xfrm>
            <a:off x="6355080" y="1618560"/>
            <a:ext cx="840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99,776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Shape 37"/>
          <p:cNvSpPr/>
          <p:nvPr/>
        </p:nvSpPr>
        <p:spPr>
          <a:xfrm>
            <a:off x="365760" y="2011680"/>
            <a:ext cx="150840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Text 38"/>
          <p:cNvSpPr/>
          <p:nvPr/>
        </p:nvSpPr>
        <p:spPr>
          <a:xfrm>
            <a:off x="420480" y="2075760"/>
            <a:ext cx="143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Tamil Nadu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Shape 39"/>
          <p:cNvSpPr/>
          <p:nvPr/>
        </p:nvSpPr>
        <p:spPr>
          <a:xfrm>
            <a:off x="1874520" y="2011680"/>
            <a:ext cx="111528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Text 40"/>
          <p:cNvSpPr/>
          <p:nvPr/>
        </p:nvSpPr>
        <p:spPr>
          <a:xfrm>
            <a:off x="1929240" y="2075760"/>
            <a:ext cx="1042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Sugarcane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Shape 41"/>
          <p:cNvSpPr/>
          <p:nvPr/>
        </p:nvSpPr>
        <p:spPr>
          <a:xfrm>
            <a:off x="2990160" y="2011680"/>
            <a:ext cx="63972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Text 42"/>
          <p:cNvSpPr/>
          <p:nvPr/>
        </p:nvSpPr>
        <p:spPr>
          <a:xfrm>
            <a:off x="3044880" y="2075760"/>
            <a:ext cx="566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97.3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Shape 43"/>
          <p:cNvSpPr/>
          <p:nvPr/>
        </p:nvSpPr>
        <p:spPr>
          <a:xfrm>
            <a:off x="3630240" y="2011680"/>
            <a:ext cx="80424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Text 44"/>
          <p:cNvSpPr/>
          <p:nvPr/>
        </p:nvSpPr>
        <p:spPr>
          <a:xfrm>
            <a:off x="3684960" y="207576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27.6°C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Shape 45"/>
          <p:cNvSpPr/>
          <p:nvPr/>
        </p:nvSpPr>
        <p:spPr>
          <a:xfrm>
            <a:off x="4434840" y="2011680"/>
            <a:ext cx="93240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Text 46"/>
          <p:cNvSpPr/>
          <p:nvPr/>
        </p:nvSpPr>
        <p:spPr>
          <a:xfrm>
            <a:off x="4489560" y="2075760"/>
            <a:ext cx="85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73.0%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Shape 47"/>
          <p:cNvSpPr/>
          <p:nvPr/>
        </p:nvSpPr>
        <p:spPr>
          <a:xfrm>
            <a:off x="5367600" y="2011680"/>
            <a:ext cx="93240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Text 48"/>
          <p:cNvSpPr/>
          <p:nvPr/>
        </p:nvSpPr>
        <p:spPr>
          <a:xfrm>
            <a:off x="5422320" y="2075760"/>
            <a:ext cx="85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145 mm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Shape 49"/>
          <p:cNvSpPr/>
          <p:nvPr/>
        </p:nvSpPr>
        <p:spPr>
          <a:xfrm>
            <a:off x="6300360" y="2011680"/>
            <a:ext cx="91404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Text 50"/>
          <p:cNvSpPr/>
          <p:nvPr/>
        </p:nvSpPr>
        <p:spPr>
          <a:xfrm>
            <a:off x="6355080" y="2075760"/>
            <a:ext cx="840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100,171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Shape 51"/>
          <p:cNvSpPr/>
          <p:nvPr/>
        </p:nvSpPr>
        <p:spPr>
          <a:xfrm>
            <a:off x="365760" y="2468880"/>
            <a:ext cx="150840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Text 52"/>
          <p:cNvSpPr/>
          <p:nvPr/>
        </p:nvSpPr>
        <p:spPr>
          <a:xfrm>
            <a:off x="420480" y="2532960"/>
            <a:ext cx="143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Maharashtra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Shape 53"/>
          <p:cNvSpPr/>
          <p:nvPr/>
        </p:nvSpPr>
        <p:spPr>
          <a:xfrm>
            <a:off x="1874520" y="2468880"/>
            <a:ext cx="111528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Text 54"/>
          <p:cNvSpPr/>
          <p:nvPr/>
        </p:nvSpPr>
        <p:spPr>
          <a:xfrm>
            <a:off x="1929240" y="2532960"/>
            <a:ext cx="1042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5fa6"/>
                </a:solidFill>
                <a:uFillTx/>
                <a:latin typeface="Calibri"/>
                <a:ea typeface="Calibri"/>
              </a:rPr>
              <a:t>Maize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Shape 55"/>
          <p:cNvSpPr/>
          <p:nvPr/>
        </p:nvSpPr>
        <p:spPr>
          <a:xfrm>
            <a:off x="2990160" y="2468880"/>
            <a:ext cx="63972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Text 56"/>
          <p:cNvSpPr/>
          <p:nvPr/>
        </p:nvSpPr>
        <p:spPr>
          <a:xfrm>
            <a:off x="3044880" y="2532960"/>
            <a:ext cx="566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81.0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Shape 57"/>
          <p:cNvSpPr/>
          <p:nvPr/>
        </p:nvSpPr>
        <p:spPr>
          <a:xfrm>
            <a:off x="3630240" y="2468880"/>
            <a:ext cx="80424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Text 58"/>
          <p:cNvSpPr/>
          <p:nvPr/>
        </p:nvSpPr>
        <p:spPr>
          <a:xfrm>
            <a:off x="3684960" y="253296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24.6°C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Shape 59"/>
          <p:cNvSpPr/>
          <p:nvPr/>
        </p:nvSpPr>
        <p:spPr>
          <a:xfrm>
            <a:off x="4434840" y="2468880"/>
            <a:ext cx="93240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Text 60"/>
          <p:cNvSpPr/>
          <p:nvPr/>
        </p:nvSpPr>
        <p:spPr>
          <a:xfrm>
            <a:off x="4489560" y="2532960"/>
            <a:ext cx="85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57.5%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Shape 61"/>
          <p:cNvSpPr/>
          <p:nvPr/>
        </p:nvSpPr>
        <p:spPr>
          <a:xfrm>
            <a:off x="5367600" y="2468880"/>
            <a:ext cx="93240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Text 62"/>
          <p:cNvSpPr/>
          <p:nvPr/>
        </p:nvSpPr>
        <p:spPr>
          <a:xfrm>
            <a:off x="5422320" y="2532960"/>
            <a:ext cx="85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105 mm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Shape 63"/>
          <p:cNvSpPr/>
          <p:nvPr/>
        </p:nvSpPr>
        <p:spPr>
          <a:xfrm>
            <a:off x="6300360" y="2468880"/>
            <a:ext cx="91404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Text 64"/>
          <p:cNvSpPr/>
          <p:nvPr/>
        </p:nvSpPr>
        <p:spPr>
          <a:xfrm>
            <a:off x="6355080" y="2532960"/>
            <a:ext cx="840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99,526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Shape 65"/>
          <p:cNvSpPr/>
          <p:nvPr/>
        </p:nvSpPr>
        <p:spPr>
          <a:xfrm>
            <a:off x="365760" y="2926080"/>
            <a:ext cx="150840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Text 66"/>
          <p:cNvSpPr/>
          <p:nvPr/>
        </p:nvSpPr>
        <p:spPr>
          <a:xfrm>
            <a:off x="420480" y="2990160"/>
            <a:ext cx="143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Uttar Pradesh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Shape 67"/>
          <p:cNvSpPr/>
          <p:nvPr/>
        </p:nvSpPr>
        <p:spPr>
          <a:xfrm>
            <a:off x="1874520" y="2926080"/>
            <a:ext cx="111528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Text 68"/>
          <p:cNvSpPr/>
          <p:nvPr/>
        </p:nvSpPr>
        <p:spPr>
          <a:xfrm>
            <a:off x="1929240" y="2990160"/>
            <a:ext cx="1042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5fa6"/>
                </a:solidFill>
                <a:uFillTx/>
                <a:latin typeface="Calibri"/>
                <a:ea typeface="Calibri"/>
              </a:rPr>
              <a:t>Maize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Shape 69"/>
          <p:cNvSpPr/>
          <p:nvPr/>
        </p:nvSpPr>
        <p:spPr>
          <a:xfrm>
            <a:off x="2990160" y="2926080"/>
            <a:ext cx="63972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Text 70"/>
          <p:cNvSpPr/>
          <p:nvPr/>
        </p:nvSpPr>
        <p:spPr>
          <a:xfrm>
            <a:off x="3044880" y="2990160"/>
            <a:ext cx="566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95.1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Shape 71"/>
          <p:cNvSpPr/>
          <p:nvPr/>
        </p:nvSpPr>
        <p:spPr>
          <a:xfrm>
            <a:off x="3630240" y="2926080"/>
            <a:ext cx="80424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Text 72"/>
          <p:cNvSpPr/>
          <p:nvPr/>
        </p:nvSpPr>
        <p:spPr>
          <a:xfrm>
            <a:off x="3684960" y="299016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22.6°C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Shape 73"/>
          <p:cNvSpPr/>
          <p:nvPr/>
        </p:nvSpPr>
        <p:spPr>
          <a:xfrm>
            <a:off x="4434840" y="2926080"/>
            <a:ext cx="93240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Text 74"/>
          <p:cNvSpPr/>
          <p:nvPr/>
        </p:nvSpPr>
        <p:spPr>
          <a:xfrm>
            <a:off x="4489560" y="2990160"/>
            <a:ext cx="85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62.0%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Shape 75"/>
          <p:cNvSpPr/>
          <p:nvPr/>
        </p:nvSpPr>
        <p:spPr>
          <a:xfrm>
            <a:off x="5367600" y="2926080"/>
            <a:ext cx="93240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Text 76"/>
          <p:cNvSpPr/>
          <p:nvPr/>
        </p:nvSpPr>
        <p:spPr>
          <a:xfrm>
            <a:off x="5422320" y="2990160"/>
            <a:ext cx="85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136 mm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Shape 77"/>
          <p:cNvSpPr/>
          <p:nvPr/>
        </p:nvSpPr>
        <p:spPr>
          <a:xfrm>
            <a:off x="6300360" y="2926080"/>
            <a:ext cx="914040" cy="4201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Text 78"/>
          <p:cNvSpPr/>
          <p:nvPr/>
        </p:nvSpPr>
        <p:spPr>
          <a:xfrm>
            <a:off x="6355080" y="2990160"/>
            <a:ext cx="840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100,349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Text 79"/>
          <p:cNvSpPr/>
          <p:nvPr/>
        </p:nvSpPr>
        <p:spPr>
          <a:xfrm>
            <a:off x="365760" y="3429000"/>
            <a:ext cx="841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Interpretation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Shape 80"/>
          <p:cNvSpPr/>
          <p:nvPr/>
        </p:nvSpPr>
        <p:spPr>
          <a:xfrm>
            <a:off x="365760" y="3703320"/>
            <a:ext cx="8412120" cy="3837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Shape 81"/>
          <p:cNvSpPr/>
          <p:nvPr/>
        </p:nvSpPr>
        <p:spPr>
          <a:xfrm>
            <a:off x="365760" y="3703320"/>
            <a:ext cx="54360" cy="38376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9" name="Text 82"/>
          <p:cNvSpPr/>
          <p:nvPr/>
        </p:nvSpPr>
        <p:spPr>
          <a:xfrm>
            <a:off x="530280" y="377640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Karnataka &amp; Tamil Nadu: 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Text 83"/>
          <p:cNvSpPr/>
          <p:nvPr/>
        </p:nvSpPr>
        <p:spPr>
          <a:xfrm>
            <a:off x="2606040" y="3776400"/>
            <a:ext cx="6080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Higher humidity (73–76%) and rainfall (144–161 mm) → Sugarcane recommended. Warm climate (26–28°C).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Shape 84"/>
          <p:cNvSpPr/>
          <p:nvPr/>
        </p:nvSpPr>
        <p:spPr>
          <a:xfrm>
            <a:off x="365760" y="4142160"/>
            <a:ext cx="841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Shape 85"/>
          <p:cNvSpPr/>
          <p:nvPr/>
        </p:nvSpPr>
        <p:spPr>
          <a:xfrm>
            <a:off x="365760" y="4142160"/>
            <a:ext cx="54360" cy="38376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3" name="Text 86"/>
          <p:cNvSpPr/>
          <p:nvPr/>
        </p:nvSpPr>
        <p:spPr>
          <a:xfrm>
            <a:off x="530280" y="421524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Punjab, Maharashtra, UP: 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Text 87"/>
          <p:cNvSpPr/>
          <p:nvPr/>
        </p:nvSpPr>
        <p:spPr>
          <a:xfrm>
            <a:off x="2606040" y="4215240"/>
            <a:ext cx="6080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Moderate humidity (57–62%) and lower rainfall (105–136 mm) → Maize recommended. Cooler, drier profile.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5" name="Shape 88"/>
          <p:cNvSpPr/>
          <p:nvPr/>
        </p:nvSpPr>
        <p:spPr>
          <a:xfrm>
            <a:off x="365760" y="4581000"/>
            <a:ext cx="8412120" cy="3837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Shape 89"/>
          <p:cNvSpPr/>
          <p:nvPr/>
        </p:nvSpPr>
        <p:spPr>
          <a:xfrm>
            <a:off x="365760" y="4581000"/>
            <a:ext cx="54360" cy="38376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7" name="Text 90"/>
          <p:cNvSpPr/>
          <p:nvPr/>
        </p:nvSpPr>
        <p:spPr>
          <a:xfrm>
            <a:off x="530280" y="465444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All 5 reducers: 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Text 91"/>
          <p:cNvSpPr/>
          <p:nvPr/>
        </p:nvSpPr>
        <p:spPr>
          <a:xfrm>
            <a:off x="2606040" y="4654440"/>
            <a:ext cx="6080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Ran independently and simultaneously. Lowest distance score = best crop fit. Margin over 2nd-best is significant.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Text 92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6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Performance Analysis — Single-Node vs Hadoop MapReduce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2" name="Image 0" descr="/home/claude/imgs/charts/lab2_p08_img01.png"/>
          <p:cNvPicPr/>
          <p:nvPr/>
        </p:nvPicPr>
        <p:blipFill>
          <a:blip r:embed="rId1"/>
          <a:stretch/>
        </p:blipFill>
        <p:spPr>
          <a:xfrm>
            <a:off x="365760" y="804600"/>
            <a:ext cx="5028840" cy="30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2"/>
          <p:cNvSpPr/>
          <p:nvPr/>
        </p:nvSpPr>
        <p:spPr>
          <a:xfrm>
            <a:off x="5577840" y="80460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Performance Comparison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5577840" y="1078920"/>
            <a:ext cx="639720" cy="25560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Size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6217920" y="1078920"/>
            <a:ext cx="1096920" cy="25560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Single-Node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7315200" y="1078920"/>
            <a:ext cx="1096920" cy="25560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Hadoop MR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7" name="Shape 6"/>
          <p:cNvSpPr/>
          <p:nvPr/>
        </p:nvSpPr>
        <p:spPr>
          <a:xfrm>
            <a:off x="5577840" y="1334880"/>
            <a:ext cx="639720" cy="3106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5632560" y="138996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10K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6217920" y="1334880"/>
            <a:ext cx="1096920" cy="3106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6272640" y="1389960"/>
            <a:ext cx="1023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5fa6"/>
                </a:solidFill>
                <a:uFillTx/>
                <a:latin typeface="Calibri"/>
                <a:ea typeface="Calibri"/>
              </a:rPr>
              <a:t>0.8s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7315200" y="1334880"/>
            <a:ext cx="1096920" cy="3106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Text 11"/>
          <p:cNvSpPr/>
          <p:nvPr/>
        </p:nvSpPr>
        <p:spPr>
          <a:xfrm>
            <a:off x="7369920" y="1389960"/>
            <a:ext cx="1023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18.0s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Shape 12"/>
          <p:cNvSpPr/>
          <p:nvPr/>
        </p:nvSpPr>
        <p:spPr>
          <a:xfrm>
            <a:off x="5577840" y="1682640"/>
            <a:ext cx="63972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Text 13"/>
          <p:cNvSpPr/>
          <p:nvPr/>
        </p:nvSpPr>
        <p:spPr>
          <a:xfrm>
            <a:off x="5632560" y="173736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50K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Shape 14"/>
          <p:cNvSpPr/>
          <p:nvPr/>
        </p:nvSpPr>
        <p:spPr>
          <a:xfrm>
            <a:off x="6217920" y="1682640"/>
            <a:ext cx="109692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6272640" y="1737360"/>
            <a:ext cx="1023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5fa6"/>
                </a:solidFill>
                <a:uFillTx/>
                <a:latin typeface="Calibri"/>
                <a:ea typeface="Calibri"/>
              </a:rPr>
              <a:t>2.1s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7315200" y="1682640"/>
            <a:ext cx="109692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Text 17"/>
          <p:cNvSpPr/>
          <p:nvPr/>
        </p:nvSpPr>
        <p:spPr>
          <a:xfrm>
            <a:off x="7369920" y="1737360"/>
            <a:ext cx="1023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19.0s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Shape 18"/>
          <p:cNvSpPr/>
          <p:nvPr/>
        </p:nvSpPr>
        <p:spPr>
          <a:xfrm>
            <a:off x="5577840" y="2030040"/>
            <a:ext cx="639720" cy="3106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Text 19"/>
          <p:cNvSpPr/>
          <p:nvPr/>
        </p:nvSpPr>
        <p:spPr>
          <a:xfrm>
            <a:off x="5632560" y="208476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100K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Shape 20"/>
          <p:cNvSpPr/>
          <p:nvPr/>
        </p:nvSpPr>
        <p:spPr>
          <a:xfrm>
            <a:off x="6217920" y="2030040"/>
            <a:ext cx="1096920" cy="3106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Text 21"/>
          <p:cNvSpPr/>
          <p:nvPr/>
        </p:nvSpPr>
        <p:spPr>
          <a:xfrm>
            <a:off x="6272640" y="2084760"/>
            <a:ext cx="1023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5fa6"/>
                </a:solidFill>
                <a:uFillTx/>
                <a:latin typeface="Calibri"/>
                <a:ea typeface="Calibri"/>
              </a:rPr>
              <a:t>4.2s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Shape 22"/>
          <p:cNvSpPr/>
          <p:nvPr/>
        </p:nvSpPr>
        <p:spPr>
          <a:xfrm>
            <a:off x="7315200" y="2030040"/>
            <a:ext cx="1096920" cy="3106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Text 23"/>
          <p:cNvSpPr/>
          <p:nvPr/>
        </p:nvSpPr>
        <p:spPr>
          <a:xfrm>
            <a:off x="7369920" y="2084760"/>
            <a:ext cx="1023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21.0s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Shape 24"/>
          <p:cNvSpPr/>
          <p:nvPr/>
        </p:nvSpPr>
        <p:spPr>
          <a:xfrm>
            <a:off x="5577840" y="2377440"/>
            <a:ext cx="63972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Text 25"/>
          <p:cNvSpPr/>
          <p:nvPr/>
        </p:nvSpPr>
        <p:spPr>
          <a:xfrm>
            <a:off x="5632560" y="243216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250K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Shape 26"/>
          <p:cNvSpPr/>
          <p:nvPr/>
        </p:nvSpPr>
        <p:spPr>
          <a:xfrm>
            <a:off x="6217920" y="2377440"/>
            <a:ext cx="109692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Text 27"/>
          <p:cNvSpPr/>
          <p:nvPr/>
        </p:nvSpPr>
        <p:spPr>
          <a:xfrm>
            <a:off x="6272640" y="2432160"/>
            <a:ext cx="1023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5fa6"/>
                </a:solidFill>
                <a:uFillTx/>
                <a:latin typeface="Calibri"/>
                <a:ea typeface="Calibri"/>
              </a:rPr>
              <a:t>9.8s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Shape 28"/>
          <p:cNvSpPr/>
          <p:nvPr/>
        </p:nvSpPr>
        <p:spPr>
          <a:xfrm>
            <a:off x="7315200" y="2377440"/>
            <a:ext cx="109692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Text 29"/>
          <p:cNvSpPr/>
          <p:nvPr/>
        </p:nvSpPr>
        <p:spPr>
          <a:xfrm>
            <a:off x="7369920" y="2432160"/>
            <a:ext cx="1023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23.0s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1" name="Shape 30"/>
          <p:cNvSpPr/>
          <p:nvPr/>
        </p:nvSpPr>
        <p:spPr>
          <a:xfrm>
            <a:off x="5577840" y="2724840"/>
            <a:ext cx="639720" cy="3106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2" name="Text 31"/>
          <p:cNvSpPr/>
          <p:nvPr/>
        </p:nvSpPr>
        <p:spPr>
          <a:xfrm>
            <a:off x="5632560" y="277992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500K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3" name="Shape 32"/>
          <p:cNvSpPr/>
          <p:nvPr/>
        </p:nvSpPr>
        <p:spPr>
          <a:xfrm>
            <a:off x="6217920" y="2724840"/>
            <a:ext cx="1096920" cy="3106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Text 33"/>
          <p:cNvSpPr/>
          <p:nvPr/>
        </p:nvSpPr>
        <p:spPr>
          <a:xfrm>
            <a:off x="6272640" y="2779920"/>
            <a:ext cx="1023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1e5fa6"/>
                </a:solidFill>
                <a:uFillTx/>
                <a:latin typeface="Calibri"/>
                <a:ea typeface="Calibri"/>
              </a:rPr>
              <a:t>19.5s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Shape 34"/>
          <p:cNvSpPr/>
          <p:nvPr/>
        </p:nvSpPr>
        <p:spPr>
          <a:xfrm>
            <a:off x="7315200" y="2724840"/>
            <a:ext cx="1096920" cy="3106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6" name="Text 35"/>
          <p:cNvSpPr/>
          <p:nvPr/>
        </p:nvSpPr>
        <p:spPr>
          <a:xfrm>
            <a:off x="7369920" y="2779920"/>
            <a:ext cx="1023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25.2s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Text 36"/>
          <p:cNvSpPr/>
          <p:nvPr/>
        </p:nvSpPr>
        <p:spPr>
          <a:xfrm>
            <a:off x="5577840" y="312732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Key Insight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8" name="Shape 37"/>
          <p:cNvSpPr/>
          <p:nvPr/>
        </p:nvSpPr>
        <p:spPr>
          <a:xfrm>
            <a:off x="5577840" y="3401640"/>
            <a:ext cx="3200040" cy="13712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Text 38"/>
          <p:cNvSpPr/>
          <p:nvPr/>
        </p:nvSpPr>
        <p:spPr>
          <a:xfrm>
            <a:off x="5669280" y="3474720"/>
            <a:ext cx="301716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Hadoop has ~15s JVM/YARN startup overhead making it slower for small datasets. On a real multi-node cluster with 10+ DataNodes, Hadoop processes 500K records in &lt;5 seconds.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The fundamental advantage is horizontal scalability — adding nodes linearly reduces processing time, while single-node is bounded by one machine.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60" name="Image 1" descr="/home/claude/imgs/charts/lab2_p10_img04.png"/>
          <p:cNvPicPr/>
          <p:nvPr/>
        </p:nvPicPr>
        <p:blipFill>
          <a:blip r:embed="rId2"/>
          <a:stretch/>
        </p:blipFill>
        <p:spPr>
          <a:xfrm>
            <a:off x="365760" y="3858840"/>
            <a:ext cx="5028840" cy="109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 39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7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Regional Climate Profiles &amp; Crop Recommendation Scores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64" name="Image 0" descr="/home/claude/imgs/charts/lab2_p09_img03.png"/>
          <p:cNvPicPr/>
          <p:nvPr/>
        </p:nvPicPr>
        <p:blipFill>
          <a:blip r:embed="rId1"/>
          <a:stretch/>
        </p:blipFill>
        <p:spPr>
          <a:xfrm>
            <a:off x="365760" y="804600"/>
            <a:ext cx="5120280" cy="26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Image 1" descr="/home/claude/imgs/charts/lab2_p10_img04.png"/>
          <p:cNvPicPr/>
          <p:nvPr/>
        </p:nvPicPr>
        <p:blipFill>
          <a:blip r:embed="rId2"/>
          <a:stretch/>
        </p:blipFill>
        <p:spPr>
          <a:xfrm>
            <a:off x="365760" y="3493080"/>
            <a:ext cx="5120280" cy="157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Text 2"/>
          <p:cNvSpPr/>
          <p:nvPr/>
        </p:nvSpPr>
        <p:spPr>
          <a:xfrm>
            <a:off x="5623560" y="804600"/>
            <a:ext cx="3154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Climate Analysis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5623560" y="1078920"/>
            <a:ext cx="3154320" cy="7311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8" name="Text 4"/>
          <p:cNvSpPr/>
          <p:nvPr/>
        </p:nvSpPr>
        <p:spPr>
          <a:xfrm>
            <a:off x="5724000" y="114300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Karnataka (KA)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5724000" y="140832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Highest humidity (76%) &amp; rainfall (161mm) → Sugarcane ideal. Warm 26°C.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Shape 6"/>
          <p:cNvSpPr/>
          <p:nvPr/>
        </p:nvSpPr>
        <p:spPr>
          <a:xfrm>
            <a:off x="5623560" y="1883520"/>
            <a:ext cx="315432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1" name="Text 7"/>
          <p:cNvSpPr/>
          <p:nvPr/>
        </p:nvSpPr>
        <p:spPr>
          <a:xfrm>
            <a:off x="5724000" y="194760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Tamil Nadu (TN)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2" name="Text 8"/>
          <p:cNvSpPr/>
          <p:nvPr/>
        </p:nvSpPr>
        <p:spPr>
          <a:xfrm>
            <a:off x="5724000" y="221292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2nd highest humidity (73%) &amp; rainfall (145mm) → Sugarcane confirmed.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3" name="Shape 9"/>
          <p:cNvSpPr/>
          <p:nvPr/>
        </p:nvSpPr>
        <p:spPr>
          <a:xfrm>
            <a:off x="5623560" y="2688480"/>
            <a:ext cx="3154320" cy="7311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4" name="Text 10"/>
          <p:cNvSpPr/>
          <p:nvPr/>
        </p:nvSpPr>
        <p:spPr>
          <a:xfrm>
            <a:off x="5724000" y="275220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Punjab (PB)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5724000" y="301752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Drier (59% humidity, 111mm) → Maize optimal for moderate conditions.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Shape 12"/>
          <p:cNvSpPr/>
          <p:nvPr/>
        </p:nvSpPr>
        <p:spPr>
          <a:xfrm>
            <a:off x="5623560" y="3493080"/>
            <a:ext cx="315432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Text 13"/>
          <p:cNvSpPr/>
          <p:nvPr/>
        </p:nvSpPr>
        <p:spPr>
          <a:xfrm>
            <a:off x="5724000" y="355716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Maharashtra (MH)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Text 14"/>
          <p:cNvSpPr/>
          <p:nvPr/>
        </p:nvSpPr>
        <p:spPr>
          <a:xfrm>
            <a:off x="5724000" y="382212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Lowest humidity (57.5%) &amp; rainfall (105mm) → Maize best match.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Shape 15"/>
          <p:cNvSpPr/>
          <p:nvPr/>
        </p:nvSpPr>
        <p:spPr>
          <a:xfrm>
            <a:off x="5623560" y="4297680"/>
            <a:ext cx="3154320" cy="7311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Text 16"/>
          <p:cNvSpPr/>
          <p:nvPr/>
        </p:nvSpPr>
        <p:spPr>
          <a:xfrm>
            <a:off x="5724000" y="436176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Uttar Pradesh (UP)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1" name="Text 17"/>
          <p:cNvSpPr/>
          <p:nvPr/>
        </p:nvSpPr>
        <p:spPr>
          <a:xfrm>
            <a:off x="5724000" y="462672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Moderate rainfall (136mm) at 62% humidity → Maize recommended.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2" name="Text 18"/>
          <p:cNvSpPr/>
          <p:nvPr/>
        </p:nvSpPr>
        <p:spPr>
          <a:xfrm>
            <a:off x="365760" y="502920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Lower score = closer match to ideal crop conditions. Recommended crop consistently scores lower than 2nd-best alternative.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Text 19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8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System Deployment — Hadoop Portal Screenshots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Text 2"/>
          <p:cNvSpPr/>
          <p:nvPr/>
        </p:nvSpPr>
        <p:spPr>
          <a:xfrm>
            <a:off x="365760" y="77724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All screenshots captured on April 18, 2026 during live MapReduce job execution on pseudo-distributed Hadoop 3.3.6 cluster.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365760" y="100584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HDFS NameNode — Overview (port 9870)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88" name="Image 0" descr="/home/claude/imgs/charts/lab2_p11_img05.png"/>
          <p:cNvPicPr/>
          <p:nvPr/>
        </p:nvPicPr>
        <p:blipFill>
          <a:blip r:embed="rId1"/>
          <a:stretch/>
        </p:blipFill>
        <p:spPr>
          <a:xfrm>
            <a:off x="365760" y="1243440"/>
            <a:ext cx="4205880" cy="181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Shape 4"/>
          <p:cNvSpPr/>
          <p:nvPr/>
        </p:nvSpPr>
        <p:spPr>
          <a:xfrm>
            <a:off x="365760" y="1243440"/>
            <a:ext cx="4205880" cy="1810080"/>
          </a:xfrm>
          <a:prstGeom prst="rect">
            <a:avLst/>
          </a:prstGeom>
          <a:noFill/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Text 5"/>
          <p:cNvSpPr/>
          <p:nvPr/>
        </p:nvSpPr>
        <p:spPr>
          <a:xfrm>
            <a:off x="4709160" y="100584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YARN ResourceManager — Jobs (port 8088)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1" name="Image 1" descr="/home/claude/imgs/charts/lab2_p14_img09.png"/>
          <p:cNvPicPr/>
          <p:nvPr/>
        </p:nvPicPr>
        <p:blipFill>
          <a:blip r:embed="rId2"/>
          <a:stretch/>
        </p:blipFill>
        <p:spPr>
          <a:xfrm>
            <a:off x="4709160" y="1243440"/>
            <a:ext cx="4068720" cy="181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Shape 6"/>
          <p:cNvSpPr/>
          <p:nvPr/>
        </p:nvSpPr>
        <p:spPr>
          <a:xfrm>
            <a:off x="4709160" y="1243440"/>
            <a:ext cx="4068720" cy="1810080"/>
          </a:xfrm>
          <a:prstGeom prst="rect">
            <a:avLst/>
          </a:prstGeom>
          <a:noFill/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Text 7"/>
          <p:cNvSpPr/>
          <p:nvPr/>
        </p:nvSpPr>
        <p:spPr>
          <a:xfrm>
            <a:off x="365760" y="312732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HDFS DataNode Information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4" name="Image 2" descr="/home/claude/imgs/charts/lab2_p12_img06.png"/>
          <p:cNvPicPr/>
          <p:nvPr/>
        </p:nvPicPr>
        <p:blipFill>
          <a:blip r:embed="rId3"/>
          <a:stretch/>
        </p:blipFill>
        <p:spPr>
          <a:xfrm>
            <a:off x="365760" y="3364920"/>
            <a:ext cx="4205880" cy="157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Shape 8"/>
          <p:cNvSpPr/>
          <p:nvPr/>
        </p:nvSpPr>
        <p:spPr>
          <a:xfrm>
            <a:off x="365760" y="3364920"/>
            <a:ext cx="4205880" cy="1572480"/>
          </a:xfrm>
          <a:prstGeom prst="rect">
            <a:avLst/>
          </a:prstGeom>
          <a:noFill/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Text 9"/>
          <p:cNvSpPr/>
          <p:nvPr/>
        </p:nvSpPr>
        <p:spPr>
          <a:xfrm>
            <a:off x="4709160" y="3127320"/>
            <a:ext cx="4068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Startup Progress — 100% Complete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7" name="Image 3" descr="/home/claude/imgs/charts/lab2_p12_img07.png"/>
          <p:cNvPicPr/>
          <p:nvPr/>
        </p:nvPicPr>
        <p:blipFill>
          <a:blip r:embed="rId4"/>
          <a:stretch/>
        </p:blipFill>
        <p:spPr>
          <a:xfrm>
            <a:off x="4709160" y="3364920"/>
            <a:ext cx="4068720" cy="157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Shape 10"/>
          <p:cNvSpPr/>
          <p:nvPr/>
        </p:nvSpPr>
        <p:spPr>
          <a:xfrm>
            <a:off x="4709160" y="3364920"/>
            <a:ext cx="4068720" cy="1572480"/>
          </a:xfrm>
          <a:prstGeom prst="rect">
            <a:avLst/>
          </a:prstGeom>
          <a:noFill/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Text 11"/>
          <p:cNvSpPr/>
          <p:nvPr/>
        </p:nvSpPr>
        <p:spPr>
          <a:xfrm>
            <a:off x="365760" y="501084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YARN: 2 Apps Completed · 0 Failed · 1 Active Node   |   HDFS: 96.68 GB capacity · 29.75 MB used · 10 blocks · 0.03% disk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0" name="Text 12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9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2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MapReduce Job Statistics, Advantages &amp; Conclusion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3" name="Text 2"/>
          <p:cNvSpPr/>
          <p:nvPr/>
        </p:nvSpPr>
        <p:spPr>
          <a:xfrm>
            <a:off x="365760" y="77724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Actual MapReduce Job Counters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Shape 3"/>
          <p:cNvSpPr/>
          <p:nvPr/>
        </p:nvSpPr>
        <p:spPr>
          <a:xfrm>
            <a:off x="365760" y="1051560"/>
            <a:ext cx="4114440" cy="3837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5" name="Text 4"/>
          <p:cNvSpPr/>
          <p:nvPr/>
        </p:nvSpPr>
        <p:spPr>
          <a:xfrm>
            <a:off x="457200" y="113400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Map input records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6" name="Text 5"/>
          <p:cNvSpPr/>
          <p:nvPr/>
        </p:nvSpPr>
        <p:spPr>
          <a:xfrm>
            <a:off x="3017520" y="113400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500,001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7" name="Shape 6"/>
          <p:cNvSpPr/>
          <p:nvPr/>
        </p:nvSpPr>
        <p:spPr>
          <a:xfrm>
            <a:off x="365760" y="1472040"/>
            <a:ext cx="411444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Text 7"/>
          <p:cNvSpPr/>
          <p:nvPr/>
        </p:nvSpPr>
        <p:spPr>
          <a:xfrm>
            <a:off x="457200" y="155448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Map output records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Text 8"/>
          <p:cNvSpPr/>
          <p:nvPr/>
        </p:nvSpPr>
        <p:spPr>
          <a:xfrm>
            <a:off x="3017520" y="155448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500,000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0" name="Shape 9"/>
          <p:cNvSpPr/>
          <p:nvPr/>
        </p:nvSpPr>
        <p:spPr>
          <a:xfrm>
            <a:off x="365760" y="1892880"/>
            <a:ext cx="4114440" cy="3837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1" name="Text 10"/>
          <p:cNvSpPr/>
          <p:nvPr/>
        </p:nvSpPr>
        <p:spPr>
          <a:xfrm>
            <a:off x="457200" y="197496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Reduce input groups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2" name="Text 11"/>
          <p:cNvSpPr/>
          <p:nvPr/>
        </p:nvSpPr>
        <p:spPr>
          <a:xfrm>
            <a:off x="3017520" y="197496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5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3" name="Shape 12"/>
          <p:cNvSpPr/>
          <p:nvPr/>
        </p:nvSpPr>
        <p:spPr>
          <a:xfrm>
            <a:off x="365760" y="2313360"/>
            <a:ext cx="411444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4" name="Text 13"/>
          <p:cNvSpPr/>
          <p:nvPr/>
        </p:nvSpPr>
        <p:spPr>
          <a:xfrm>
            <a:off x="457200" y="239580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Reduce output records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5" name="Text 14"/>
          <p:cNvSpPr/>
          <p:nvPr/>
        </p:nvSpPr>
        <p:spPr>
          <a:xfrm>
            <a:off x="3017520" y="239580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5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6" name="Shape 15"/>
          <p:cNvSpPr/>
          <p:nvPr/>
        </p:nvSpPr>
        <p:spPr>
          <a:xfrm>
            <a:off x="365760" y="2734200"/>
            <a:ext cx="4114440" cy="3837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Text 16"/>
          <p:cNvSpPr/>
          <p:nvPr/>
        </p:nvSpPr>
        <p:spPr>
          <a:xfrm>
            <a:off x="457200" y="281628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Data-local map tasks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8" name="Text 17"/>
          <p:cNvSpPr/>
          <p:nvPr/>
        </p:nvSpPr>
        <p:spPr>
          <a:xfrm>
            <a:off x="3017520" y="281628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1 (100%)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Shape 18"/>
          <p:cNvSpPr/>
          <p:nvPr/>
        </p:nvSpPr>
        <p:spPr>
          <a:xfrm>
            <a:off x="365760" y="3154680"/>
            <a:ext cx="411444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0" name="Text 19"/>
          <p:cNvSpPr/>
          <p:nvPr/>
        </p:nvSpPr>
        <p:spPr>
          <a:xfrm>
            <a:off x="457200" y="323712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HDFS bytes read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1" name="Text 20"/>
          <p:cNvSpPr/>
          <p:nvPr/>
        </p:nvSpPr>
        <p:spPr>
          <a:xfrm>
            <a:off x="3017520" y="323712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30.23 MB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2" name="Shape 21"/>
          <p:cNvSpPr/>
          <p:nvPr/>
        </p:nvSpPr>
        <p:spPr>
          <a:xfrm>
            <a:off x="365760" y="3575160"/>
            <a:ext cx="4114440" cy="3837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3" name="Text 22"/>
          <p:cNvSpPr/>
          <p:nvPr/>
        </p:nvSpPr>
        <p:spPr>
          <a:xfrm>
            <a:off x="457200" y="365760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CPU time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4" name="Text 23"/>
          <p:cNvSpPr/>
          <p:nvPr/>
        </p:nvSpPr>
        <p:spPr>
          <a:xfrm>
            <a:off x="3017520" y="365760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13,620 ms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5" name="Shape 24"/>
          <p:cNvSpPr/>
          <p:nvPr/>
        </p:nvSpPr>
        <p:spPr>
          <a:xfrm>
            <a:off x="365760" y="3996000"/>
            <a:ext cx="411444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6" name="Text 25"/>
          <p:cNvSpPr/>
          <p:nvPr/>
        </p:nvSpPr>
        <p:spPr>
          <a:xfrm>
            <a:off x="457200" y="407808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Failed shuffles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7" name="Text 26"/>
          <p:cNvSpPr/>
          <p:nvPr/>
        </p:nvSpPr>
        <p:spPr>
          <a:xfrm>
            <a:off x="3017520" y="407808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0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8" name="Text 27"/>
          <p:cNvSpPr/>
          <p:nvPr/>
        </p:nvSpPr>
        <p:spPr>
          <a:xfrm>
            <a:off x="4663440" y="77724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MapReduce Advantages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9" name="Shape 28"/>
          <p:cNvSpPr/>
          <p:nvPr/>
        </p:nvSpPr>
        <p:spPr>
          <a:xfrm>
            <a:off x="4663440" y="1051560"/>
            <a:ext cx="4114440" cy="8042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0" name="Shape 29"/>
          <p:cNvSpPr/>
          <p:nvPr/>
        </p:nvSpPr>
        <p:spPr>
          <a:xfrm>
            <a:off x="4663440" y="1051560"/>
            <a:ext cx="54360" cy="8042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1" name="Text 30"/>
          <p:cNvSpPr/>
          <p:nvPr/>
        </p:nvSpPr>
        <p:spPr>
          <a:xfrm>
            <a:off x="4827960" y="1115640"/>
            <a:ext cx="3821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Horizontal Scalability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2" name="Text 31"/>
          <p:cNvSpPr/>
          <p:nvPr/>
        </p:nvSpPr>
        <p:spPr>
          <a:xfrm>
            <a:off x="4827960" y="1417320"/>
            <a:ext cx="3821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Adding DataNodes increases processing capacity linearly. Multi-node cluster: 500K in &lt;5s.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3" name="Shape 32"/>
          <p:cNvSpPr/>
          <p:nvPr/>
        </p:nvSpPr>
        <p:spPr>
          <a:xfrm>
            <a:off x="4663440" y="1965960"/>
            <a:ext cx="4114440" cy="8042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4" name="Shape 33"/>
          <p:cNvSpPr/>
          <p:nvPr/>
        </p:nvSpPr>
        <p:spPr>
          <a:xfrm>
            <a:off x="4663440" y="1965960"/>
            <a:ext cx="54360" cy="8042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5" name="Text 34"/>
          <p:cNvSpPr/>
          <p:nvPr/>
        </p:nvSpPr>
        <p:spPr>
          <a:xfrm>
            <a:off x="4827960" y="2030040"/>
            <a:ext cx="3821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Fault Tolerance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Text 35"/>
          <p:cNvSpPr/>
          <p:nvPr/>
        </p:nvSpPr>
        <p:spPr>
          <a:xfrm>
            <a:off x="4827960" y="2331720"/>
            <a:ext cx="3821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HDFS replication ensures data survives node failures. Failed tasks auto-rescheduled.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7" name="Shape 36"/>
          <p:cNvSpPr/>
          <p:nvPr/>
        </p:nvSpPr>
        <p:spPr>
          <a:xfrm>
            <a:off x="4663440" y="2880360"/>
            <a:ext cx="4114440" cy="8042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8" name="Shape 37"/>
          <p:cNvSpPr/>
          <p:nvPr/>
        </p:nvSpPr>
        <p:spPr>
          <a:xfrm>
            <a:off x="4663440" y="2880360"/>
            <a:ext cx="54360" cy="8042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9" name="Text 38"/>
          <p:cNvSpPr/>
          <p:nvPr/>
        </p:nvSpPr>
        <p:spPr>
          <a:xfrm>
            <a:off x="4827960" y="2944440"/>
            <a:ext cx="3821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Data Locality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0" name="Text 39"/>
          <p:cNvSpPr/>
          <p:nvPr/>
        </p:nvSpPr>
        <p:spPr>
          <a:xfrm>
            <a:off x="4827960" y="3246120"/>
            <a:ext cx="3821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100% data-local map tasks — no network overhead for data transfer.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1" name="Shape 40"/>
          <p:cNvSpPr/>
          <p:nvPr/>
        </p:nvSpPr>
        <p:spPr>
          <a:xfrm>
            <a:off x="4663440" y="3794760"/>
            <a:ext cx="4114440" cy="8042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2" name="Shape 41"/>
          <p:cNvSpPr/>
          <p:nvPr/>
        </p:nvSpPr>
        <p:spPr>
          <a:xfrm>
            <a:off x="4663440" y="3794760"/>
            <a:ext cx="54360" cy="8042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3" name="Text 42"/>
          <p:cNvSpPr/>
          <p:nvPr/>
        </p:nvSpPr>
        <p:spPr>
          <a:xfrm>
            <a:off x="4827960" y="3858840"/>
            <a:ext cx="3821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Parallel Reducers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4" name="Text 43"/>
          <p:cNvSpPr/>
          <p:nvPr/>
        </p:nvSpPr>
        <p:spPr>
          <a:xfrm>
            <a:off x="4827960" y="4160520"/>
            <a:ext cx="3821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All 5 regions processed simultaneously by independent Reducers.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5" name="Shape 44"/>
          <p:cNvSpPr/>
          <p:nvPr/>
        </p:nvSpPr>
        <p:spPr>
          <a:xfrm>
            <a:off x="365760" y="4617720"/>
            <a:ext cx="8412120" cy="475200"/>
          </a:xfrm>
          <a:prstGeom prst="rect">
            <a:avLst/>
          </a:prstGeom>
          <a:solidFill>
            <a:srgbClr val="d4edda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6" name="Text 45"/>
          <p:cNvSpPr/>
          <p:nvPr/>
        </p:nvSpPr>
        <p:spPr>
          <a:xfrm>
            <a:off x="502920" y="468180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Conclusion: 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7" name="Text 46"/>
          <p:cNvSpPr/>
          <p:nvPr/>
        </p:nvSpPr>
        <p:spPr>
          <a:xfrm>
            <a:off x="1719000" y="4681800"/>
            <a:ext cx="6949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500,000 agricultural records processed in 25.2 seconds across 5 Indian regions. MapReduce's share-nothing parallelism is well-suited for large-scale agricultural analytics. Future: AWS EMR multi-node + Apache Spark (10–100× faster).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8" name="Text 47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10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84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0" y="1691640"/>
            <a:ext cx="9143640" cy="1737000"/>
          </a:xfrm>
          <a:prstGeom prst="rect">
            <a:avLst/>
          </a:prstGeom>
          <a:solidFill>
            <a:srgbClr val="1e6a39"/>
          </a:solidFill>
          <a:ln w="12700">
            <a:solidFill>
              <a:srgbClr val="2e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0" name="Text 1"/>
          <p:cNvSpPr/>
          <p:nvPr/>
        </p:nvSpPr>
        <p:spPr>
          <a:xfrm>
            <a:off x="457200" y="914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caf7d"/>
                </a:solidFill>
                <a:uFillTx/>
                <a:latin typeface="Calibri"/>
                <a:ea typeface="Calibri"/>
              </a:rPr>
              <a:t>SECTION 2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1" name="Text 2"/>
          <p:cNvSpPr/>
          <p:nvPr/>
        </p:nvSpPr>
        <p:spPr>
          <a:xfrm>
            <a:off x="457200" y="1783080"/>
            <a:ext cx="8229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Data Engineering with Python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2" name="Text 3"/>
          <p:cNvSpPr/>
          <p:nvPr/>
        </p:nvSpPr>
        <p:spPr>
          <a:xfrm>
            <a:off x="457200" y="2633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caf7d"/>
                </a:solidFill>
                <a:uFillTx/>
                <a:latin typeface="Calibri"/>
                <a:ea typeface="Calibri"/>
              </a:rPr>
              <a:t>LAB-1: ETL Pipeline  ·  LAB-2: EDA &amp; Machine Learning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3" name="Text 4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11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5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Dataset Overview &amp; Lab Objectives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6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Crop Recommendation Dataset — 2200 records, 22 crop types, 7 numerical features. Perfectly balanced: 100 samples per crop. Zero missing values.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7" name="Shape 3"/>
          <p:cNvSpPr/>
          <p:nvPr/>
        </p:nvSpPr>
        <p:spPr>
          <a:xfrm>
            <a:off x="365760" y="1143000"/>
            <a:ext cx="1554120" cy="86832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Text 4"/>
          <p:cNvSpPr/>
          <p:nvPr/>
        </p:nvSpPr>
        <p:spPr>
          <a:xfrm>
            <a:off x="365760" y="1216080"/>
            <a:ext cx="1554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2,200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9" name="Text 5"/>
          <p:cNvSpPr/>
          <p:nvPr/>
        </p:nvSpPr>
        <p:spPr>
          <a:xfrm>
            <a:off x="365760" y="164592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Total Records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0" name="Shape 6"/>
          <p:cNvSpPr/>
          <p:nvPr/>
        </p:nvSpPr>
        <p:spPr>
          <a:xfrm>
            <a:off x="2057400" y="1143000"/>
            <a:ext cx="1554120" cy="86832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1" name="Text 7"/>
          <p:cNvSpPr/>
          <p:nvPr/>
        </p:nvSpPr>
        <p:spPr>
          <a:xfrm>
            <a:off x="2057400" y="1216080"/>
            <a:ext cx="1554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22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2" name="Text 8"/>
          <p:cNvSpPr/>
          <p:nvPr/>
        </p:nvSpPr>
        <p:spPr>
          <a:xfrm>
            <a:off x="2057400" y="164592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Crop Types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3" name="Shape 9"/>
          <p:cNvSpPr/>
          <p:nvPr/>
        </p:nvSpPr>
        <p:spPr>
          <a:xfrm>
            <a:off x="3749040" y="1143000"/>
            <a:ext cx="1554120" cy="86832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4" name="Text 10"/>
          <p:cNvSpPr/>
          <p:nvPr/>
        </p:nvSpPr>
        <p:spPr>
          <a:xfrm>
            <a:off x="3749040" y="1216080"/>
            <a:ext cx="1554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7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5" name="Text 11"/>
          <p:cNvSpPr/>
          <p:nvPr/>
        </p:nvSpPr>
        <p:spPr>
          <a:xfrm>
            <a:off x="3749040" y="164592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Features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6" name="Shape 12"/>
          <p:cNvSpPr/>
          <p:nvPr/>
        </p:nvSpPr>
        <p:spPr>
          <a:xfrm>
            <a:off x="5440680" y="1143000"/>
            <a:ext cx="1554120" cy="86832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7" name="Text 13"/>
          <p:cNvSpPr/>
          <p:nvPr/>
        </p:nvSpPr>
        <p:spPr>
          <a:xfrm>
            <a:off x="5440680" y="1216080"/>
            <a:ext cx="1554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100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8" name="Text 14"/>
          <p:cNvSpPr/>
          <p:nvPr/>
        </p:nvSpPr>
        <p:spPr>
          <a:xfrm>
            <a:off x="5440680" y="164592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Samples/Crop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9" name="Shape 15"/>
          <p:cNvSpPr/>
          <p:nvPr/>
        </p:nvSpPr>
        <p:spPr>
          <a:xfrm>
            <a:off x="7132320" y="1691640"/>
            <a:ext cx="1645560" cy="31968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0" name="Text 16"/>
          <p:cNvSpPr/>
          <p:nvPr/>
        </p:nvSpPr>
        <p:spPr>
          <a:xfrm>
            <a:off x="7132320" y="1764720"/>
            <a:ext cx="1645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0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1" name="Text 17"/>
          <p:cNvSpPr/>
          <p:nvPr/>
        </p:nvSpPr>
        <p:spPr>
          <a:xfrm>
            <a:off x="7132320" y="219456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Missing Values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2" name="Text 18"/>
          <p:cNvSpPr/>
          <p:nvPr/>
        </p:nvSpPr>
        <p:spPr>
          <a:xfrm>
            <a:off x="365760" y="2084760"/>
            <a:ext cx="1371240" cy="23724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Column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3" name="Text 19"/>
          <p:cNvSpPr/>
          <p:nvPr/>
        </p:nvSpPr>
        <p:spPr>
          <a:xfrm>
            <a:off x="1737360" y="2084760"/>
            <a:ext cx="2925720" cy="23724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Range / Description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4" name="Shape 20"/>
          <p:cNvSpPr/>
          <p:nvPr/>
        </p:nvSpPr>
        <p:spPr>
          <a:xfrm>
            <a:off x="365760" y="2322720"/>
            <a:ext cx="1371240" cy="2829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5" name="Text 21"/>
          <p:cNvSpPr/>
          <p:nvPr/>
        </p:nvSpPr>
        <p:spPr>
          <a:xfrm>
            <a:off x="429840" y="236844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N (int64)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6" name="Shape 22"/>
          <p:cNvSpPr/>
          <p:nvPr/>
        </p:nvSpPr>
        <p:spPr>
          <a:xfrm>
            <a:off x="1737360" y="2322720"/>
            <a:ext cx="2925720" cy="2829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7" name="Text 23"/>
          <p:cNvSpPr/>
          <p:nvPr/>
        </p:nvSpPr>
        <p:spPr>
          <a:xfrm>
            <a:off x="1801440" y="236844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Nitrogen content, 0–140 mg/kg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8" name="Shape 24"/>
          <p:cNvSpPr/>
          <p:nvPr/>
        </p:nvSpPr>
        <p:spPr>
          <a:xfrm>
            <a:off x="365760" y="2642760"/>
            <a:ext cx="1371240" cy="28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9" name="Text 25"/>
          <p:cNvSpPr/>
          <p:nvPr/>
        </p:nvSpPr>
        <p:spPr>
          <a:xfrm>
            <a:off x="429840" y="268848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P (int64)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0" name="Shape 26"/>
          <p:cNvSpPr/>
          <p:nvPr/>
        </p:nvSpPr>
        <p:spPr>
          <a:xfrm>
            <a:off x="1737360" y="2642760"/>
            <a:ext cx="2925720" cy="28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1" name="Text 27"/>
          <p:cNvSpPr/>
          <p:nvPr/>
        </p:nvSpPr>
        <p:spPr>
          <a:xfrm>
            <a:off x="1801440" y="26884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Phosphorus, 5–145 mg/kg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2" name="Shape 28"/>
          <p:cNvSpPr/>
          <p:nvPr/>
        </p:nvSpPr>
        <p:spPr>
          <a:xfrm>
            <a:off x="365760" y="2962800"/>
            <a:ext cx="1371240" cy="2829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3" name="Text 29"/>
          <p:cNvSpPr/>
          <p:nvPr/>
        </p:nvSpPr>
        <p:spPr>
          <a:xfrm>
            <a:off x="429840" y="300852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K (int64)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4" name="Shape 30"/>
          <p:cNvSpPr/>
          <p:nvPr/>
        </p:nvSpPr>
        <p:spPr>
          <a:xfrm>
            <a:off x="1737360" y="2962800"/>
            <a:ext cx="2925720" cy="2829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5" name="Text 31"/>
          <p:cNvSpPr/>
          <p:nvPr/>
        </p:nvSpPr>
        <p:spPr>
          <a:xfrm>
            <a:off x="1801440" y="30085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Potassium, 5–205 mg/kg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6" name="Shape 32"/>
          <p:cNvSpPr/>
          <p:nvPr/>
        </p:nvSpPr>
        <p:spPr>
          <a:xfrm>
            <a:off x="365760" y="3282840"/>
            <a:ext cx="1371240" cy="28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7" name="Text 33"/>
          <p:cNvSpPr/>
          <p:nvPr/>
        </p:nvSpPr>
        <p:spPr>
          <a:xfrm>
            <a:off x="429840" y="332856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temperature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8" name="Shape 34"/>
          <p:cNvSpPr/>
          <p:nvPr/>
        </p:nvSpPr>
        <p:spPr>
          <a:xfrm>
            <a:off x="1737360" y="3282840"/>
            <a:ext cx="2925720" cy="28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9" name="Text 35"/>
          <p:cNvSpPr/>
          <p:nvPr/>
        </p:nvSpPr>
        <p:spPr>
          <a:xfrm>
            <a:off x="1801440" y="332856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8.83–43.68°C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0" name="Shape 36"/>
          <p:cNvSpPr/>
          <p:nvPr/>
        </p:nvSpPr>
        <p:spPr>
          <a:xfrm>
            <a:off x="365760" y="3602880"/>
            <a:ext cx="1371240" cy="2829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1" name="Text 37"/>
          <p:cNvSpPr/>
          <p:nvPr/>
        </p:nvSpPr>
        <p:spPr>
          <a:xfrm>
            <a:off x="429840" y="364860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humidity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2" name="Shape 38"/>
          <p:cNvSpPr/>
          <p:nvPr/>
        </p:nvSpPr>
        <p:spPr>
          <a:xfrm>
            <a:off x="1737360" y="3602880"/>
            <a:ext cx="2925720" cy="2829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3" name="Text 39"/>
          <p:cNvSpPr/>
          <p:nvPr/>
        </p:nvSpPr>
        <p:spPr>
          <a:xfrm>
            <a:off x="1801440" y="364860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14.26–99.98%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4" name="Shape 40"/>
          <p:cNvSpPr/>
          <p:nvPr/>
        </p:nvSpPr>
        <p:spPr>
          <a:xfrm>
            <a:off x="365760" y="3922920"/>
            <a:ext cx="1371240" cy="28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5" name="Text 41"/>
          <p:cNvSpPr/>
          <p:nvPr/>
        </p:nvSpPr>
        <p:spPr>
          <a:xfrm>
            <a:off x="429840" y="396864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ph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6" name="Shape 42"/>
          <p:cNvSpPr/>
          <p:nvPr/>
        </p:nvSpPr>
        <p:spPr>
          <a:xfrm>
            <a:off x="1737360" y="3922920"/>
            <a:ext cx="2925720" cy="28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7" name="Text 43"/>
          <p:cNvSpPr/>
          <p:nvPr/>
        </p:nvSpPr>
        <p:spPr>
          <a:xfrm>
            <a:off x="1801440" y="396864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3.50–9.94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8" name="Shape 44"/>
          <p:cNvSpPr/>
          <p:nvPr/>
        </p:nvSpPr>
        <p:spPr>
          <a:xfrm>
            <a:off x="365760" y="4242960"/>
            <a:ext cx="1371240" cy="2829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9" name="Text 45"/>
          <p:cNvSpPr/>
          <p:nvPr/>
        </p:nvSpPr>
        <p:spPr>
          <a:xfrm>
            <a:off x="429840" y="428868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rainfall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0" name="Shape 46"/>
          <p:cNvSpPr/>
          <p:nvPr/>
        </p:nvSpPr>
        <p:spPr>
          <a:xfrm>
            <a:off x="1737360" y="4242960"/>
            <a:ext cx="2925720" cy="28296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1" name="Text 47"/>
          <p:cNvSpPr/>
          <p:nvPr/>
        </p:nvSpPr>
        <p:spPr>
          <a:xfrm>
            <a:off x="1801440" y="42886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20.21–298.56 mm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2" name="Shape 48"/>
          <p:cNvSpPr/>
          <p:nvPr/>
        </p:nvSpPr>
        <p:spPr>
          <a:xfrm>
            <a:off x="365760" y="4563000"/>
            <a:ext cx="1371240" cy="28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3" name="Text 49"/>
          <p:cNvSpPr/>
          <p:nvPr/>
        </p:nvSpPr>
        <p:spPr>
          <a:xfrm>
            <a:off x="429840" y="460872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label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4" name="Shape 50"/>
          <p:cNvSpPr/>
          <p:nvPr/>
        </p:nvSpPr>
        <p:spPr>
          <a:xfrm>
            <a:off x="1737360" y="4563000"/>
            <a:ext cx="2925720" cy="28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5" name="Text 51"/>
          <p:cNvSpPr/>
          <p:nvPr/>
        </p:nvSpPr>
        <p:spPr>
          <a:xfrm>
            <a:off x="1801440" y="46087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22 crop categories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6" name="Shape 52"/>
          <p:cNvSpPr/>
          <p:nvPr/>
        </p:nvSpPr>
        <p:spPr>
          <a:xfrm>
            <a:off x="4892040" y="2084760"/>
            <a:ext cx="3885840" cy="23770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7" name="Text 53"/>
          <p:cNvSpPr/>
          <p:nvPr/>
        </p:nvSpPr>
        <p:spPr>
          <a:xfrm>
            <a:off x="5001840" y="215784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22 Crop Classes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8" name="Text 54"/>
          <p:cNvSpPr/>
          <p:nvPr/>
        </p:nvSpPr>
        <p:spPr>
          <a:xfrm>
            <a:off x="5001840" y="2450520"/>
            <a:ext cx="37029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Rice · Wheat · Maize · Chickpea · Cotton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Sugarcane · Banana · Mango · Grapes · Coffee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Coconut · Jute · Lentil · Pigeonpeas · Mothbeans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Kidneybeans · Blackgram · Mungbean · Watermelon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Muskmelon · Apple · Orange · Papaya · Pomegranate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9" name="Shape 55"/>
          <p:cNvSpPr/>
          <p:nvPr/>
        </p:nvSpPr>
        <p:spPr>
          <a:xfrm>
            <a:off x="4892040" y="4480560"/>
            <a:ext cx="3885840" cy="456840"/>
          </a:xfrm>
          <a:prstGeom prst="rect">
            <a:avLst/>
          </a:prstGeom>
          <a:solidFill>
            <a:srgbClr val="d4edda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0" name="Text 56"/>
          <p:cNvSpPr/>
          <p:nvPr/>
        </p:nvSpPr>
        <p:spPr>
          <a:xfrm>
            <a:off x="5010840" y="4572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LAB-1 (ETL Pipeline) → LAB-2 (EDA + KNN Classifier) → 97.82% Accuracy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1" name="Text 57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12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3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LAB-1 — ETL Pipeline Implementation (9 Tasks)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4" name="Shape 2"/>
          <p:cNvSpPr/>
          <p:nvPr/>
        </p:nvSpPr>
        <p:spPr>
          <a:xfrm>
            <a:off x="365760" y="804600"/>
            <a:ext cx="2697120" cy="13528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5" name="Shape 3"/>
          <p:cNvSpPr/>
          <p:nvPr/>
        </p:nvSpPr>
        <p:spPr>
          <a:xfrm>
            <a:off x="365760" y="804600"/>
            <a:ext cx="2697120" cy="383760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6" name="Text 4"/>
          <p:cNvSpPr/>
          <p:nvPr/>
        </p:nvSpPr>
        <p:spPr>
          <a:xfrm>
            <a:off x="457200" y="877680"/>
            <a:ext cx="2523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T1 — File Parsing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7" name="Text 5"/>
          <p:cNvSpPr/>
          <p:nvPr/>
        </p:nvSpPr>
        <p:spPr>
          <a:xfrm>
            <a:off x="457200" y="126180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CSV · JSON · HTML · XML · TXT parsed via pandas and stdlib. Anomaly checks: no rainfall&gt;300, no temp outliers, 0 missing values.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8" name="Shape 6"/>
          <p:cNvSpPr/>
          <p:nvPr/>
        </p:nvSpPr>
        <p:spPr>
          <a:xfrm>
            <a:off x="3182040" y="804600"/>
            <a:ext cx="2697120" cy="13528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9" name="Shape 7"/>
          <p:cNvSpPr/>
          <p:nvPr/>
        </p:nvSpPr>
        <p:spPr>
          <a:xfrm>
            <a:off x="3182040" y="804600"/>
            <a:ext cx="2697120" cy="3837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0" name="Text 8"/>
          <p:cNvSpPr/>
          <p:nvPr/>
        </p:nvSpPr>
        <p:spPr>
          <a:xfrm>
            <a:off x="3273480" y="877680"/>
            <a:ext cx="2523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T2 — Binary I/O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1" name="Text 9"/>
          <p:cNvSpPr/>
          <p:nvPr/>
        </p:nvSpPr>
        <p:spPr>
          <a:xfrm>
            <a:off x="3273480" y="126180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DataFrame serialized to crop_data.bin via pickle.dump(), deserialized back. 2200 rows × 8 cols preserved perfectly.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2" name="Shape 10"/>
          <p:cNvSpPr/>
          <p:nvPr/>
        </p:nvSpPr>
        <p:spPr>
          <a:xfrm>
            <a:off x="5998320" y="804600"/>
            <a:ext cx="2697120" cy="13528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3" name="Shape 11"/>
          <p:cNvSpPr/>
          <p:nvPr/>
        </p:nvSpPr>
        <p:spPr>
          <a:xfrm>
            <a:off x="5998320" y="804600"/>
            <a:ext cx="2697120" cy="383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4" name="Text 12"/>
          <p:cNvSpPr/>
          <p:nvPr/>
        </p:nvSpPr>
        <p:spPr>
          <a:xfrm>
            <a:off x="6089760" y="877680"/>
            <a:ext cx="2523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T3 — Regex Ops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5" name="Text 13"/>
          <p:cNvSpPr/>
          <p:nvPr/>
        </p:nvSpPr>
        <p:spPr>
          <a:xfrm>
            <a:off x="6089760" y="126180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re.search/findall/sub/split on label column. 'maize'→'corn' replacement. 1500 rows contain letter 'a'. crop_first_letter column added.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6" name="Shape 14"/>
          <p:cNvSpPr/>
          <p:nvPr/>
        </p:nvSpPr>
        <p:spPr>
          <a:xfrm>
            <a:off x="365760" y="2267640"/>
            <a:ext cx="2697120" cy="13528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7" name="Shape 15"/>
          <p:cNvSpPr/>
          <p:nvPr/>
        </p:nvSpPr>
        <p:spPr>
          <a:xfrm>
            <a:off x="365760" y="2267640"/>
            <a:ext cx="2697120" cy="383760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8" name="Text 16"/>
          <p:cNvSpPr/>
          <p:nvPr/>
        </p:nvSpPr>
        <p:spPr>
          <a:xfrm>
            <a:off x="457200" y="2340720"/>
            <a:ext cx="2523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T4 — SQLite CRUD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9" name="Text 17"/>
          <p:cNvSpPr/>
          <p:nvPr/>
        </p:nvSpPr>
        <p:spPr>
          <a:xfrm>
            <a:off x="457200" y="272484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crop.db created. 2200 rows INSERT-ed. SELECT, UPDATE (rice→rice_crop), DELETE (rainfall&lt;50). Full CRUD demonstrated.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0" name="Shape 18"/>
          <p:cNvSpPr/>
          <p:nvPr/>
        </p:nvSpPr>
        <p:spPr>
          <a:xfrm>
            <a:off x="3182040" y="2267640"/>
            <a:ext cx="2697120" cy="13528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1" name="Shape 19"/>
          <p:cNvSpPr/>
          <p:nvPr/>
        </p:nvSpPr>
        <p:spPr>
          <a:xfrm>
            <a:off x="3182040" y="2267640"/>
            <a:ext cx="2697120" cy="383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2" name="Text 20"/>
          <p:cNvSpPr/>
          <p:nvPr/>
        </p:nvSpPr>
        <p:spPr>
          <a:xfrm>
            <a:off x="3273480" y="2340720"/>
            <a:ext cx="2523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T5 — MongoDB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3" name="Text 21"/>
          <p:cNvSpPr/>
          <p:nvPr/>
        </p:nvSpPr>
        <p:spPr>
          <a:xfrm>
            <a:off x="3273480" y="272484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PyMongo 4.16 installed. insert_many, find, update_many, delete_many, create_index demonstrated. (Server unavailable in Colab.)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4" name="Shape 22"/>
          <p:cNvSpPr/>
          <p:nvPr/>
        </p:nvSpPr>
        <p:spPr>
          <a:xfrm>
            <a:off x="5998320" y="2267640"/>
            <a:ext cx="2697120" cy="13528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5" name="Shape 23"/>
          <p:cNvSpPr/>
          <p:nvPr/>
        </p:nvSpPr>
        <p:spPr>
          <a:xfrm>
            <a:off x="5998320" y="2267640"/>
            <a:ext cx="2697120" cy="3837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6" name="Text 24"/>
          <p:cNvSpPr/>
          <p:nvPr/>
        </p:nvSpPr>
        <p:spPr>
          <a:xfrm>
            <a:off x="6089760" y="2340720"/>
            <a:ext cx="2523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T6 — NumPy Ops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7" name="Text 25"/>
          <p:cNvSpPr/>
          <p:nvPr/>
        </p:nvSpPr>
        <p:spPr>
          <a:xfrm>
            <a:off x="6089760" y="272484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N,P,K as (2200,3) array. Reshape, slicing, column-wise mean: N=50.55, P=53.36, K=48.15. Broadcasting demonstrated.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8" name="Shape 26"/>
          <p:cNvSpPr/>
          <p:nvPr/>
        </p:nvSpPr>
        <p:spPr>
          <a:xfrm>
            <a:off x="365760" y="3730680"/>
            <a:ext cx="2697120" cy="13528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9" name="Shape 27"/>
          <p:cNvSpPr/>
          <p:nvPr/>
        </p:nvSpPr>
        <p:spPr>
          <a:xfrm>
            <a:off x="365760" y="3730680"/>
            <a:ext cx="2697120" cy="383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0" name="Text 28"/>
          <p:cNvSpPr/>
          <p:nvPr/>
        </p:nvSpPr>
        <p:spPr>
          <a:xfrm>
            <a:off x="457200" y="3803760"/>
            <a:ext cx="2523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T7 — Pandas Wrangling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1" name="Text 29"/>
          <p:cNvSpPr/>
          <p:nvPr/>
        </p:nvSpPr>
        <p:spPr>
          <a:xfrm>
            <a:off x="457200" y="418788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loc/iloc indexing, boolean filter (rainfall&gt;200: 132 rows), groupby rainfall mean, inner merge. Rice highest avg: 236.18mm.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2" name="Shape 30"/>
          <p:cNvSpPr/>
          <p:nvPr/>
        </p:nvSpPr>
        <p:spPr>
          <a:xfrm>
            <a:off x="3182040" y="3730680"/>
            <a:ext cx="2697120" cy="13528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3" name="Shape 31"/>
          <p:cNvSpPr/>
          <p:nvPr/>
        </p:nvSpPr>
        <p:spPr>
          <a:xfrm>
            <a:off x="3182040" y="3730680"/>
            <a:ext cx="2697120" cy="383760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4" name="Text 32"/>
          <p:cNvSpPr/>
          <p:nvPr/>
        </p:nvSpPr>
        <p:spPr>
          <a:xfrm>
            <a:off x="3273480" y="3803760"/>
            <a:ext cx="2523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T8 — Visualization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5" name="Text 33"/>
          <p:cNvSpPr/>
          <p:nvPr/>
        </p:nvSpPr>
        <p:spPr>
          <a:xfrm>
            <a:off x="3273480" y="418788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Rainfall histogram + box plot per crop (22 categories). Rice highest ~230mm, Muskmelon lowest ~25mm.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6" name="Shape 34"/>
          <p:cNvSpPr/>
          <p:nvPr/>
        </p:nvSpPr>
        <p:spPr>
          <a:xfrm>
            <a:off x="5998320" y="3730680"/>
            <a:ext cx="2697120" cy="135288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7" name="Shape 35"/>
          <p:cNvSpPr/>
          <p:nvPr/>
        </p:nvSpPr>
        <p:spPr>
          <a:xfrm>
            <a:off x="5998320" y="3730680"/>
            <a:ext cx="2697120" cy="3837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8" name="Text 36"/>
          <p:cNvSpPr/>
          <p:nvPr/>
        </p:nvSpPr>
        <p:spPr>
          <a:xfrm>
            <a:off x="6089760" y="3803760"/>
            <a:ext cx="2523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T9 — ETL Verify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9" name="Text 37"/>
          <p:cNvSpPr/>
          <p:nvPr/>
        </p:nvSpPr>
        <p:spPr>
          <a:xfrm>
            <a:off x="6089760" y="418788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Cleaned DF saved to clean_crop_data.csv, read back. 2200×8 matches — data integrity confirmed.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0" name="Text 38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13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52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LAB-2 — EDA: Box Plots &amp; Feature Distributions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53" name="Image 0" descr="/home/claude/imgs/charts/lab1_p12_img00.png"/>
          <p:cNvPicPr/>
          <p:nvPr/>
        </p:nvPicPr>
        <p:blipFill>
          <a:blip r:embed="rId1"/>
          <a:stretch/>
        </p:blipFill>
        <p:spPr>
          <a:xfrm>
            <a:off x="365760" y="804600"/>
            <a:ext cx="5120280" cy="233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Shape 2"/>
          <p:cNvSpPr/>
          <p:nvPr/>
        </p:nvSpPr>
        <p:spPr>
          <a:xfrm>
            <a:off x="365760" y="804600"/>
            <a:ext cx="5120280" cy="2331360"/>
          </a:xfrm>
          <a:prstGeom prst="rect">
            <a:avLst/>
          </a:prstGeom>
          <a:noFill/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5" name="Text 3"/>
          <p:cNvSpPr/>
          <p:nvPr/>
        </p:nvSpPr>
        <p:spPr>
          <a:xfrm>
            <a:off x="365760" y="3182040"/>
            <a:ext cx="5120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Box Plots — 7 Numerical Features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6" name="Text 4"/>
          <p:cNvSpPr/>
          <p:nvPr/>
        </p:nvSpPr>
        <p:spPr>
          <a:xfrm>
            <a:off x="365760" y="342900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IQR Outlier Analysis (Humidity): Q1=60.26 · Q3=89.95 · IQR=29.69 · Extreme boundary=179.01 → No extreme outliers found.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57" name="Image 1" descr="/home/claude/imgs/charts/lab1_p14_img01.png"/>
          <p:cNvPicPr/>
          <p:nvPr/>
        </p:nvPicPr>
        <p:blipFill>
          <a:blip r:embed="rId2"/>
          <a:stretch/>
        </p:blipFill>
        <p:spPr>
          <a:xfrm>
            <a:off x="365760" y="3749040"/>
            <a:ext cx="5120280" cy="1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Text 5"/>
          <p:cNvSpPr/>
          <p:nvPr/>
        </p:nvSpPr>
        <p:spPr>
          <a:xfrm>
            <a:off x="5623560" y="804600"/>
            <a:ext cx="3154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Feature Insights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9" name="Shape 6"/>
          <p:cNvSpPr/>
          <p:nvPr/>
        </p:nvSpPr>
        <p:spPr>
          <a:xfrm>
            <a:off x="5623560" y="1078920"/>
            <a:ext cx="3154320" cy="59400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0" name="Text 7"/>
          <p:cNvSpPr/>
          <p:nvPr/>
        </p:nvSpPr>
        <p:spPr>
          <a:xfrm>
            <a:off x="5724000" y="112464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Nitrogen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1" name="Text 8"/>
          <p:cNvSpPr/>
          <p:nvPr/>
        </p:nvSpPr>
        <p:spPr>
          <a:xfrm>
            <a:off x="5724000" y="138996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Multi-modal distribution — distinct crop groups with different N needs.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2" name="Shape 9"/>
          <p:cNvSpPr/>
          <p:nvPr/>
        </p:nvSpPr>
        <p:spPr>
          <a:xfrm>
            <a:off x="5623560" y="1737360"/>
            <a:ext cx="315432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3" name="Text 10"/>
          <p:cNvSpPr/>
          <p:nvPr/>
        </p:nvSpPr>
        <p:spPr>
          <a:xfrm>
            <a:off x="5724000" y="178308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Phosphorus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4" name="Text 11"/>
          <p:cNvSpPr/>
          <p:nvPr/>
        </p:nvSpPr>
        <p:spPr>
          <a:xfrm>
            <a:off x="5724000" y="204840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Bimodal — low-P crops (grains) vs high-P crops (fruits/legumes).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5" name="Shape 12"/>
          <p:cNvSpPr/>
          <p:nvPr/>
        </p:nvSpPr>
        <p:spPr>
          <a:xfrm>
            <a:off x="5623560" y="2395800"/>
            <a:ext cx="3154320" cy="59400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6" name="Text 13"/>
          <p:cNvSpPr/>
          <p:nvPr/>
        </p:nvSpPr>
        <p:spPr>
          <a:xfrm>
            <a:off x="5724000" y="244152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Potassium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7" name="Text 14"/>
          <p:cNvSpPr/>
          <p:nvPr/>
        </p:nvSpPr>
        <p:spPr>
          <a:xfrm>
            <a:off x="5724000" y="270648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Right-skewed — most crops need moderate K; few need very high.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8" name="Shape 15"/>
          <p:cNvSpPr/>
          <p:nvPr/>
        </p:nvSpPr>
        <p:spPr>
          <a:xfrm>
            <a:off x="5623560" y="3054240"/>
            <a:ext cx="315432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9" name="Text 16"/>
          <p:cNvSpPr/>
          <p:nvPr/>
        </p:nvSpPr>
        <p:spPr>
          <a:xfrm>
            <a:off x="5724000" y="309996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Temperature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0" name="Text 17"/>
          <p:cNvSpPr/>
          <p:nvPr/>
        </p:nvSpPr>
        <p:spPr>
          <a:xfrm>
            <a:off x="5724000" y="336492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Near-normal ~25°C — most crops in temperate range.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1" name="Shape 18"/>
          <p:cNvSpPr/>
          <p:nvPr/>
        </p:nvSpPr>
        <p:spPr>
          <a:xfrm>
            <a:off x="5623560" y="3712320"/>
            <a:ext cx="3154320" cy="59400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2" name="Text 19"/>
          <p:cNvSpPr/>
          <p:nvPr/>
        </p:nvSpPr>
        <p:spPr>
          <a:xfrm>
            <a:off x="5724000" y="375804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Humidity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3" name="Text 20"/>
          <p:cNvSpPr/>
          <p:nvPr/>
        </p:nvSpPr>
        <p:spPr>
          <a:xfrm>
            <a:off x="5724000" y="402336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Bimodal — dry-season crops vs monsoon crops clearly separate.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4" name="Shape 21"/>
          <p:cNvSpPr/>
          <p:nvPr/>
        </p:nvSpPr>
        <p:spPr>
          <a:xfrm>
            <a:off x="5623560" y="4370760"/>
            <a:ext cx="315432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5" name="Text 22"/>
          <p:cNvSpPr/>
          <p:nvPr/>
        </p:nvSpPr>
        <p:spPr>
          <a:xfrm>
            <a:off x="5724000" y="441648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Rainfall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6" name="Text 23"/>
          <p:cNvSpPr/>
          <p:nvPr/>
        </p:nvSpPr>
        <p:spPr>
          <a:xfrm>
            <a:off x="5724000" y="468180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Highly right-skewed — rice outlier at 200–300mm dominates.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7" name="Text 24"/>
          <p:cNvSpPr/>
          <p:nvPr/>
        </p:nvSpPr>
        <p:spPr>
          <a:xfrm>
            <a:off x="5623560" y="5047560"/>
            <a:ext cx="3154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Global Summary: N̄=50.55 · P̄=53.36 · K̄=48.15 · Temp̄=25.62°C · Humiditȳ=71.48% · pH̄=6.47 · Rainfall̄=103.46mm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8" name="Text 25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14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0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LAB-2 — Relational Plot, Season Classification &amp; K-Means Clustering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81" name="Image 0" descr="/home/claude/imgs/charts/lab1_p16_img02.jpeg"/>
          <p:cNvPicPr/>
          <p:nvPr/>
        </p:nvPicPr>
        <p:blipFill>
          <a:blip r:embed="rId1"/>
          <a:stretch/>
        </p:blipFill>
        <p:spPr>
          <a:xfrm>
            <a:off x="365760" y="804600"/>
            <a:ext cx="3200040" cy="263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2" name="Shape 2"/>
          <p:cNvSpPr/>
          <p:nvPr/>
        </p:nvSpPr>
        <p:spPr>
          <a:xfrm>
            <a:off x="365760" y="804600"/>
            <a:ext cx="3200040" cy="2633040"/>
          </a:xfrm>
          <a:prstGeom prst="rect">
            <a:avLst/>
          </a:prstGeom>
          <a:noFill/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3" name="Text 3"/>
          <p:cNvSpPr/>
          <p:nvPr/>
        </p:nvSpPr>
        <p:spPr>
          <a:xfrm>
            <a:off x="365760" y="347472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Temperature vs Humidity (coloured by Rainfall)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4" name="Text 4"/>
          <p:cNvSpPr/>
          <p:nvPr/>
        </p:nvSpPr>
        <p:spPr>
          <a:xfrm>
            <a:off x="3749040" y="804600"/>
            <a:ext cx="5028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Season Classification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5" name="Shape 5"/>
          <p:cNvSpPr/>
          <p:nvPr/>
        </p:nvSpPr>
        <p:spPr>
          <a:xfrm>
            <a:off x="3749040" y="1078920"/>
            <a:ext cx="5028840" cy="7495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6" name="Shape 6"/>
          <p:cNvSpPr/>
          <p:nvPr/>
        </p:nvSpPr>
        <p:spPr>
          <a:xfrm>
            <a:off x="3749040" y="1078920"/>
            <a:ext cx="639720" cy="7495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7" name="Text 7"/>
          <p:cNvSpPr/>
          <p:nvPr/>
        </p:nvSpPr>
        <p:spPr>
          <a:xfrm>
            <a:off x="3749040" y="131688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Summer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8" name="Text 8"/>
          <p:cNvSpPr/>
          <p:nvPr/>
        </p:nvSpPr>
        <p:spPr>
          <a:xfrm>
            <a:off x="4480560" y="1134000"/>
            <a:ext cx="4187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8a838"/>
                </a:solidFill>
                <a:uFillTx/>
                <a:latin typeface="Calibri"/>
                <a:ea typeface="Calibri"/>
              </a:rPr>
              <a:t>&gt; 30°C + humidity &gt; 50%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9" name="Text 9"/>
          <p:cNvSpPr/>
          <p:nvPr/>
        </p:nvSpPr>
        <p:spPr>
          <a:xfrm>
            <a:off x="4480560" y="1408320"/>
            <a:ext cx="4187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pigeonpeas · mothbeans · blackgram · mango · grapes · orange · papaya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0" name="Shape 10"/>
          <p:cNvSpPr/>
          <p:nvPr/>
        </p:nvSpPr>
        <p:spPr>
          <a:xfrm>
            <a:off x="3749040" y="1920240"/>
            <a:ext cx="5028840" cy="7495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1" name="Shape 11"/>
          <p:cNvSpPr/>
          <p:nvPr/>
        </p:nvSpPr>
        <p:spPr>
          <a:xfrm>
            <a:off x="3749040" y="1920240"/>
            <a:ext cx="639720" cy="7495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2" name="Text 12"/>
          <p:cNvSpPr/>
          <p:nvPr/>
        </p:nvSpPr>
        <p:spPr>
          <a:xfrm>
            <a:off x="3749040" y="215784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Winter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3" name="Text 13"/>
          <p:cNvSpPr/>
          <p:nvPr/>
        </p:nvSpPr>
        <p:spPr>
          <a:xfrm>
            <a:off x="4480560" y="1974960"/>
            <a:ext cx="4187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4a90d9"/>
                </a:solidFill>
                <a:uFillTx/>
                <a:latin typeface="Calibri"/>
                <a:ea typeface="Calibri"/>
              </a:rPr>
              <a:t>&lt; 20°C + humidity &gt; 30%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4" name="Text 14"/>
          <p:cNvSpPr/>
          <p:nvPr/>
        </p:nvSpPr>
        <p:spPr>
          <a:xfrm>
            <a:off x="4480560" y="2249280"/>
            <a:ext cx="4187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maize · pigeonpeas · lentil · pomegranate · grapes · orange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5" name="Shape 15"/>
          <p:cNvSpPr/>
          <p:nvPr/>
        </p:nvSpPr>
        <p:spPr>
          <a:xfrm>
            <a:off x="3749040" y="2761560"/>
            <a:ext cx="5028840" cy="7495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6" name="Shape 16"/>
          <p:cNvSpPr/>
          <p:nvPr/>
        </p:nvSpPr>
        <p:spPr>
          <a:xfrm>
            <a:off x="3749040" y="2761560"/>
            <a:ext cx="639720" cy="749520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7" name="Text 17"/>
          <p:cNvSpPr/>
          <p:nvPr/>
        </p:nvSpPr>
        <p:spPr>
          <a:xfrm>
            <a:off x="3749040" y="299916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Rainy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8" name="Text 18"/>
          <p:cNvSpPr/>
          <p:nvPr/>
        </p:nvSpPr>
        <p:spPr>
          <a:xfrm>
            <a:off x="4480560" y="2816280"/>
            <a:ext cx="4187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rainfall &gt; 200mm + humidity &gt; 30%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9" name="Text 19"/>
          <p:cNvSpPr/>
          <p:nvPr/>
        </p:nvSpPr>
        <p:spPr>
          <a:xfrm>
            <a:off x="4480560" y="3090600"/>
            <a:ext cx="4187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rice · papaya · coconut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0" name="Text 20"/>
          <p:cNvSpPr/>
          <p:nvPr/>
        </p:nvSpPr>
        <p:spPr>
          <a:xfrm>
            <a:off x="3749040" y="3657600"/>
            <a:ext cx="5028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K-Means Clustering (k=4) on 7 features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1" name="Shape 21"/>
          <p:cNvSpPr/>
          <p:nvPr/>
        </p:nvSpPr>
        <p:spPr>
          <a:xfrm>
            <a:off x="3749040" y="3931920"/>
            <a:ext cx="5028840" cy="2372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2" name="Text 22"/>
          <p:cNvSpPr/>
          <p:nvPr/>
        </p:nvSpPr>
        <p:spPr>
          <a:xfrm>
            <a:off x="3840480" y="395928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Cluster 0 — High Rain/Humidity: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3" name="Text 23"/>
          <p:cNvSpPr/>
          <p:nvPr/>
        </p:nvSpPr>
        <p:spPr>
          <a:xfrm>
            <a:off x="6492240" y="395928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rice · pigeonpeas · papaya · coconut · jute · coffee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4" name="Shape 24"/>
          <p:cNvSpPr/>
          <p:nvPr/>
        </p:nvSpPr>
        <p:spPr>
          <a:xfrm>
            <a:off x="3749040" y="4206240"/>
            <a:ext cx="5028840" cy="23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5" name="Text 25"/>
          <p:cNvSpPr/>
          <p:nvPr/>
        </p:nvSpPr>
        <p:spPr>
          <a:xfrm>
            <a:off x="3840480" y="423360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Cluster 1 — Moderate Temp/Humidity: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6" name="Text 26"/>
          <p:cNvSpPr/>
          <p:nvPr/>
        </p:nvSpPr>
        <p:spPr>
          <a:xfrm>
            <a:off x="6492240" y="423360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maize · banana · watermelon · muskmelon · papaya ...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7" name="Shape 27"/>
          <p:cNvSpPr/>
          <p:nvPr/>
        </p:nvSpPr>
        <p:spPr>
          <a:xfrm>
            <a:off x="3749040" y="4480560"/>
            <a:ext cx="5028840" cy="2372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8" name="Text 28"/>
          <p:cNvSpPr/>
          <p:nvPr/>
        </p:nvSpPr>
        <p:spPr>
          <a:xfrm>
            <a:off x="3840480" y="450792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Cluster 2 — Cold/Low Humidity: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9" name="Text 29"/>
          <p:cNvSpPr/>
          <p:nvPr/>
        </p:nvSpPr>
        <p:spPr>
          <a:xfrm>
            <a:off x="6492240" y="450792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grapes · apple (distinct isolated cluster)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0" name="Shape 30"/>
          <p:cNvSpPr/>
          <p:nvPr/>
        </p:nvSpPr>
        <p:spPr>
          <a:xfrm>
            <a:off x="3749040" y="4754880"/>
            <a:ext cx="5028840" cy="23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1" name="Text 31"/>
          <p:cNvSpPr/>
          <p:nvPr/>
        </p:nvSpPr>
        <p:spPr>
          <a:xfrm>
            <a:off x="3840480" y="478224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Cluster 3 — Diverse Legumes/Fruits: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2" name="Text 32"/>
          <p:cNvSpPr/>
          <p:nvPr/>
        </p:nvSpPr>
        <p:spPr>
          <a:xfrm>
            <a:off x="6492240" y="478224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chickpea · kidneybeans · lentil · pomegranate · mango ...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3" name="Text 33"/>
          <p:cNvSpPr/>
          <p:nvPr/>
        </p:nvSpPr>
        <p:spPr>
          <a:xfrm>
            <a:off x="365760" y="376740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Observations: High temp + high humidity → high-rainfall crops (rice, papaya, coconut). Dark purple dots (rainfall ≥200mm) cluster in 80–100% humidity zone.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4" name="Text 34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15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6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LAB-2 — Feature Correlation Analysis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17" name="Image 0" descr="/home/claude/imgs/charts/lab1_p19_img03.png"/>
          <p:cNvPicPr/>
          <p:nvPr/>
        </p:nvPicPr>
        <p:blipFill>
          <a:blip r:embed="rId1"/>
          <a:stretch/>
        </p:blipFill>
        <p:spPr>
          <a:xfrm>
            <a:off x="365760" y="804600"/>
            <a:ext cx="4388760" cy="42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8" name="Shape 2"/>
          <p:cNvSpPr/>
          <p:nvPr/>
        </p:nvSpPr>
        <p:spPr>
          <a:xfrm>
            <a:off x="365760" y="804600"/>
            <a:ext cx="4388760" cy="4251600"/>
          </a:xfrm>
          <a:prstGeom prst="rect">
            <a:avLst/>
          </a:prstGeom>
          <a:noFill/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9" name="Text 3"/>
          <p:cNvSpPr/>
          <p:nvPr/>
        </p:nvSpPr>
        <p:spPr>
          <a:xfrm>
            <a:off x="4983480" y="804600"/>
            <a:ext cx="3794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Correlation Findings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0" name="Shape 4"/>
          <p:cNvSpPr/>
          <p:nvPr/>
        </p:nvSpPr>
        <p:spPr>
          <a:xfrm>
            <a:off x="4983480" y="1078920"/>
            <a:ext cx="3794400" cy="70380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1" name="Shape 5"/>
          <p:cNvSpPr/>
          <p:nvPr/>
        </p:nvSpPr>
        <p:spPr>
          <a:xfrm>
            <a:off x="4983480" y="1078920"/>
            <a:ext cx="54360" cy="703800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2" name="Text 6"/>
          <p:cNvSpPr/>
          <p:nvPr/>
        </p:nvSpPr>
        <p:spPr>
          <a:xfrm>
            <a:off x="5139000" y="1134000"/>
            <a:ext cx="822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P ↔ K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3" name="Text 7"/>
          <p:cNvSpPr/>
          <p:nvPr/>
        </p:nvSpPr>
        <p:spPr>
          <a:xfrm>
            <a:off x="6035040" y="1134000"/>
            <a:ext cx="639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+74%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4" name="Text 8"/>
          <p:cNvSpPr/>
          <p:nvPr/>
        </p:nvSpPr>
        <p:spPr>
          <a:xfrm>
            <a:off x="5139000" y="1444680"/>
            <a:ext cx="3520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Strong positive — high-P crops also need high-K.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5" name="Shape 9"/>
          <p:cNvSpPr/>
          <p:nvPr/>
        </p:nvSpPr>
        <p:spPr>
          <a:xfrm>
            <a:off x="4983480" y="1856160"/>
            <a:ext cx="3794400" cy="70380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6" name="Shape 10"/>
          <p:cNvSpPr/>
          <p:nvPr/>
        </p:nvSpPr>
        <p:spPr>
          <a:xfrm>
            <a:off x="4983480" y="1856160"/>
            <a:ext cx="54360" cy="703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7" name="Text 11"/>
          <p:cNvSpPr/>
          <p:nvPr/>
        </p:nvSpPr>
        <p:spPr>
          <a:xfrm>
            <a:off x="5139000" y="1911240"/>
            <a:ext cx="822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4a90d9"/>
                </a:solidFill>
                <a:uFillTx/>
                <a:latin typeface="Calibri"/>
                <a:ea typeface="Calibri"/>
              </a:rPr>
              <a:t>N ↔ P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8" name="Text 12"/>
          <p:cNvSpPr/>
          <p:nvPr/>
        </p:nvSpPr>
        <p:spPr>
          <a:xfrm>
            <a:off x="6035040" y="1911240"/>
            <a:ext cx="639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-23%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9" name="Text 13"/>
          <p:cNvSpPr/>
          <p:nvPr/>
        </p:nvSpPr>
        <p:spPr>
          <a:xfrm>
            <a:off x="5139000" y="2221920"/>
            <a:ext cx="3520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Weak negative — slight inverse relationship.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0" name="Shape 14"/>
          <p:cNvSpPr/>
          <p:nvPr/>
        </p:nvSpPr>
        <p:spPr>
          <a:xfrm>
            <a:off x="4983480" y="2633400"/>
            <a:ext cx="3794400" cy="70380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1" name="Shape 15"/>
          <p:cNvSpPr/>
          <p:nvPr/>
        </p:nvSpPr>
        <p:spPr>
          <a:xfrm>
            <a:off x="4983480" y="2633400"/>
            <a:ext cx="54360" cy="703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32" name="Text 16"/>
          <p:cNvSpPr/>
          <p:nvPr/>
        </p:nvSpPr>
        <p:spPr>
          <a:xfrm>
            <a:off x="5139000" y="2688480"/>
            <a:ext cx="822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4a90d9"/>
                </a:solidFill>
                <a:uFillTx/>
                <a:latin typeface="Calibri"/>
                <a:ea typeface="Calibri"/>
              </a:rPr>
              <a:t>N ↔ K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3" name="Text 17"/>
          <p:cNvSpPr/>
          <p:nvPr/>
        </p:nvSpPr>
        <p:spPr>
          <a:xfrm>
            <a:off x="6035040" y="2688480"/>
            <a:ext cx="639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-14%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4" name="Text 18"/>
          <p:cNvSpPr/>
          <p:nvPr/>
        </p:nvSpPr>
        <p:spPr>
          <a:xfrm>
            <a:off x="5139000" y="2999160"/>
            <a:ext cx="3520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Weak negative — minimal collinearity.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5" name="Shape 19"/>
          <p:cNvSpPr/>
          <p:nvPr/>
        </p:nvSpPr>
        <p:spPr>
          <a:xfrm>
            <a:off x="4983480" y="3410640"/>
            <a:ext cx="3794400" cy="70380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6" name="Shape 20"/>
          <p:cNvSpPr/>
          <p:nvPr/>
        </p:nvSpPr>
        <p:spPr>
          <a:xfrm>
            <a:off x="4983480" y="3410640"/>
            <a:ext cx="54360" cy="703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7" name="Text 21"/>
          <p:cNvSpPr/>
          <p:nvPr/>
        </p:nvSpPr>
        <p:spPr>
          <a:xfrm>
            <a:off x="5139000" y="3465720"/>
            <a:ext cx="822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a838"/>
                </a:solidFill>
                <a:uFillTx/>
                <a:latin typeface="Calibri"/>
                <a:ea typeface="Calibri"/>
              </a:rPr>
              <a:t>Temp ↔ Humidity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8" name="Text 22"/>
          <p:cNvSpPr/>
          <p:nvPr/>
        </p:nvSpPr>
        <p:spPr>
          <a:xfrm>
            <a:off x="6035040" y="3465720"/>
            <a:ext cx="639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+21%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9" name="Text 23"/>
          <p:cNvSpPr/>
          <p:nvPr/>
        </p:nvSpPr>
        <p:spPr>
          <a:xfrm>
            <a:off x="5139000" y="3776400"/>
            <a:ext cx="3520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Mild positive — warmer climates more humid.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0" name="Shape 24"/>
          <p:cNvSpPr/>
          <p:nvPr/>
        </p:nvSpPr>
        <p:spPr>
          <a:xfrm>
            <a:off x="4983480" y="4187880"/>
            <a:ext cx="3794400" cy="70380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1" name="Shape 25"/>
          <p:cNvSpPr/>
          <p:nvPr/>
        </p:nvSpPr>
        <p:spPr>
          <a:xfrm>
            <a:off x="4983480" y="4187880"/>
            <a:ext cx="54360" cy="7038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2" name="Text 26"/>
          <p:cNvSpPr/>
          <p:nvPr/>
        </p:nvSpPr>
        <p:spPr>
          <a:xfrm>
            <a:off x="5139000" y="4242960"/>
            <a:ext cx="822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All others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3" name="Text 27"/>
          <p:cNvSpPr/>
          <p:nvPr/>
        </p:nvSpPr>
        <p:spPr>
          <a:xfrm>
            <a:off x="6035040" y="4242960"/>
            <a:ext cx="639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&lt;±20%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4" name="Text 28"/>
          <p:cNvSpPr/>
          <p:nvPr/>
        </p:nvSpPr>
        <p:spPr>
          <a:xfrm>
            <a:off x="5139000" y="4553640"/>
            <a:ext cx="3520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Weak to negligible — minimal multicollinearity.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5" name="Shape 29"/>
          <p:cNvSpPr/>
          <p:nvPr/>
        </p:nvSpPr>
        <p:spPr>
          <a:xfrm>
            <a:off x="4983480" y="4919400"/>
            <a:ext cx="3794400" cy="292320"/>
          </a:xfrm>
          <a:prstGeom prst="rect">
            <a:avLst/>
          </a:prstGeom>
          <a:solidFill>
            <a:srgbClr val="d4edda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6" name="Text 30"/>
          <p:cNvSpPr/>
          <p:nvPr/>
        </p:nvSpPr>
        <p:spPr>
          <a:xfrm>
            <a:off x="5102280" y="4992480"/>
            <a:ext cx="3565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Low multicollinearity between features validates KNN's distance-based classification approach.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7" name="Text 31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16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9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LAB-2 — ML Pipeline: KNN Training &amp; Evaluation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0" name="Shape 2"/>
          <p:cNvSpPr/>
          <p:nvPr/>
        </p:nvSpPr>
        <p:spPr>
          <a:xfrm>
            <a:off x="365760" y="804600"/>
            <a:ext cx="4114440" cy="12067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1" name="Shape 3"/>
          <p:cNvSpPr/>
          <p:nvPr/>
        </p:nvSpPr>
        <p:spPr>
          <a:xfrm>
            <a:off x="365760" y="804600"/>
            <a:ext cx="1142640" cy="1206720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2" name="Text 4"/>
          <p:cNvSpPr/>
          <p:nvPr/>
        </p:nvSpPr>
        <p:spPr>
          <a:xfrm>
            <a:off x="365760" y="115200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Step 14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Preprocessing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3" name="Text 5"/>
          <p:cNvSpPr/>
          <p:nvPr/>
        </p:nvSpPr>
        <p:spPr>
          <a:xfrm>
            <a:off x="1627560" y="951120"/>
            <a:ext cx="274284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LabelEncoder: 22 crops → integers (0–21). MinMaxScaler: all 7 features → [0,1]. 80/20 train-test split: 1760 train / 440 test.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4" name="Shape 6"/>
          <p:cNvSpPr/>
          <p:nvPr/>
        </p:nvSpPr>
        <p:spPr>
          <a:xfrm>
            <a:off x="4754880" y="804600"/>
            <a:ext cx="4114440" cy="12067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5" name="Shape 7"/>
          <p:cNvSpPr/>
          <p:nvPr/>
        </p:nvSpPr>
        <p:spPr>
          <a:xfrm>
            <a:off x="4754880" y="804600"/>
            <a:ext cx="1142640" cy="1206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6" name="Text 8"/>
          <p:cNvSpPr/>
          <p:nvPr/>
        </p:nvSpPr>
        <p:spPr>
          <a:xfrm>
            <a:off x="4754880" y="115200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Step 15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KNN Training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7" name="Text 9"/>
          <p:cNvSpPr/>
          <p:nvPr/>
        </p:nvSpPr>
        <p:spPr>
          <a:xfrm>
            <a:off x="6016680" y="951120"/>
            <a:ext cx="274284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KNeighborsClassifier(k=5). fit() on 1760 scaled samples. Accuracy on test set: 97.82% (430/440 correct).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8" name="Shape 10"/>
          <p:cNvSpPr/>
          <p:nvPr/>
        </p:nvSpPr>
        <p:spPr>
          <a:xfrm>
            <a:off x="365760" y="2130480"/>
            <a:ext cx="4114440" cy="12067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9" name="Shape 11"/>
          <p:cNvSpPr/>
          <p:nvPr/>
        </p:nvSpPr>
        <p:spPr>
          <a:xfrm>
            <a:off x="365760" y="2130480"/>
            <a:ext cx="1142640" cy="12067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60" name="Text 12"/>
          <p:cNvSpPr/>
          <p:nvPr/>
        </p:nvSpPr>
        <p:spPr>
          <a:xfrm>
            <a:off x="365760" y="247788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Step 16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Confusion Matrix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1" name="Text 13"/>
          <p:cNvSpPr/>
          <p:nvPr/>
        </p:nvSpPr>
        <p:spPr>
          <a:xfrm>
            <a:off x="1627560" y="2277000"/>
            <a:ext cx="274284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22×22 matrix. Most crops classified perfectly. 10 total misclassifications: rice→jute (4), mothbeans→blackgram (2), others (4).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2" name="Shape 14"/>
          <p:cNvSpPr/>
          <p:nvPr/>
        </p:nvSpPr>
        <p:spPr>
          <a:xfrm>
            <a:off x="4754880" y="2130480"/>
            <a:ext cx="4114440" cy="120672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3" name="Shape 15"/>
          <p:cNvSpPr/>
          <p:nvPr/>
        </p:nvSpPr>
        <p:spPr>
          <a:xfrm>
            <a:off x="4754880" y="2130480"/>
            <a:ext cx="1142640" cy="1206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4" name="Text 16"/>
          <p:cNvSpPr/>
          <p:nvPr/>
        </p:nvSpPr>
        <p:spPr>
          <a:xfrm>
            <a:off x="4754880" y="247788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Step 17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Prediction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5" name="Text 17"/>
          <p:cNvSpPr/>
          <p:nvPr/>
        </p:nvSpPr>
        <p:spPr>
          <a:xfrm>
            <a:off x="6016680" y="2277000"/>
            <a:ext cx="274284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Sample [N=20, P=42, K=43, Temp=28°C, Humidity=70%, pH=6.5, Rainfall=180mm] → Predicted: 🌱 pigeonpeas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6" name="Shape 18"/>
          <p:cNvSpPr/>
          <p:nvPr/>
        </p:nvSpPr>
        <p:spPr>
          <a:xfrm>
            <a:off x="365760" y="3547800"/>
            <a:ext cx="1828440" cy="1279800"/>
          </a:xfrm>
          <a:prstGeom prst="rect">
            <a:avLst/>
          </a:prstGeom>
          <a:solidFill>
            <a:srgbClr val="d4edda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7" name="Text 19"/>
          <p:cNvSpPr/>
          <p:nvPr/>
        </p:nvSpPr>
        <p:spPr>
          <a:xfrm>
            <a:off x="365760" y="367596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97.82%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8" name="Text 20"/>
          <p:cNvSpPr/>
          <p:nvPr/>
        </p:nvSpPr>
        <p:spPr>
          <a:xfrm>
            <a:off x="365760" y="422460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KNN Accuracy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430 / 440 correct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9" name="Text 21"/>
          <p:cNvSpPr/>
          <p:nvPr/>
        </p:nvSpPr>
        <p:spPr>
          <a:xfrm>
            <a:off x="2359080" y="3547800"/>
            <a:ext cx="6400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Per-Crop Accuracy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0" name="Shape 22"/>
          <p:cNvSpPr/>
          <p:nvPr/>
        </p:nvSpPr>
        <p:spPr>
          <a:xfrm>
            <a:off x="2359080" y="3822120"/>
            <a:ext cx="2084400" cy="24660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1" name="Text 23"/>
          <p:cNvSpPr/>
          <p:nvPr/>
        </p:nvSpPr>
        <p:spPr>
          <a:xfrm>
            <a:off x="2423160" y="387720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apple: 100%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2" name="Shape 24"/>
          <p:cNvSpPr/>
          <p:nvPr/>
        </p:nvSpPr>
        <p:spPr>
          <a:xfrm>
            <a:off x="2359080" y="4096440"/>
            <a:ext cx="2084400" cy="24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3" name="Text 25"/>
          <p:cNvSpPr/>
          <p:nvPr/>
        </p:nvSpPr>
        <p:spPr>
          <a:xfrm>
            <a:off x="2423160" y="415152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banana: 100%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4" name="Shape 26"/>
          <p:cNvSpPr/>
          <p:nvPr/>
        </p:nvSpPr>
        <p:spPr>
          <a:xfrm>
            <a:off x="2359080" y="4370760"/>
            <a:ext cx="2084400" cy="24660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5" name="Text 27"/>
          <p:cNvSpPr/>
          <p:nvPr/>
        </p:nvSpPr>
        <p:spPr>
          <a:xfrm>
            <a:off x="2423160" y="442584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blackgram: 100%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6" name="Shape 28"/>
          <p:cNvSpPr/>
          <p:nvPr/>
        </p:nvSpPr>
        <p:spPr>
          <a:xfrm>
            <a:off x="2359080" y="4645080"/>
            <a:ext cx="2084400" cy="24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7" name="Text 29"/>
          <p:cNvSpPr/>
          <p:nvPr/>
        </p:nvSpPr>
        <p:spPr>
          <a:xfrm>
            <a:off x="2423160" y="470016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grapes: 100%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8" name="Shape 30"/>
          <p:cNvSpPr/>
          <p:nvPr/>
        </p:nvSpPr>
        <p:spPr>
          <a:xfrm>
            <a:off x="4572000" y="3822120"/>
            <a:ext cx="2084400" cy="24660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9" name="Text 31"/>
          <p:cNvSpPr/>
          <p:nvPr/>
        </p:nvSpPr>
        <p:spPr>
          <a:xfrm>
            <a:off x="4636080" y="387720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dc2626"/>
                </a:solidFill>
                <a:uFillTx/>
                <a:latin typeface="Calibri"/>
                <a:ea typeface="Calibri"/>
              </a:rPr>
              <a:t>rice: 77.8% → 4 misclassified as jute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0" name="Shape 32"/>
          <p:cNvSpPr/>
          <p:nvPr/>
        </p:nvSpPr>
        <p:spPr>
          <a:xfrm>
            <a:off x="4572000" y="4096440"/>
            <a:ext cx="2084400" cy="24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1" name="Text 33"/>
          <p:cNvSpPr/>
          <p:nvPr/>
        </p:nvSpPr>
        <p:spPr>
          <a:xfrm>
            <a:off x="4636080" y="415152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jute: 92.6%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2" name="Shape 34"/>
          <p:cNvSpPr/>
          <p:nvPr/>
        </p:nvSpPr>
        <p:spPr>
          <a:xfrm>
            <a:off x="4572000" y="4370760"/>
            <a:ext cx="2084400" cy="24660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3" name="Text 35"/>
          <p:cNvSpPr/>
          <p:nvPr/>
        </p:nvSpPr>
        <p:spPr>
          <a:xfrm>
            <a:off x="4636080" y="442584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mothbeans: 92.6%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4" name="Text 36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17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86" name="Text 1"/>
          <p:cNvSpPr/>
          <p:nvPr/>
        </p:nvSpPr>
        <p:spPr>
          <a:xfrm>
            <a:off x="365760" y="914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LAB-2 — KNN Confusion Matrix (22×22)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87" name="Image 0" descr="/home/claude/imgs/charts/lab1_p21_img04.png"/>
          <p:cNvPicPr/>
          <p:nvPr/>
        </p:nvPicPr>
        <p:blipFill>
          <a:blip r:embed="rId1"/>
          <a:stretch/>
        </p:blipFill>
        <p:spPr>
          <a:xfrm>
            <a:off x="365760" y="804600"/>
            <a:ext cx="6217560" cy="422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8" name="Shape 2"/>
          <p:cNvSpPr/>
          <p:nvPr/>
        </p:nvSpPr>
        <p:spPr>
          <a:xfrm>
            <a:off x="365760" y="804600"/>
            <a:ext cx="6217560" cy="4224240"/>
          </a:xfrm>
          <a:prstGeom prst="rect">
            <a:avLst/>
          </a:prstGeom>
          <a:noFill/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9" name="Text 3"/>
          <p:cNvSpPr/>
          <p:nvPr/>
        </p:nvSpPr>
        <p:spPr>
          <a:xfrm>
            <a:off x="6748200" y="80460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Matrix Insights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0" name="Shape 4"/>
          <p:cNvSpPr/>
          <p:nvPr/>
        </p:nvSpPr>
        <p:spPr>
          <a:xfrm>
            <a:off x="6748200" y="1078920"/>
            <a:ext cx="2011320" cy="11426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1" name="Text 5"/>
          <p:cNvSpPr/>
          <p:nvPr/>
        </p:nvSpPr>
        <p:spPr>
          <a:xfrm>
            <a:off x="6748200" y="118872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10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2" name="Text 6"/>
          <p:cNvSpPr/>
          <p:nvPr/>
        </p:nvSpPr>
        <p:spPr>
          <a:xfrm>
            <a:off x="6748200" y="16732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Total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misclassifications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out of 440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3" name="Shape 7"/>
          <p:cNvSpPr/>
          <p:nvPr/>
        </p:nvSpPr>
        <p:spPr>
          <a:xfrm>
            <a:off x="6748200" y="2340720"/>
            <a:ext cx="2011320" cy="1142640"/>
          </a:xfrm>
          <a:prstGeom prst="rect">
            <a:avLst/>
          </a:prstGeom>
          <a:solidFill>
            <a:srgbClr val="f0f7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4" name="Text 8"/>
          <p:cNvSpPr/>
          <p:nvPr/>
        </p:nvSpPr>
        <p:spPr>
          <a:xfrm>
            <a:off x="6748200" y="245052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e6b47"/>
                </a:solidFill>
                <a:uFillTx/>
                <a:latin typeface="Calibri"/>
                <a:ea typeface="Calibri"/>
              </a:rPr>
              <a:t>100%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5" name="Text 9"/>
          <p:cNvSpPr/>
          <p:nvPr/>
        </p:nvSpPr>
        <p:spPr>
          <a:xfrm>
            <a:off x="6748200" y="29350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apple,banana,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blackgram,grapes,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water-melon etc.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6" name="Shape 10"/>
          <p:cNvSpPr/>
          <p:nvPr/>
        </p:nvSpPr>
        <p:spPr>
          <a:xfrm>
            <a:off x="6748200" y="3602880"/>
            <a:ext cx="2011320" cy="1142640"/>
          </a:xfrm>
          <a:prstGeom prst="rect">
            <a:avLst/>
          </a:prstGeom>
          <a:solidFill>
            <a:srgbClr val="fef2f2"/>
          </a:solidFill>
          <a:ln w="12700">
            <a:solidFill>
              <a:srgbClr val="c8e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7" name="Text 11"/>
          <p:cNvSpPr/>
          <p:nvPr/>
        </p:nvSpPr>
        <p:spPr>
          <a:xfrm>
            <a:off x="6748200" y="371232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dc2626"/>
                </a:solidFill>
                <a:uFillTx/>
                <a:latin typeface="Calibri"/>
                <a:ea typeface="Calibri"/>
              </a:rPr>
              <a:t>77.8%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8" name="Text 12"/>
          <p:cNvSpPr/>
          <p:nvPr/>
        </p:nvSpPr>
        <p:spPr>
          <a:xfrm>
            <a:off x="6748200" y="41972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Rice accuracy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(4 misclassified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as jute — similar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rainfall patterns)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9" name="Text 13"/>
          <p:cNvSpPr/>
          <p:nvPr/>
        </p:nvSpPr>
        <p:spPr>
          <a:xfrm>
            <a:off x="365760" y="5074920"/>
            <a:ext cx="841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Diagonal = correct classifications (bright cells). Off-diagonal = misclassifications. Most misclassifications occur between crops with similar rainfall requirements (rice ↔ jute, mothbeans ↔ blackgram).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0" name="Text 14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18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84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hape 0"/>
          <p:cNvSpPr/>
          <p:nvPr/>
        </p:nvSpPr>
        <p:spPr>
          <a:xfrm>
            <a:off x="0" y="0"/>
            <a:ext cx="456840" cy="51433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2" name="Text 1"/>
          <p:cNvSpPr/>
          <p:nvPr/>
        </p:nvSpPr>
        <p:spPr>
          <a:xfrm>
            <a:off x="640080" y="228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Summary &amp; Key Takeaways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3" name="Text 2"/>
          <p:cNvSpPr/>
          <p:nvPr/>
        </p:nvSpPr>
        <p:spPr>
          <a:xfrm>
            <a:off x="640080" y="6584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af7d"/>
                </a:solidFill>
                <a:uFillTx/>
                <a:latin typeface="Calibri"/>
                <a:ea typeface="Calibri"/>
              </a:rPr>
              <a:t>Anjali Makkena  ·  252CS018  ·  DDM Lab + Data Engineering with Python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4" name="Shape 3"/>
          <p:cNvSpPr/>
          <p:nvPr/>
        </p:nvSpPr>
        <p:spPr>
          <a:xfrm>
            <a:off x="640080" y="1005840"/>
            <a:ext cx="8229240" cy="1188360"/>
          </a:xfrm>
          <a:prstGeom prst="rect">
            <a:avLst/>
          </a:prstGeom>
          <a:solidFill>
            <a:srgbClr val="1f3528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5" name="Shape 4"/>
          <p:cNvSpPr/>
          <p:nvPr/>
        </p:nvSpPr>
        <p:spPr>
          <a:xfrm>
            <a:off x="640080" y="1005840"/>
            <a:ext cx="1005480" cy="118836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6" name="Text 5"/>
          <p:cNvSpPr/>
          <p:nvPr/>
        </p:nvSpPr>
        <p:spPr>
          <a:xfrm>
            <a:off x="640080" y="137160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DDM Lab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7" name="Text 6"/>
          <p:cNvSpPr/>
          <p:nvPr/>
        </p:nvSpPr>
        <p:spPr>
          <a:xfrm>
            <a:off x="1783080" y="109728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Distributed Crop Recommendation using Hadoop MapReduce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8" name="Text 7"/>
          <p:cNvSpPr/>
          <p:nvPr/>
        </p:nvSpPr>
        <p:spPr>
          <a:xfrm>
            <a:off x="1783080" y="1444680"/>
            <a:ext cx="6949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ccccc"/>
                </a:solidFill>
                <a:uFillTx/>
                <a:latin typeface="Calibri"/>
                <a:ea typeface="Calibri"/>
              </a:rPr>
              <a:t>500,000 records · 5 Indian regions · 25.2s execution · 100% data locality · 0 failures · Sugarcane (KA/TN) &amp; Maize (PB/MH/UP) recommended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9" name="Shape 8"/>
          <p:cNvSpPr/>
          <p:nvPr/>
        </p:nvSpPr>
        <p:spPr>
          <a:xfrm>
            <a:off x="640080" y="2304360"/>
            <a:ext cx="8229240" cy="1188360"/>
          </a:xfrm>
          <a:prstGeom prst="rect">
            <a:avLst/>
          </a:prstGeom>
          <a:solidFill>
            <a:srgbClr val="1f3528"/>
          </a:solidFill>
          <a:ln w="127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0" name="Shape 9"/>
          <p:cNvSpPr/>
          <p:nvPr/>
        </p:nvSpPr>
        <p:spPr>
          <a:xfrm>
            <a:off x="640080" y="2304360"/>
            <a:ext cx="1005480" cy="11883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1" name="Text 10"/>
          <p:cNvSpPr/>
          <p:nvPr/>
        </p:nvSpPr>
        <p:spPr>
          <a:xfrm>
            <a:off x="640080" y="267012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DEP LAB-1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2" name="Text 11"/>
          <p:cNvSpPr/>
          <p:nvPr/>
        </p:nvSpPr>
        <p:spPr>
          <a:xfrm>
            <a:off x="1783080" y="239580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ETL Pipeline — 9 Tasks on Crop Dataset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3" name="Text 12"/>
          <p:cNvSpPr/>
          <p:nvPr/>
        </p:nvSpPr>
        <p:spPr>
          <a:xfrm>
            <a:off x="1783080" y="2743200"/>
            <a:ext cx="6949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ccccc"/>
                </a:solidFill>
                <a:uFillTx/>
                <a:latin typeface="Calibri"/>
                <a:ea typeface="Calibri"/>
              </a:rPr>
              <a:t>CSV/JSON/XML/HTML parsed · pickle binary I/O · regex ops · SQLite CRUD · MongoDB demonstrated · NumPy array ops · Pandas groupby/merge · Visualization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4" name="Shape 13"/>
          <p:cNvSpPr/>
          <p:nvPr/>
        </p:nvSpPr>
        <p:spPr>
          <a:xfrm>
            <a:off x="640080" y="3602880"/>
            <a:ext cx="8229240" cy="1188360"/>
          </a:xfrm>
          <a:prstGeom prst="rect">
            <a:avLst/>
          </a:prstGeom>
          <a:solidFill>
            <a:srgbClr val="1f3528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5" name="Shape 14"/>
          <p:cNvSpPr/>
          <p:nvPr/>
        </p:nvSpPr>
        <p:spPr>
          <a:xfrm>
            <a:off x="640080" y="3602880"/>
            <a:ext cx="1005480" cy="118836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6" name="Text 15"/>
          <p:cNvSpPr/>
          <p:nvPr/>
        </p:nvSpPr>
        <p:spPr>
          <a:xfrm>
            <a:off x="640080" y="3968640"/>
            <a:ext cx="100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3a2a"/>
                </a:solidFill>
                <a:uFillTx/>
                <a:latin typeface="Calibri"/>
                <a:ea typeface="Calibri"/>
              </a:rPr>
              <a:t>DEP LAB-2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7" name="Text 16"/>
          <p:cNvSpPr/>
          <p:nvPr/>
        </p:nvSpPr>
        <p:spPr>
          <a:xfrm>
            <a:off x="1783080" y="369432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EDA &amp; Machine Learning — KNN Classifier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8" name="Text 17"/>
          <p:cNvSpPr/>
          <p:nvPr/>
        </p:nvSpPr>
        <p:spPr>
          <a:xfrm>
            <a:off x="1783080" y="4041720"/>
            <a:ext cx="6949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ccccc"/>
                </a:solidFill>
                <a:uFillTx/>
                <a:latin typeface="Calibri"/>
                <a:ea typeface="Calibri"/>
              </a:rPr>
              <a:t>97.82% KNN accuracy (430/440) · P-K correlation 74% · 4 seasonal clusters · K-Means 4 natural groups · Prediction: N=20,P=42→pigeonpeas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9" name="Text 18"/>
          <p:cNvSpPr/>
          <p:nvPr/>
        </p:nvSpPr>
        <p:spPr>
          <a:xfrm>
            <a:off x="640080" y="491940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trike="noStrike" u="none">
                <a:solidFill>
                  <a:srgbClr val="4caf7d"/>
                </a:solidFill>
                <a:uFillTx/>
                <a:latin typeface="Calibri"/>
                <a:ea typeface="Calibri"/>
              </a:rPr>
              <a:t>Both labs together form a complete data pipeline: Distributed storage → MapReduce processing → Python ETL → Statistical EDA → ML Classification</a:t>
            </a:r>
            <a:endParaRPr b="0" lang="en-US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20" name="Text 19"/>
          <p:cNvSpPr/>
          <p:nvPr/>
        </p:nvSpPr>
        <p:spPr>
          <a:xfrm>
            <a:off x="8503920" y="484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19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LibreOffice/24.8.7.2$Linux_X86_64 LibreOffice_project/480$Build-2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2026-05-05T16:39:22Z</dcterms:created>
  <dc:creator>PptxGenJS</dc:creator>
  <dc:description/>
  <dc:language>en-US</dc:language>
  <cp:lastModifiedBy/>
  <dcterms:modified xsi:type="dcterms:W3CDTF">2026-05-05T22:14:18Z</dcterms:modified>
  <cp:revision>2</cp:revision>
  <dc:subject>PptxGenJS Presentation</dc:subject>
  <dc:title>DDM &amp; Data Engineering Lab Reports – Anjali Makkena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