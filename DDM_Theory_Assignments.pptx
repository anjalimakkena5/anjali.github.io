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96AD4E2-BA02-4B23-914E-545BAE439D73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59CC49-4463-408E-8C27-1DC5AC1051A7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2C8171-82C0-434E-86C6-0C9DE6902365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78F863-C9F7-4E20-879B-A4316B4D5BA6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4D85E5-B632-4850-98F2-40669A1C427C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824433-E6F4-41E2-8435-A61D9F29BE67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F718BF-5661-49C5-9A68-93A160DB5618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3CCFB5-95A8-4F11-92EA-DB3F52C9C325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911F98-4BAA-4389-9256-B8DB79DF8FF9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D58C72-01B6-4ED8-822A-83E660D743FF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78469E-5377-4924-989C-F39C5E581086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510AE2-2086-4E79-B0E2-A8ABAC0B094D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C88332-73B0-44A3-94DF-1481A1CC539A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EE5E85-2EAA-4DF6-B031-CDB12F1F3559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3A0AF4-9FBE-4587-8ED2-A31F9977EE61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2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2FE6AA-A953-4DD1-B1AC-534FAF736FBE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5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FE04C5-AC94-4BD9-A0AF-88D333A0353B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8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AC2BCA-F701-4B40-81F4-05A08FF2E243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9143640" cy="548280"/>
          </a:xfrm>
          <a:prstGeom prst="rect">
            <a:avLst/>
          </a:prstGeom>
          <a:solidFill>
            <a:srgbClr val="3465a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0" y="548640"/>
            <a:ext cx="2925720" cy="4594680"/>
          </a:xfrm>
          <a:prstGeom prst="rect">
            <a:avLst/>
          </a:prstGeom>
          <a:solidFill>
            <a:srgbClr val="3465a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2926080" y="548640"/>
            <a:ext cx="109440" cy="4594680"/>
          </a:xfrm>
          <a:prstGeom prst="rect">
            <a:avLst/>
          </a:prstGeom>
          <a:solidFill>
            <a:srgbClr val="42a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164520" y="914400"/>
            <a:ext cx="255996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201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DISTRIBUTED DATA MANAGEMENT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274320" y="4023360"/>
            <a:ext cx="2377080" cy="36360"/>
          </a:xfrm>
          <a:prstGeom prst="rect">
            <a:avLst/>
          </a:prstGeom>
          <a:solidFill>
            <a:srgbClr val="42a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182880" y="411480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90caf9"/>
                </a:solidFill>
                <a:uFillTx/>
                <a:latin typeface="Calibri"/>
                <a:ea typeface="Calibri"/>
              </a:rPr>
              <a:t>LAB ASSIGNMENTS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3383280" y="960120"/>
            <a:ext cx="530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42a5f5"/>
                </a:solidFill>
                <a:uFillTx/>
                <a:latin typeface="Calibri"/>
                <a:ea typeface="Calibri"/>
              </a:rPr>
              <a:t>DDM Lab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3383280" y="1463040"/>
            <a:ext cx="53031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Theory Assignment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Report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3383280" y="2926080"/>
            <a:ext cx="5303160" cy="27000"/>
          </a:xfrm>
          <a:prstGeom prst="rect">
            <a:avLst/>
          </a:prstGeom>
          <a:solidFill>
            <a:srgbClr val="e3f2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3383280" y="3063240"/>
            <a:ext cx="1188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607d8b"/>
                </a:solidFill>
                <a:uFillTx/>
                <a:latin typeface="Calibri"/>
                <a:ea typeface="Calibri"/>
              </a:rPr>
              <a:t>Student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4617720" y="3063240"/>
            <a:ext cx="4023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Anjali Makkena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3383280" y="3447360"/>
            <a:ext cx="1188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607d8b"/>
                </a:solidFill>
                <a:uFillTx/>
                <a:latin typeface="Calibri"/>
                <a:ea typeface="Calibri"/>
              </a:rPr>
              <a:t>Roll No.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4617720" y="3447360"/>
            <a:ext cx="4023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252CS018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3383280" y="3831480"/>
            <a:ext cx="1188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607d8b"/>
                </a:solidFill>
                <a:uFillTx/>
                <a:latin typeface="Calibri"/>
                <a:ea typeface="Calibri"/>
              </a:rPr>
              <a:t>Subject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4617720" y="3831480"/>
            <a:ext cx="4023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Distributed Data Management (DDM Lab)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3383280" y="4215240"/>
            <a:ext cx="1188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607d8b"/>
                </a:solidFill>
                <a:uFillTx/>
                <a:latin typeface="Calibri"/>
                <a:ea typeface="Calibri"/>
              </a:rPr>
              <a:t>Platform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4617720" y="4215240"/>
            <a:ext cx="4023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Apache Spark 4.1.1 · Python 3.12 · Ubuntu 24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465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42a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6" name="Shape 1"/>
          <p:cNvSpPr/>
          <p:nvPr/>
        </p:nvSpPr>
        <p:spPr>
          <a:xfrm>
            <a:off x="502920" y="1463040"/>
            <a:ext cx="1096920" cy="502560"/>
          </a:xfrm>
          <a:prstGeom prst="roundRect">
            <a:avLst>
              <a:gd name="adj" fmla="val 14545"/>
            </a:avLst>
          </a:prstGeom>
          <a:solidFill>
            <a:srgbClr val="42a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7" name="Text 2"/>
          <p:cNvSpPr/>
          <p:nvPr/>
        </p:nvSpPr>
        <p:spPr>
          <a:xfrm>
            <a:off x="502920" y="1463040"/>
            <a:ext cx="1096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d47a1"/>
                </a:solidFill>
                <a:uFillTx/>
                <a:latin typeface="Calibri"/>
              </a:rPr>
              <a:t>Theory 01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8" name="Text 3"/>
          <p:cNvSpPr/>
          <p:nvPr/>
        </p:nvSpPr>
        <p:spPr>
          <a:xfrm>
            <a:off x="502920" y="2103120"/>
            <a:ext cx="8046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Distributed Data Management in IoT</a:t>
            </a:r>
            <a:endParaRPr b="0" lang="en-US" sz="3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9" name="Text 4"/>
          <p:cNvSpPr/>
          <p:nvPr/>
        </p:nvSpPr>
        <p:spPr>
          <a:xfrm>
            <a:off x="502920" y="3246120"/>
            <a:ext cx="7772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90caf9"/>
                </a:solidFill>
                <a:uFillTx/>
                <a:latin typeface="Calibri"/>
                <a:ea typeface="Calibri"/>
              </a:rPr>
              <a:t>Edge Computing · Fog Architectures · Real-Time Analytics for Connected Device Ecosystems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0"/>
          <p:cNvSpPr/>
          <p:nvPr/>
        </p:nvSpPr>
        <p:spPr>
          <a:xfrm>
            <a:off x="457200" y="2559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Introduction to Distributed Data Management in IoT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" name="Shape 1"/>
          <p:cNvSpPr/>
          <p:nvPr/>
        </p:nvSpPr>
        <p:spPr>
          <a:xfrm>
            <a:off x="457200" y="887040"/>
            <a:ext cx="8229240" cy="27000"/>
          </a:xfrm>
          <a:prstGeom prst="rect">
            <a:avLst/>
          </a:prstGeom>
          <a:solidFill>
            <a:srgbClr val="42a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" name="Text 2"/>
          <p:cNvSpPr/>
          <p:nvPr/>
        </p:nvSpPr>
        <p:spPr>
          <a:xfrm>
            <a:off x="457200" y="100584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Assignment 1 covers the foundational principles and challenges of managing data in large-scale IoT ecosystems, exploring why centralized cloud architectures fall short and how edge/fog computing addresses these limitations.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" name="Shape 3"/>
          <p:cNvSpPr/>
          <p:nvPr/>
        </p:nvSpPr>
        <p:spPr>
          <a:xfrm>
            <a:off x="457200" y="1737360"/>
            <a:ext cx="4114440" cy="100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Shape 4"/>
          <p:cNvSpPr/>
          <p:nvPr/>
        </p:nvSpPr>
        <p:spPr>
          <a:xfrm>
            <a:off x="457200" y="1737360"/>
            <a:ext cx="63720" cy="100548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5" name="Text 5"/>
          <p:cNvSpPr/>
          <p:nvPr/>
        </p:nvSpPr>
        <p:spPr>
          <a:xfrm>
            <a:off x="594360" y="1828800"/>
            <a:ext cx="3885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565c0"/>
                </a:solidFill>
                <a:uFillTx/>
                <a:latin typeface="Calibri"/>
                <a:ea typeface="Calibri"/>
              </a:rPr>
              <a:t>Consumer IoT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Text 6"/>
          <p:cNvSpPr/>
          <p:nvPr/>
        </p:nvSpPr>
        <p:spPr>
          <a:xfrm>
            <a:off x="594360" y="2212920"/>
            <a:ext cx="3885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Smart home, wearables, personal assistants — privacy-sensitive, cloud-centric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" name="Shape 7"/>
          <p:cNvSpPr/>
          <p:nvPr/>
        </p:nvSpPr>
        <p:spPr>
          <a:xfrm>
            <a:off x="457200" y="2816280"/>
            <a:ext cx="4114440" cy="100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" name="Shape 8"/>
          <p:cNvSpPr/>
          <p:nvPr/>
        </p:nvSpPr>
        <p:spPr>
          <a:xfrm>
            <a:off x="457200" y="2816280"/>
            <a:ext cx="63720" cy="1005480"/>
          </a:xfrm>
          <a:prstGeom prst="rect">
            <a:avLst/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9" name="Text 9"/>
          <p:cNvSpPr/>
          <p:nvPr/>
        </p:nvSpPr>
        <p:spPr>
          <a:xfrm>
            <a:off x="594360" y="2907720"/>
            <a:ext cx="3885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e7d32"/>
                </a:solidFill>
                <a:uFillTx/>
                <a:latin typeface="Calibri"/>
                <a:ea typeface="Calibri"/>
              </a:rPr>
              <a:t>Industrial IoT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Text 10"/>
          <p:cNvSpPr/>
          <p:nvPr/>
        </p:nvSpPr>
        <p:spPr>
          <a:xfrm>
            <a:off x="594360" y="3291840"/>
            <a:ext cx="3885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Manufacturing, SCADA, PLCs — safety-critical, deterministic latency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" name="Shape 11"/>
          <p:cNvSpPr/>
          <p:nvPr/>
        </p:nvSpPr>
        <p:spPr>
          <a:xfrm>
            <a:off x="457200" y="3895200"/>
            <a:ext cx="4114440" cy="100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" name="Shape 12"/>
          <p:cNvSpPr/>
          <p:nvPr/>
        </p:nvSpPr>
        <p:spPr>
          <a:xfrm>
            <a:off x="457200" y="3895200"/>
            <a:ext cx="63720" cy="1005480"/>
          </a:xfrm>
          <a:prstGeom prst="rect">
            <a:avLst/>
          </a:prstGeom>
          <a:solidFill>
            <a:srgbClr val="006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3" name="Text 13"/>
          <p:cNvSpPr/>
          <p:nvPr/>
        </p:nvSpPr>
        <p:spPr>
          <a:xfrm>
            <a:off x="594360" y="3986640"/>
            <a:ext cx="3885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695c"/>
                </a:solidFill>
                <a:uFillTx/>
                <a:latin typeface="Calibri"/>
                <a:ea typeface="Calibri"/>
              </a:rPr>
              <a:t>Smart Cities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Text 14"/>
          <p:cNvSpPr/>
          <p:nvPr/>
        </p:nvSpPr>
        <p:spPr>
          <a:xfrm>
            <a:off x="594360" y="4370760"/>
            <a:ext cx="3885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Traffic, utilities, sensors — zettabyte scale, multi-stakeholder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Shape 15"/>
          <p:cNvSpPr/>
          <p:nvPr/>
        </p:nvSpPr>
        <p:spPr>
          <a:xfrm>
            <a:off x="4800600" y="1737360"/>
            <a:ext cx="4114440" cy="100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Shape 16"/>
          <p:cNvSpPr/>
          <p:nvPr/>
        </p:nvSpPr>
        <p:spPr>
          <a:xfrm>
            <a:off x="4800600" y="1737360"/>
            <a:ext cx="63720" cy="1005480"/>
          </a:xfrm>
          <a:prstGeom prst="rect">
            <a:avLst/>
          </a:prstGeom>
          <a:solidFill>
            <a:srgbClr val="e651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7" name="Text 17"/>
          <p:cNvSpPr/>
          <p:nvPr/>
        </p:nvSpPr>
        <p:spPr>
          <a:xfrm>
            <a:off x="4937760" y="1828800"/>
            <a:ext cx="3885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e65100"/>
                </a:solidFill>
                <a:uFillTx/>
                <a:latin typeface="Calibri"/>
                <a:ea typeface="Calibri"/>
              </a:rPr>
              <a:t>Healthcare IoT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Text 18"/>
          <p:cNvSpPr/>
          <p:nvPr/>
        </p:nvSpPr>
        <p:spPr>
          <a:xfrm>
            <a:off x="4937760" y="2212920"/>
            <a:ext cx="3885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Implants, monitors — HIPAA-regulated, sub-100ms response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Shape 19"/>
          <p:cNvSpPr/>
          <p:nvPr/>
        </p:nvSpPr>
        <p:spPr>
          <a:xfrm>
            <a:off x="4800600" y="2816280"/>
            <a:ext cx="4114440" cy="100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" name="Shape 20"/>
          <p:cNvSpPr/>
          <p:nvPr/>
        </p:nvSpPr>
        <p:spPr>
          <a:xfrm>
            <a:off x="4800600" y="2816280"/>
            <a:ext cx="63720" cy="1005480"/>
          </a:xfrm>
          <a:prstGeom prst="rect">
            <a:avLst/>
          </a:prstGeom>
          <a:solidFill>
            <a:srgbClr val="6a1b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1" name="Text 21"/>
          <p:cNvSpPr/>
          <p:nvPr/>
        </p:nvSpPr>
        <p:spPr>
          <a:xfrm>
            <a:off x="4937760" y="2907720"/>
            <a:ext cx="3885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6a1b9a"/>
                </a:solidFill>
                <a:uFillTx/>
                <a:latin typeface="Calibri"/>
                <a:ea typeface="Calibri"/>
              </a:rPr>
              <a:t>Agriculture IoT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" name="Text 22"/>
          <p:cNvSpPr/>
          <p:nvPr/>
        </p:nvSpPr>
        <p:spPr>
          <a:xfrm>
            <a:off x="4937760" y="3291840"/>
            <a:ext cx="3885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Soil, drones, weather — intermittent connectivity, large area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Shape 23"/>
          <p:cNvSpPr/>
          <p:nvPr/>
        </p:nvSpPr>
        <p:spPr>
          <a:xfrm>
            <a:off x="4800600" y="3895200"/>
            <a:ext cx="4114440" cy="100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" name="Shape 24"/>
          <p:cNvSpPr/>
          <p:nvPr/>
        </p:nvSpPr>
        <p:spPr>
          <a:xfrm>
            <a:off x="4800600" y="3895200"/>
            <a:ext cx="63720" cy="1005480"/>
          </a:xfrm>
          <a:prstGeom prst="rect">
            <a:avLst/>
          </a:prstGeom>
          <a:solidFill>
            <a:srgbClr val="c6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5" name="Text 25"/>
          <p:cNvSpPr/>
          <p:nvPr/>
        </p:nvSpPr>
        <p:spPr>
          <a:xfrm>
            <a:off x="4937760" y="3986640"/>
            <a:ext cx="3885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c62828"/>
                </a:solidFill>
                <a:uFillTx/>
                <a:latin typeface="Calibri"/>
                <a:ea typeface="Calibri"/>
              </a:rPr>
              <a:t>Automotive IoT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" name="Text 26"/>
          <p:cNvSpPr/>
          <p:nvPr/>
        </p:nvSpPr>
        <p:spPr>
          <a:xfrm>
            <a:off x="4937760" y="4370760"/>
            <a:ext cx="3885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V2X, ADAS — 1–4 TB/hr/vehicle, ultra-low-latency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/>
          <p:nvPr/>
        </p:nvSpPr>
        <p:spPr>
          <a:xfrm>
            <a:off x="457200" y="2559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IoT Data Explosion: Scale &amp; Characteristics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Shape 1"/>
          <p:cNvSpPr/>
          <p:nvPr/>
        </p:nvSpPr>
        <p:spPr>
          <a:xfrm>
            <a:off x="457200" y="887040"/>
            <a:ext cx="8229240" cy="27000"/>
          </a:xfrm>
          <a:prstGeom prst="rect">
            <a:avLst/>
          </a:prstGeom>
          <a:solidFill>
            <a:srgbClr val="42a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9" name="Shape 2"/>
          <p:cNvSpPr/>
          <p:nvPr/>
        </p:nvSpPr>
        <p:spPr>
          <a:xfrm>
            <a:off x="320040" y="1005840"/>
            <a:ext cx="2011320" cy="1096920"/>
          </a:xfrm>
          <a:prstGeom prst="rect">
            <a:avLst/>
          </a:prstGeom>
          <a:solidFill>
            <a:srgbClr val="0d47a1"/>
          </a:solidFill>
          <a:ln w="12700">
            <a:solidFill>
              <a:srgbClr val="bbde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0" name="Text 3"/>
          <p:cNvSpPr/>
          <p:nvPr/>
        </p:nvSpPr>
        <p:spPr>
          <a:xfrm>
            <a:off x="320040" y="1115640"/>
            <a:ext cx="20113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75B+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" name="Text 4"/>
          <p:cNvSpPr/>
          <p:nvPr/>
        </p:nvSpPr>
        <p:spPr>
          <a:xfrm>
            <a:off x="365760" y="1609200"/>
            <a:ext cx="19198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Connected Devices by 2030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Shape 5"/>
          <p:cNvSpPr/>
          <p:nvPr/>
        </p:nvSpPr>
        <p:spPr>
          <a:xfrm>
            <a:off x="320040" y="1005840"/>
            <a:ext cx="2011320" cy="1096920"/>
          </a:xfrm>
          <a:prstGeom prst="rect">
            <a:avLst/>
          </a:prstGeom>
          <a:solidFill>
            <a:srgbClr val="0d47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3" name="Text 6"/>
          <p:cNvSpPr/>
          <p:nvPr/>
        </p:nvSpPr>
        <p:spPr>
          <a:xfrm>
            <a:off x="320040" y="1051560"/>
            <a:ext cx="2011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75B+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" name="Text 7"/>
          <p:cNvSpPr/>
          <p:nvPr/>
        </p:nvSpPr>
        <p:spPr>
          <a:xfrm>
            <a:off x="347400" y="169164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Connected Devices by 2030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" name="Shape 8"/>
          <p:cNvSpPr/>
          <p:nvPr/>
        </p:nvSpPr>
        <p:spPr>
          <a:xfrm>
            <a:off x="2468880" y="1005840"/>
            <a:ext cx="2011320" cy="1096920"/>
          </a:xfrm>
          <a:prstGeom prst="rect">
            <a:avLst/>
          </a:prstGeom>
          <a:solidFill>
            <a:srgbClr val="1565c0"/>
          </a:solidFill>
          <a:ln w="12700">
            <a:solidFill>
              <a:srgbClr val="bbde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6" name="Text 9"/>
          <p:cNvSpPr/>
          <p:nvPr/>
        </p:nvSpPr>
        <p:spPr>
          <a:xfrm>
            <a:off x="2468880" y="1115640"/>
            <a:ext cx="20113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175 ZB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Text 10"/>
          <p:cNvSpPr/>
          <p:nvPr/>
        </p:nvSpPr>
        <p:spPr>
          <a:xfrm>
            <a:off x="2514600" y="1609200"/>
            <a:ext cx="19198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Global Datasphere by 2025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Shape 11"/>
          <p:cNvSpPr/>
          <p:nvPr/>
        </p:nvSpPr>
        <p:spPr>
          <a:xfrm>
            <a:off x="2468880" y="1005840"/>
            <a:ext cx="2011320" cy="109692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9" name="Text 12"/>
          <p:cNvSpPr/>
          <p:nvPr/>
        </p:nvSpPr>
        <p:spPr>
          <a:xfrm>
            <a:off x="2468880" y="1051560"/>
            <a:ext cx="2011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175 ZB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" name="Text 13"/>
          <p:cNvSpPr/>
          <p:nvPr/>
        </p:nvSpPr>
        <p:spPr>
          <a:xfrm>
            <a:off x="2496240" y="169164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Global Datasphere by 2025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" name="Shape 14"/>
          <p:cNvSpPr/>
          <p:nvPr/>
        </p:nvSpPr>
        <p:spPr>
          <a:xfrm>
            <a:off x="4617720" y="1005840"/>
            <a:ext cx="2011320" cy="1096920"/>
          </a:xfrm>
          <a:prstGeom prst="rect">
            <a:avLst/>
          </a:prstGeom>
          <a:solidFill>
            <a:srgbClr val="1976d2"/>
          </a:solidFill>
          <a:ln w="12700">
            <a:solidFill>
              <a:srgbClr val="bbde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2" name="Text 15"/>
          <p:cNvSpPr/>
          <p:nvPr/>
        </p:nvSpPr>
        <p:spPr>
          <a:xfrm>
            <a:off x="4617720" y="1115640"/>
            <a:ext cx="20113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34 GB/day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" name="Text 16"/>
          <p:cNvSpPr/>
          <p:nvPr/>
        </p:nvSpPr>
        <p:spPr>
          <a:xfrm>
            <a:off x="4663440" y="1609200"/>
            <a:ext cx="19198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Single Smart Factory (10K sensors)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" name="Shape 17"/>
          <p:cNvSpPr/>
          <p:nvPr/>
        </p:nvSpPr>
        <p:spPr>
          <a:xfrm>
            <a:off x="4617720" y="1005840"/>
            <a:ext cx="2011320" cy="1096920"/>
          </a:xfrm>
          <a:prstGeom prst="rect">
            <a:avLst/>
          </a:prstGeom>
          <a:solidFill>
            <a:srgbClr val="1976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5" name="Text 18"/>
          <p:cNvSpPr/>
          <p:nvPr/>
        </p:nvSpPr>
        <p:spPr>
          <a:xfrm>
            <a:off x="4617720" y="1051560"/>
            <a:ext cx="2011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34 GB/day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Text 19"/>
          <p:cNvSpPr/>
          <p:nvPr/>
        </p:nvSpPr>
        <p:spPr>
          <a:xfrm>
            <a:off x="4645080" y="169164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Single Smart Factory (10K sensors)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Shape 20"/>
          <p:cNvSpPr/>
          <p:nvPr/>
        </p:nvSpPr>
        <p:spPr>
          <a:xfrm>
            <a:off x="6766560" y="1005840"/>
            <a:ext cx="2011320" cy="1096920"/>
          </a:xfrm>
          <a:prstGeom prst="rect">
            <a:avLst/>
          </a:prstGeom>
          <a:solidFill>
            <a:srgbClr val="006064"/>
          </a:solidFill>
          <a:ln w="12700">
            <a:solidFill>
              <a:srgbClr val="bbde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8" name="Text 21"/>
          <p:cNvSpPr/>
          <p:nvPr/>
        </p:nvSpPr>
        <p:spPr>
          <a:xfrm>
            <a:off x="6766560" y="1115640"/>
            <a:ext cx="20113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1–4 TB/hr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" name="Text 22"/>
          <p:cNvSpPr/>
          <p:nvPr/>
        </p:nvSpPr>
        <p:spPr>
          <a:xfrm>
            <a:off x="6812280" y="1609200"/>
            <a:ext cx="19198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Per Autonomous Vehicle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" name="Shape 23"/>
          <p:cNvSpPr/>
          <p:nvPr/>
        </p:nvSpPr>
        <p:spPr>
          <a:xfrm>
            <a:off x="6766560" y="1005840"/>
            <a:ext cx="2011320" cy="1096920"/>
          </a:xfrm>
          <a:prstGeom prst="rect">
            <a:avLst/>
          </a:prstGeom>
          <a:solidFill>
            <a:srgbClr val="0060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1" name="Text 24"/>
          <p:cNvSpPr/>
          <p:nvPr/>
        </p:nvSpPr>
        <p:spPr>
          <a:xfrm>
            <a:off x="6766560" y="1051560"/>
            <a:ext cx="2011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1–4 TB/hr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" name="Text 25"/>
          <p:cNvSpPr/>
          <p:nvPr/>
        </p:nvSpPr>
        <p:spPr>
          <a:xfrm>
            <a:off x="6793920" y="169164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Per Autonomous Vehicle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" name="Shape 26"/>
          <p:cNvSpPr/>
          <p:nvPr/>
        </p:nvSpPr>
        <p:spPr>
          <a:xfrm>
            <a:off x="320040" y="2331720"/>
            <a:ext cx="4205880" cy="849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Shape 27"/>
          <p:cNvSpPr/>
          <p:nvPr/>
        </p:nvSpPr>
        <p:spPr>
          <a:xfrm>
            <a:off x="320040" y="2331720"/>
            <a:ext cx="63720" cy="84996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5" name="Text 28"/>
          <p:cNvSpPr/>
          <p:nvPr/>
        </p:nvSpPr>
        <p:spPr>
          <a:xfrm>
            <a:off x="457200" y="2423160"/>
            <a:ext cx="3977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565c0"/>
                </a:solidFill>
                <a:uFillTx/>
                <a:latin typeface="Calibri"/>
                <a:ea typeface="Calibri"/>
              </a:rPr>
              <a:t>Volume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Text 29"/>
          <p:cNvSpPr/>
          <p:nvPr/>
        </p:nvSpPr>
        <p:spPr>
          <a:xfrm>
            <a:off x="457200" y="2807280"/>
            <a:ext cx="397728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Zettabytes from billions of devices continuously generating readings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" name="Shape 30"/>
          <p:cNvSpPr/>
          <p:nvPr/>
        </p:nvSpPr>
        <p:spPr>
          <a:xfrm>
            <a:off x="4754880" y="2331720"/>
            <a:ext cx="4205880" cy="849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" name="Shape 31"/>
          <p:cNvSpPr/>
          <p:nvPr/>
        </p:nvSpPr>
        <p:spPr>
          <a:xfrm>
            <a:off x="4754880" y="2331720"/>
            <a:ext cx="63720" cy="849960"/>
          </a:xfrm>
          <a:prstGeom prst="rect">
            <a:avLst/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9" name="Text 32"/>
          <p:cNvSpPr/>
          <p:nvPr/>
        </p:nvSpPr>
        <p:spPr>
          <a:xfrm>
            <a:off x="4892040" y="2423160"/>
            <a:ext cx="3977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e7d32"/>
                </a:solidFill>
                <a:uFillTx/>
                <a:latin typeface="Calibri"/>
                <a:ea typeface="Calibri"/>
              </a:rPr>
              <a:t>Velocity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" name="Text 33"/>
          <p:cNvSpPr/>
          <p:nvPr/>
        </p:nvSpPr>
        <p:spPr>
          <a:xfrm>
            <a:off x="4892040" y="2807280"/>
            <a:ext cx="397728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16,000+ writes/sec for 1M devices at 1-minute intervals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" name="Shape 34"/>
          <p:cNvSpPr/>
          <p:nvPr/>
        </p:nvSpPr>
        <p:spPr>
          <a:xfrm>
            <a:off x="320040" y="3264480"/>
            <a:ext cx="4205880" cy="849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" name="Shape 35"/>
          <p:cNvSpPr/>
          <p:nvPr/>
        </p:nvSpPr>
        <p:spPr>
          <a:xfrm>
            <a:off x="320040" y="3264480"/>
            <a:ext cx="63720" cy="849960"/>
          </a:xfrm>
          <a:prstGeom prst="rect">
            <a:avLst/>
          </a:prstGeom>
          <a:solidFill>
            <a:srgbClr val="006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3" name="Text 36"/>
          <p:cNvSpPr/>
          <p:nvPr/>
        </p:nvSpPr>
        <p:spPr>
          <a:xfrm>
            <a:off x="457200" y="3355920"/>
            <a:ext cx="3977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695c"/>
                </a:solidFill>
                <a:uFillTx/>
                <a:latin typeface="Calibri"/>
                <a:ea typeface="Calibri"/>
              </a:rPr>
              <a:t>Variety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" name="Text 37"/>
          <p:cNvSpPr/>
          <p:nvPr/>
        </p:nvSpPr>
        <p:spPr>
          <a:xfrm>
            <a:off x="457200" y="3740040"/>
            <a:ext cx="397728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Heterogeneous formats, schemas, encodings across ecosystems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5" name="Shape 38"/>
          <p:cNvSpPr/>
          <p:nvPr/>
        </p:nvSpPr>
        <p:spPr>
          <a:xfrm>
            <a:off x="4754880" y="3264480"/>
            <a:ext cx="4205880" cy="849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6" name="Shape 39"/>
          <p:cNvSpPr/>
          <p:nvPr/>
        </p:nvSpPr>
        <p:spPr>
          <a:xfrm>
            <a:off x="4754880" y="3264480"/>
            <a:ext cx="63720" cy="849960"/>
          </a:xfrm>
          <a:prstGeom prst="rect">
            <a:avLst/>
          </a:prstGeom>
          <a:solidFill>
            <a:srgbClr val="e651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7" name="Text 40"/>
          <p:cNvSpPr/>
          <p:nvPr/>
        </p:nvSpPr>
        <p:spPr>
          <a:xfrm>
            <a:off x="4892040" y="3355920"/>
            <a:ext cx="3977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e65100"/>
                </a:solidFill>
                <a:uFillTx/>
                <a:latin typeface="Calibri"/>
                <a:ea typeface="Calibri"/>
              </a:rPr>
              <a:t>Veracity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" name="Text 41"/>
          <p:cNvSpPr/>
          <p:nvPr/>
        </p:nvSpPr>
        <p:spPr>
          <a:xfrm>
            <a:off x="4892040" y="3740040"/>
            <a:ext cx="397728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Calibration drift, EM interference, transmission corruption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9" name="Shape 42"/>
          <p:cNvSpPr/>
          <p:nvPr/>
        </p:nvSpPr>
        <p:spPr>
          <a:xfrm>
            <a:off x="320040" y="4197240"/>
            <a:ext cx="4205880" cy="849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" name="Shape 43"/>
          <p:cNvSpPr/>
          <p:nvPr/>
        </p:nvSpPr>
        <p:spPr>
          <a:xfrm>
            <a:off x="320040" y="4197240"/>
            <a:ext cx="63720" cy="849960"/>
          </a:xfrm>
          <a:prstGeom prst="rect">
            <a:avLst/>
          </a:prstGeom>
          <a:solidFill>
            <a:srgbClr val="0d47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1" name="Text 44"/>
          <p:cNvSpPr/>
          <p:nvPr/>
        </p:nvSpPr>
        <p:spPr>
          <a:xfrm>
            <a:off x="457200" y="4288680"/>
            <a:ext cx="3977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Temporal Decay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" name="Text 45"/>
          <p:cNvSpPr/>
          <p:nvPr/>
        </p:nvSpPr>
        <p:spPr>
          <a:xfrm>
            <a:off x="457200" y="4672440"/>
            <a:ext cx="397728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Sensor anomalies are actionable in milliseconds; stale data loses value fast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" name="Shape 46"/>
          <p:cNvSpPr/>
          <p:nvPr/>
        </p:nvSpPr>
        <p:spPr>
          <a:xfrm>
            <a:off x="4754880" y="4197240"/>
            <a:ext cx="4205880" cy="849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" name="Shape 47"/>
          <p:cNvSpPr/>
          <p:nvPr/>
        </p:nvSpPr>
        <p:spPr>
          <a:xfrm>
            <a:off x="4754880" y="4197240"/>
            <a:ext cx="63720" cy="849960"/>
          </a:xfrm>
          <a:prstGeom prst="rect">
            <a:avLst/>
          </a:prstGeom>
          <a:solidFill>
            <a:srgbClr val="6a1b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5" name="Text 48"/>
          <p:cNvSpPr/>
          <p:nvPr/>
        </p:nvSpPr>
        <p:spPr>
          <a:xfrm>
            <a:off x="4892040" y="4288680"/>
            <a:ext cx="3977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6a1b9a"/>
                </a:solidFill>
                <a:uFillTx/>
                <a:latin typeface="Calibri"/>
                <a:ea typeface="Calibri"/>
              </a:rPr>
              <a:t>Data Gravity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6" name="Text 49"/>
          <p:cNvSpPr/>
          <p:nvPr/>
        </p:nvSpPr>
        <p:spPr>
          <a:xfrm>
            <a:off x="4892040" y="4672440"/>
            <a:ext cx="397728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Large repositories attract apps/services — centripetal pull toward cloud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 0"/>
          <p:cNvSpPr/>
          <p:nvPr/>
        </p:nvSpPr>
        <p:spPr>
          <a:xfrm>
            <a:off x="457200" y="2559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Challenges of Cloud-Centric Data Management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" name="Shape 1"/>
          <p:cNvSpPr/>
          <p:nvPr/>
        </p:nvSpPr>
        <p:spPr>
          <a:xfrm>
            <a:off x="457200" y="887040"/>
            <a:ext cx="8229240" cy="27000"/>
          </a:xfrm>
          <a:prstGeom prst="rect">
            <a:avLst/>
          </a:prstGeom>
          <a:solidFill>
            <a:srgbClr val="42a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9" name="Shape 2"/>
          <p:cNvSpPr/>
          <p:nvPr/>
        </p:nvSpPr>
        <p:spPr>
          <a:xfrm>
            <a:off x="320040" y="1005840"/>
            <a:ext cx="4205880" cy="126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" name="Shape 3"/>
          <p:cNvSpPr/>
          <p:nvPr/>
        </p:nvSpPr>
        <p:spPr>
          <a:xfrm>
            <a:off x="320040" y="1005840"/>
            <a:ext cx="4205880" cy="383760"/>
          </a:xfrm>
          <a:prstGeom prst="rect">
            <a:avLst/>
          </a:prstGeom>
          <a:solidFill>
            <a:srgbClr val="e651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1" name="Text 4"/>
          <p:cNvSpPr/>
          <p:nvPr/>
        </p:nvSpPr>
        <p:spPr>
          <a:xfrm>
            <a:off x="429840" y="1042560"/>
            <a:ext cx="3931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⚡  </a:t>
            </a: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Network Latency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" name="Text 5"/>
          <p:cNvSpPr/>
          <p:nvPr/>
        </p:nvSpPr>
        <p:spPr>
          <a:xfrm>
            <a:off x="411480" y="1444680"/>
            <a:ext cx="4023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Speed of light limits: Mumbai→Frankfurt = 30ms one-way. Real-world IoT round trips: 100–500ms. Hard real-time apps need &lt;10ms — cloud is categorically disqualified.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3" name="Shape 6"/>
          <p:cNvSpPr/>
          <p:nvPr/>
        </p:nvSpPr>
        <p:spPr>
          <a:xfrm>
            <a:off x="4754880" y="1005840"/>
            <a:ext cx="4205880" cy="126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4" name="Shape 7"/>
          <p:cNvSpPr/>
          <p:nvPr/>
        </p:nvSpPr>
        <p:spPr>
          <a:xfrm>
            <a:off x="4754880" y="1005840"/>
            <a:ext cx="4205880" cy="38376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5" name="Text 8"/>
          <p:cNvSpPr/>
          <p:nvPr/>
        </p:nvSpPr>
        <p:spPr>
          <a:xfrm>
            <a:off x="4864680" y="1042560"/>
            <a:ext cx="3931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📡  </a:t>
            </a: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Bandwidth Constraints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6" name="Text 9"/>
          <p:cNvSpPr/>
          <p:nvPr/>
        </p:nvSpPr>
        <p:spPr>
          <a:xfrm>
            <a:off x="4846320" y="1444680"/>
            <a:ext cx="4023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50K cameras @ 1Mbps = 50+ Gbps continuously. 100-vehicle AV fleet = 100TB/hour uploads. Solution: extract semantics at edge, transmit only structured insights.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" name="Shape 10"/>
          <p:cNvSpPr/>
          <p:nvPr/>
        </p:nvSpPr>
        <p:spPr>
          <a:xfrm>
            <a:off x="320040" y="2359080"/>
            <a:ext cx="4205880" cy="126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8" name="Shape 11"/>
          <p:cNvSpPr/>
          <p:nvPr/>
        </p:nvSpPr>
        <p:spPr>
          <a:xfrm>
            <a:off x="320040" y="2359080"/>
            <a:ext cx="4205880" cy="383760"/>
          </a:xfrm>
          <a:prstGeom prst="rect">
            <a:avLst/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9" name="Text 12"/>
          <p:cNvSpPr/>
          <p:nvPr/>
        </p:nvSpPr>
        <p:spPr>
          <a:xfrm>
            <a:off x="429840" y="2395800"/>
            <a:ext cx="3931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🔌  </a:t>
            </a: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Reliability &amp; Connectivity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0" name="Text 13"/>
          <p:cNvSpPr/>
          <p:nvPr/>
        </p:nvSpPr>
        <p:spPr>
          <a:xfrm>
            <a:off x="411480" y="2797920"/>
            <a:ext cx="4023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8-component chain at 99.9% each → 99.2% aggregate = ~70 hrs downtime/year. Remote sites (offshore, mining, agriculture) cannot assume cloud connectivity.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" name="Shape 14"/>
          <p:cNvSpPr/>
          <p:nvPr/>
        </p:nvSpPr>
        <p:spPr>
          <a:xfrm>
            <a:off x="4754880" y="2359080"/>
            <a:ext cx="4205880" cy="126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Shape 15"/>
          <p:cNvSpPr/>
          <p:nvPr/>
        </p:nvSpPr>
        <p:spPr>
          <a:xfrm>
            <a:off x="4754880" y="2359080"/>
            <a:ext cx="4205880" cy="383760"/>
          </a:xfrm>
          <a:prstGeom prst="rect">
            <a:avLst/>
          </a:prstGeom>
          <a:solidFill>
            <a:srgbClr val="6a1b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3" name="Text 16"/>
          <p:cNvSpPr/>
          <p:nvPr/>
        </p:nvSpPr>
        <p:spPr>
          <a:xfrm>
            <a:off x="4864680" y="2395800"/>
            <a:ext cx="3931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🔒  </a:t>
            </a: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Regulatory Compliance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4" name="Text 17"/>
          <p:cNvSpPr/>
          <p:nvPr/>
        </p:nvSpPr>
        <p:spPr>
          <a:xfrm>
            <a:off x="4846320" y="2797920"/>
            <a:ext cx="4023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GDPR, HIPAA, PIPL, LGPD impose data residency requirements. Multi-jurisdiction IoT deployments violate cross-border transfer rules with centralized cloud storage.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5" name="Shape 18"/>
          <p:cNvSpPr/>
          <p:nvPr/>
        </p:nvSpPr>
        <p:spPr>
          <a:xfrm>
            <a:off x="320040" y="3712320"/>
            <a:ext cx="4205880" cy="126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6" name="Shape 19"/>
          <p:cNvSpPr/>
          <p:nvPr/>
        </p:nvSpPr>
        <p:spPr>
          <a:xfrm>
            <a:off x="320040" y="3712320"/>
            <a:ext cx="4205880" cy="383760"/>
          </a:xfrm>
          <a:prstGeom prst="rect">
            <a:avLst/>
          </a:prstGeom>
          <a:solidFill>
            <a:srgbClr val="006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7" name="Text 20"/>
          <p:cNvSpPr/>
          <p:nvPr/>
        </p:nvSpPr>
        <p:spPr>
          <a:xfrm>
            <a:off x="429840" y="3749040"/>
            <a:ext cx="3931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💰  </a:t>
            </a: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Economic Constraints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8" name="Text 21"/>
          <p:cNvSpPr/>
          <p:nvPr/>
        </p:nvSpPr>
        <p:spPr>
          <a:xfrm>
            <a:off x="411480" y="4151520"/>
            <a:ext cx="4023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Egress 'tax': $0.08–0.09/GB. Processing 10TB/day with 50% egress = $175K+/year. Edge analytics reducing cloud volume by 95% yields six-figure annual savings.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9" name="Shape 22"/>
          <p:cNvSpPr/>
          <p:nvPr/>
        </p:nvSpPr>
        <p:spPr>
          <a:xfrm>
            <a:off x="4754880" y="3712320"/>
            <a:ext cx="4205880" cy="126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0" name="Shape 23"/>
          <p:cNvSpPr/>
          <p:nvPr/>
        </p:nvSpPr>
        <p:spPr>
          <a:xfrm>
            <a:off x="4754880" y="3712320"/>
            <a:ext cx="4205880" cy="383760"/>
          </a:xfrm>
          <a:prstGeom prst="rect">
            <a:avLst/>
          </a:prstGeom>
          <a:solidFill>
            <a:srgbClr val="c6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1" name="Text 24"/>
          <p:cNvSpPr/>
          <p:nvPr/>
        </p:nvSpPr>
        <p:spPr>
          <a:xfrm>
            <a:off x="4864680" y="3749040"/>
            <a:ext cx="3931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🛡️  </a:t>
            </a: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Security Vulnerabilities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2" name="Text 25"/>
          <p:cNvSpPr/>
          <p:nvPr/>
        </p:nvSpPr>
        <p:spPr>
          <a:xfrm>
            <a:off x="4846320" y="4151520"/>
            <a:ext cx="4023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Central cloud = high-value target. Mirai botnet (2016) exploited 100K+ devices. Distribution limits blast radius — one compromised node ≠ entire fleet exposure.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 0"/>
          <p:cNvSpPr/>
          <p:nvPr/>
        </p:nvSpPr>
        <p:spPr>
          <a:xfrm>
            <a:off x="457200" y="2559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Edge &amp; Fog Computing: The Solution Architecture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4" name="Shape 1"/>
          <p:cNvSpPr/>
          <p:nvPr/>
        </p:nvSpPr>
        <p:spPr>
          <a:xfrm>
            <a:off x="457200" y="887040"/>
            <a:ext cx="8229240" cy="27000"/>
          </a:xfrm>
          <a:prstGeom prst="rect">
            <a:avLst/>
          </a:prstGeom>
          <a:solidFill>
            <a:srgbClr val="42a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5" name="Shape 2"/>
          <p:cNvSpPr/>
          <p:nvPr/>
        </p:nvSpPr>
        <p:spPr>
          <a:xfrm>
            <a:off x="320040" y="1051560"/>
            <a:ext cx="2651400" cy="502560"/>
          </a:xfrm>
          <a:prstGeom prst="rect">
            <a:avLst/>
          </a:prstGeom>
          <a:solidFill>
            <a:srgbClr val="0d47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6" name="Text 3"/>
          <p:cNvSpPr/>
          <p:nvPr/>
        </p:nvSpPr>
        <p:spPr>
          <a:xfrm>
            <a:off x="320040" y="1088280"/>
            <a:ext cx="26514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☁  </a:t>
            </a: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CLOUD TIER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7" name="Text 4"/>
          <p:cNvSpPr/>
          <p:nvPr/>
        </p:nvSpPr>
        <p:spPr>
          <a:xfrm>
            <a:off x="320040" y="1316880"/>
            <a:ext cx="2651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bbdefb"/>
                </a:solidFill>
                <a:uFillTx/>
                <a:latin typeface="Calibri"/>
                <a:ea typeface="Calibri"/>
              </a:rPr>
              <a:t>Hyperscale Data Centers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8" name="Shape 5"/>
          <p:cNvSpPr/>
          <p:nvPr/>
        </p:nvSpPr>
        <p:spPr>
          <a:xfrm>
            <a:off x="320040" y="1554480"/>
            <a:ext cx="2651400" cy="2697120"/>
          </a:xfrm>
          <a:prstGeom prst="rect">
            <a:avLst/>
          </a:prstGeom>
          <a:solidFill>
            <a:srgbClr val="f0f7ff"/>
          </a:solidFill>
          <a:ln w="12700">
            <a:solidFill>
              <a:srgbClr val="bbde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9" name="Text 6"/>
          <p:cNvSpPr/>
          <p:nvPr/>
        </p:nvSpPr>
        <p:spPr>
          <a:xfrm>
            <a:off x="429840" y="1645920"/>
            <a:ext cx="24318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▸ </a:t>
            </a:r>
            <a:r>
              <a:rPr b="0" lang="en-US" sz="110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Long-horizon analytics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0" name="Text 7"/>
          <p:cNvSpPr/>
          <p:nvPr/>
        </p:nvSpPr>
        <p:spPr>
          <a:xfrm>
            <a:off x="429840" y="2267640"/>
            <a:ext cx="24318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▸ </a:t>
            </a:r>
            <a:r>
              <a:rPr b="0" lang="en-US" sz="110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Model retraining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1" name="Text 8"/>
          <p:cNvSpPr/>
          <p:nvPr/>
        </p:nvSpPr>
        <p:spPr>
          <a:xfrm>
            <a:off x="429840" y="2889360"/>
            <a:ext cx="24318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▸ </a:t>
            </a:r>
            <a:r>
              <a:rPr b="0" lang="en-US" sz="110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Regulatory reporting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2" name="Text 9"/>
          <p:cNvSpPr/>
          <p:nvPr/>
        </p:nvSpPr>
        <p:spPr>
          <a:xfrm>
            <a:off x="429840" y="3511440"/>
            <a:ext cx="24318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▸ </a:t>
            </a:r>
            <a:r>
              <a:rPr b="0" lang="en-US" sz="110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Cross-site comparison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3" name="Shape 10"/>
          <p:cNvSpPr/>
          <p:nvPr/>
        </p:nvSpPr>
        <p:spPr>
          <a:xfrm>
            <a:off x="2990160" y="2286000"/>
            <a:ext cx="164160" cy="164160"/>
          </a:xfrm>
          <a:prstGeom prst="rect">
            <a:avLst/>
          </a:prstGeom>
          <a:solidFill>
            <a:srgbClr val="42a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4" name="Shape 11"/>
          <p:cNvSpPr/>
          <p:nvPr/>
        </p:nvSpPr>
        <p:spPr>
          <a:xfrm>
            <a:off x="3264480" y="1051560"/>
            <a:ext cx="2651400" cy="50256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5" name="Text 12"/>
          <p:cNvSpPr/>
          <p:nvPr/>
        </p:nvSpPr>
        <p:spPr>
          <a:xfrm>
            <a:off x="3264480" y="1088280"/>
            <a:ext cx="26514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🌫  </a:t>
            </a: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FOG TIER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6" name="Text 13"/>
          <p:cNvSpPr/>
          <p:nvPr/>
        </p:nvSpPr>
        <p:spPr>
          <a:xfrm>
            <a:off x="3264480" y="1316880"/>
            <a:ext cx="2651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bbdefb"/>
                </a:solidFill>
                <a:uFillTx/>
                <a:latin typeface="Calibri"/>
                <a:ea typeface="Calibri"/>
              </a:rPr>
              <a:t>Factory/Campus Servers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7" name="Shape 14"/>
          <p:cNvSpPr/>
          <p:nvPr/>
        </p:nvSpPr>
        <p:spPr>
          <a:xfrm>
            <a:off x="3264480" y="1554480"/>
            <a:ext cx="2651400" cy="2697120"/>
          </a:xfrm>
          <a:prstGeom prst="rect">
            <a:avLst/>
          </a:prstGeom>
          <a:solidFill>
            <a:srgbClr val="f0f7ff"/>
          </a:solidFill>
          <a:ln w="12700">
            <a:solidFill>
              <a:srgbClr val="bbde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8" name="Text 15"/>
          <p:cNvSpPr/>
          <p:nvPr/>
        </p:nvSpPr>
        <p:spPr>
          <a:xfrm>
            <a:off x="3374280" y="1645920"/>
            <a:ext cx="24318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565c0"/>
                </a:solidFill>
                <a:uFillTx/>
                <a:latin typeface="Calibri"/>
                <a:ea typeface="Calibri"/>
              </a:rPr>
              <a:t>▸ </a:t>
            </a:r>
            <a:r>
              <a:rPr b="0" lang="en-US" sz="110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Multi-device correlation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9" name="Text 16"/>
          <p:cNvSpPr/>
          <p:nvPr/>
        </p:nvSpPr>
        <p:spPr>
          <a:xfrm>
            <a:off x="3374280" y="2267640"/>
            <a:ext cx="24318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565c0"/>
                </a:solidFill>
                <a:uFillTx/>
                <a:latin typeface="Calibri"/>
                <a:ea typeface="Calibri"/>
              </a:rPr>
              <a:t>▸ </a:t>
            </a:r>
            <a:r>
              <a:rPr b="0" lang="en-US" sz="110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Site-level ML models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0" name="Text 17"/>
          <p:cNvSpPr/>
          <p:nvPr/>
        </p:nvSpPr>
        <p:spPr>
          <a:xfrm>
            <a:off x="3374280" y="2889360"/>
            <a:ext cx="24318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565c0"/>
                </a:solidFill>
                <a:uFillTx/>
                <a:latin typeface="Calibri"/>
                <a:ea typeface="Calibri"/>
              </a:rPr>
              <a:t>▸ </a:t>
            </a:r>
            <a:r>
              <a:rPr b="0" lang="en-US" sz="110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1–20ms latency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1" name="Text 18"/>
          <p:cNvSpPr/>
          <p:nvPr/>
        </p:nvSpPr>
        <p:spPr>
          <a:xfrm>
            <a:off x="3374280" y="3511440"/>
            <a:ext cx="24318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565c0"/>
                </a:solidFill>
                <a:uFillTx/>
                <a:latin typeface="Calibri"/>
                <a:ea typeface="Calibri"/>
              </a:rPr>
              <a:t>▸ </a:t>
            </a:r>
            <a:r>
              <a:rPr b="0" lang="en-US" sz="110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32–256GB RAM, 1–100TB SSD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2" name="Shape 19"/>
          <p:cNvSpPr/>
          <p:nvPr/>
        </p:nvSpPr>
        <p:spPr>
          <a:xfrm>
            <a:off x="5934600" y="2286000"/>
            <a:ext cx="164160" cy="164160"/>
          </a:xfrm>
          <a:prstGeom prst="rect">
            <a:avLst/>
          </a:prstGeom>
          <a:solidFill>
            <a:srgbClr val="42a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3" name="Shape 20"/>
          <p:cNvSpPr/>
          <p:nvPr/>
        </p:nvSpPr>
        <p:spPr>
          <a:xfrm>
            <a:off x="6208920" y="1051560"/>
            <a:ext cx="2651400" cy="502560"/>
          </a:xfrm>
          <a:prstGeom prst="rect">
            <a:avLst/>
          </a:prstGeom>
          <a:solidFill>
            <a:srgbClr val="006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4" name="Text 21"/>
          <p:cNvSpPr/>
          <p:nvPr/>
        </p:nvSpPr>
        <p:spPr>
          <a:xfrm>
            <a:off x="6208920" y="1088280"/>
            <a:ext cx="26514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📡  </a:t>
            </a: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EDGE TIER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5" name="Text 22"/>
          <p:cNvSpPr/>
          <p:nvPr/>
        </p:nvSpPr>
        <p:spPr>
          <a:xfrm>
            <a:off x="6208920" y="1316880"/>
            <a:ext cx="2651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bbdefb"/>
                </a:solidFill>
                <a:uFillTx/>
                <a:latin typeface="Calibri"/>
                <a:ea typeface="Calibri"/>
              </a:rPr>
              <a:t>Gateways &amp; Devices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6" name="Shape 23"/>
          <p:cNvSpPr/>
          <p:nvPr/>
        </p:nvSpPr>
        <p:spPr>
          <a:xfrm>
            <a:off x="6208920" y="1554480"/>
            <a:ext cx="2651400" cy="2697120"/>
          </a:xfrm>
          <a:prstGeom prst="rect">
            <a:avLst/>
          </a:prstGeom>
          <a:solidFill>
            <a:srgbClr val="f0f7ff"/>
          </a:solidFill>
          <a:ln w="12700">
            <a:solidFill>
              <a:srgbClr val="bbde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7" name="Text 24"/>
          <p:cNvSpPr/>
          <p:nvPr/>
        </p:nvSpPr>
        <p:spPr>
          <a:xfrm>
            <a:off x="6318360" y="1645920"/>
            <a:ext cx="24318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0695c"/>
                </a:solidFill>
                <a:uFillTx/>
                <a:latin typeface="Calibri"/>
                <a:ea typeface="Calibri"/>
              </a:rPr>
              <a:t>▸ </a:t>
            </a:r>
            <a:r>
              <a:rPr b="0" lang="en-US" sz="110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Real-time control &lt;10ms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8" name="Text 25"/>
          <p:cNvSpPr/>
          <p:nvPr/>
        </p:nvSpPr>
        <p:spPr>
          <a:xfrm>
            <a:off x="6318360" y="2267640"/>
            <a:ext cx="24318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0695c"/>
                </a:solidFill>
                <a:uFillTx/>
                <a:latin typeface="Calibri"/>
                <a:ea typeface="Calibri"/>
              </a:rPr>
              <a:t>▸ </a:t>
            </a:r>
            <a:r>
              <a:rPr b="0" lang="en-US" sz="110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On-device inference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9" name="Text 26"/>
          <p:cNvSpPr/>
          <p:nvPr/>
        </p:nvSpPr>
        <p:spPr>
          <a:xfrm>
            <a:off x="6318360" y="2889360"/>
            <a:ext cx="24318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0695c"/>
                </a:solidFill>
                <a:uFillTx/>
                <a:latin typeface="Calibri"/>
                <a:ea typeface="Calibri"/>
              </a:rPr>
              <a:t>▸ </a:t>
            </a:r>
            <a:r>
              <a:rPr b="0" lang="en-US" sz="110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Local buffering &amp; store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0" name="Text 27"/>
          <p:cNvSpPr/>
          <p:nvPr/>
        </p:nvSpPr>
        <p:spPr>
          <a:xfrm>
            <a:off x="6318360" y="3511440"/>
            <a:ext cx="24318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0695c"/>
                </a:solidFill>
                <a:uFillTx/>
                <a:latin typeface="Calibri"/>
                <a:ea typeface="Calibri"/>
              </a:rPr>
              <a:t>▸ </a:t>
            </a:r>
            <a:r>
              <a:rPr b="0" lang="en-US" sz="110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TF Lite Micro, Jetson AGX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1" name="Shape 28"/>
          <p:cNvSpPr/>
          <p:nvPr/>
        </p:nvSpPr>
        <p:spPr>
          <a:xfrm>
            <a:off x="320040" y="4206240"/>
            <a:ext cx="8503560" cy="68544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2" name="Text 29"/>
          <p:cNvSpPr/>
          <p:nvPr/>
        </p:nvSpPr>
        <p:spPr>
          <a:xfrm>
            <a:off x="502920" y="42519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Key Insight: </a:t>
            </a:r>
            <a:r>
              <a:rPr b="0" lang="en-US" sz="110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Distributed data management is not an optimization over centralized architectures — it is a categorical necessity. Each tier executes workloads matching its latency, bandwidth, and resource profile (Tier Appropriateness principle).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 0"/>
          <p:cNvSpPr/>
          <p:nvPr/>
        </p:nvSpPr>
        <p:spPr>
          <a:xfrm>
            <a:off x="457200" y="2559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Assignment 1 — Core Architectural Principles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4" name="Shape 1"/>
          <p:cNvSpPr/>
          <p:nvPr/>
        </p:nvSpPr>
        <p:spPr>
          <a:xfrm>
            <a:off x="457200" y="887040"/>
            <a:ext cx="8229240" cy="27000"/>
          </a:xfrm>
          <a:prstGeom prst="rect">
            <a:avLst/>
          </a:prstGeom>
          <a:solidFill>
            <a:srgbClr val="42a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5" name="Shape 2"/>
          <p:cNvSpPr/>
          <p:nvPr/>
        </p:nvSpPr>
        <p:spPr>
          <a:xfrm>
            <a:off x="457200" y="1005840"/>
            <a:ext cx="8229240" cy="731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6" name="Shape 3"/>
          <p:cNvSpPr/>
          <p:nvPr/>
        </p:nvSpPr>
        <p:spPr>
          <a:xfrm>
            <a:off x="457200" y="1005840"/>
            <a:ext cx="822600" cy="731160"/>
          </a:xfrm>
          <a:prstGeom prst="rect">
            <a:avLst/>
          </a:prstGeom>
          <a:solidFill>
            <a:srgbClr val="0d47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7" name="Text 4"/>
          <p:cNvSpPr/>
          <p:nvPr/>
        </p:nvSpPr>
        <p:spPr>
          <a:xfrm>
            <a:off x="457200" y="1005840"/>
            <a:ext cx="822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01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8" name="Text 5"/>
          <p:cNvSpPr/>
          <p:nvPr/>
        </p:nvSpPr>
        <p:spPr>
          <a:xfrm>
            <a:off x="1417320" y="104256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Tier Appropriateness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9" name="Text 6"/>
          <p:cNvSpPr/>
          <p:nvPr/>
        </p:nvSpPr>
        <p:spPr>
          <a:xfrm>
            <a:off x="1417320" y="1371600"/>
            <a:ext cx="7040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Each workload executes at the tier whose latency, bandwidth, and resource characteristics best match its requirements.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0" name="Shape 7"/>
          <p:cNvSpPr/>
          <p:nvPr/>
        </p:nvSpPr>
        <p:spPr>
          <a:xfrm>
            <a:off x="457200" y="1810440"/>
            <a:ext cx="8229240" cy="731160"/>
          </a:xfrm>
          <a:prstGeom prst="rect">
            <a:avLst/>
          </a:prstGeom>
          <a:solidFill>
            <a:srgbClr val="f0f7ff"/>
          </a:solidFill>
          <a:ln w="12700">
            <a:solidFill>
              <a:srgbClr val="bbde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1" name="Shape 8"/>
          <p:cNvSpPr/>
          <p:nvPr/>
        </p:nvSpPr>
        <p:spPr>
          <a:xfrm>
            <a:off x="457200" y="1810440"/>
            <a:ext cx="822600" cy="73116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2" name="Text 9"/>
          <p:cNvSpPr/>
          <p:nvPr/>
        </p:nvSpPr>
        <p:spPr>
          <a:xfrm>
            <a:off x="457200" y="1810440"/>
            <a:ext cx="822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02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3" name="Text 10"/>
          <p:cNvSpPr/>
          <p:nvPr/>
        </p:nvSpPr>
        <p:spPr>
          <a:xfrm>
            <a:off x="1417320" y="184716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565c0"/>
                </a:solidFill>
                <a:uFillTx/>
                <a:latin typeface="Calibri"/>
                <a:ea typeface="Calibri"/>
              </a:rPr>
              <a:t>Autonomous Sufficiency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4" name="Text 11"/>
          <p:cNvSpPr/>
          <p:nvPr/>
        </p:nvSpPr>
        <p:spPr>
          <a:xfrm>
            <a:off x="1417320" y="2176200"/>
            <a:ext cx="7040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Each tier must fulfill critical functions without dependency on higher tiers — graceful degradation under partition.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5" name="Shape 12"/>
          <p:cNvSpPr/>
          <p:nvPr/>
        </p:nvSpPr>
        <p:spPr>
          <a:xfrm>
            <a:off x="457200" y="2615040"/>
            <a:ext cx="8229240" cy="731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6" name="Shape 13"/>
          <p:cNvSpPr/>
          <p:nvPr/>
        </p:nvSpPr>
        <p:spPr>
          <a:xfrm>
            <a:off x="457200" y="2615040"/>
            <a:ext cx="822600" cy="731160"/>
          </a:xfrm>
          <a:prstGeom prst="rect">
            <a:avLst/>
          </a:prstGeom>
          <a:solidFill>
            <a:srgbClr val="006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7" name="Text 14"/>
          <p:cNvSpPr/>
          <p:nvPr/>
        </p:nvSpPr>
        <p:spPr>
          <a:xfrm>
            <a:off x="457200" y="2615040"/>
            <a:ext cx="822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03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8" name="Text 15"/>
          <p:cNvSpPr/>
          <p:nvPr/>
        </p:nvSpPr>
        <p:spPr>
          <a:xfrm>
            <a:off x="1417320" y="265176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0695c"/>
                </a:solidFill>
                <a:uFillTx/>
                <a:latin typeface="Calibri"/>
                <a:ea typeface="Calibri"/>
              </a:rPr>
              <a:t>Progressive Refinement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9" name="Text 16"/>
          <p:cNvSpPr/>
          <p:nvPr/>
        </p:nvSpPr>
        <p:spPr>
          <a:xfrm>
            <a:off x="1417320" y="2980800"/>
            <a:ext cx="7040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Data is reduced, normalized, and semantically enriched as it travels up the hierarchy — semantics at edge, insights to cloud.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0" name="Shape 17"/>
          <p:cNvSpPr/>
          <p:nvPr/>
        </p:nvSpPr>
        <p:spPr>
          <a:xfrm>
            <a:off x="457200" y="3420000"/>
            <a:ext cx="8229240" cy="731160"/>
          </a:xfrm>
          <a:prstGeom prst="rect">
            <a:avLst/>
          </a:prstGeom>
          <a:solidFill>
            <a:srgbClr val="f0f7ff"/>
          </a:solidFill>
          <a:ln w="12700">
            <a:solidFill>
              <a:srgbClr val="bbde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1" name="Shape 18"/>
          <p:cNvSpPr/>
          <p:nvPr/>
        </p:nvSpPr>
        <p:spPr>
          <a:xfrm>
            <a:off x="457200" y="3420000"/>
            <a:ext cx="822600" cy="731160"/>
          </a:xfrm>
          <a:prstGeom prst="rect">
            <a:avLst/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2" name="Text 19"/>
          <p:cNvSpPr/>
          <p:nvPr/>
        </p:nvSpPr>
        <p:spPr>
          <a:xfrm>
            <a:off x="457200" y="3420000"/>
            <a:ext cx="822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04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3" name="Text 20"/>
          <p:cNvSpPr/>
          <p:nvPr/>
        </p:nvSpPr>
        <p:spPr>
          <a:xfrm>
            <a:off x="1417320" y="345636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e7d32"/>
                </a:solidFill>
                <a:uFillTx/>
                <a:latin typeface="Calibri"/>
                <a:ea typeface="Calibri"/>
              </a:rPr>
              <a:t>Partition Resilience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4" name="Text 21"/>
          <p:cNvSpPr/>
          <p:nvPr/>
        </p:nvSpPr>
        <p:spPr>
          <a:xfrm>
            <a:off x="1417320" y="3785760"/>
            <a:ext cx="7040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Systems are designed for the expectation of network partitions (CAP theorem), not merely tolerant of them.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5" name="Shape 22"/>
          <p:cNvSpPr/>
          <p:nvPr/>
        </p:nvSpPr>
        <p:spPr>
          <a:xfrm>
            <a:off x="457200" y="4224600"/>
            <a:ext cx="8229240" cy="731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6" name="Shape 23"/>
          <p:cNvSpPr/>
          <p:nvPr/>
        </p:nvSpPr>
        <p:spPr>
          <a:xfrm>
            <a:off x="457200" y="4224600"/>
            <a:ext cx="822600" cy="731160"/>
          </a:xfrm>
          <a:prstGeom prst="rect">
            <a:avLst/>
          </a:prstGeom>
          <a:solidFill>
            <a:srgbClr val="6a1b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7" name="Text 24"/>
          <p:cNvSpPr/>
          <p:nvPr/>
        </p:nvSpPr>
        <p:spPr>
          <a:xfrm>
            <a:off x="457200" y="4224600"/>
            <a:ext cx="822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05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8" name="Text 25"/>
          <p:cNvSpPr/>
          <p:nvPr/>
        </p:nvSpPr>
        <p:spPr>
          <a:xfrm>
            <a:off x="1417320" y="426096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6a1b9a"/>
                </a:solidFill>
                <a:uFillTx/>
                <a:latin typeface="Calibri"/>
                <a:ea typeface="Calibri"/>
              </a:rPr>
              <a:t>Security by Distribution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9" name="Text 26"/>
          <p:cNvSpPr/>
          <p:nvPr/>
        </p:nvSpPr>
        <p:spPr>
          <a:xfrm>
            <a:off x="1417320" y="4590360"/>
            <a:ext cx="7040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Distribution of data across tiers limits blast radii, enforces defense-in-depth, and reduces attack surface.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465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42a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1" name="Shape 1"/>
          <p:cNvSpPr/>
          <p:nvPr/>
        </p:nvSpPr>
        <p:spPr>
          <a:xfrm>
            <a:off x="502920" y="1463040"/>
            <a:ext cx="1096920" cy="502560"/>
          </a:xfrm>
          <a:prstGeom prst="roundRect">
            <a:avLst>
              <a:gd name="adj" fmla="val 14545"/>
            </a:avLst>
          </a:prstGeom>
          <a:solidFill>
            <a:srgbClr val="42a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2" name="Text 2"/>
          <p:cNvSpPr/>
          <p:nvPr/>
        </p:nvSpPr>
        <p:spPr>
          <a:xfrm>
            <a:off x="502920" y="1463040"/>
            <a:ext cx="1096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d47a1"/>
                </a:solidFill>
                <a:uFillTx/>
                <a:latin typeface="Calibri"/>
              </a:rPr>
              <a:t>Theory 02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3" name="Text 3"/>
          <p:cNvSpPr/>
          <p:nvPr/>
        </p:nvSpPr>
        <p:spPr>
          <a:xfrm>
            <a:off x="502920" y="2103120"/>
            <a:ext cx="8046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Distributed Crop Recommendation</a:t>
            </a:r>
            <a:endParaRPr b="0" lang="en-US" sz="3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4" name="Text 4"/>
          <p:cNvSpPr/>
          <p:nvPr/>
        </p:nvSpPr>
        <p:spPr>
          <a:xfrm>
            <a:off x="502920" y="3246120"/>
            <a:ext cx="7772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90caf9"/>
                </a:solidFill>
                <a:uFillTx/>
                <a:latin typeface="Calibri"/>
                <a:ea typeface="Calibri"/>
              </a:rPr>
              <a:t>Apache Spark MLlib K-Means Clustering · 500,000 Records · 5 Indian Regions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ext 0"/>
          <p:cNvSpPr/>
          <p:nvPr/>
        </p:nvSpPr>
        <p:spPr>
          <a:xfrm>
            <a:off x="457200" y="2559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Assignment 2a — Problem Statement &amp; Approach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6" name="Shape 1"/>
          <p:cNvSpPr/>
          <p:nvPr/>
        </p:nvSpPr>
        <p:spPr>
          <a:xfrm>
            <a:off x="457200" y="887040"/>
            <a:ext cx="8229240" cy="27000"/>
          </a:xfrm>
          <a:prstGeom prst="rect">
            <a:avLst/>
          </a:prstGeom>
          <a:solidFill>
            <a:srgbClr val="42a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7" name="Shape 2"/>
          <p:cNvSpPr/>
          <p:nvPr/>
        </p:nvSpPr>
        <p:spPr>
          <a:xfrm>
            <a:off x="457200" y="1005840"/>
            <a:ext cx="8229240" cy="91404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8" name="Shape 3"/>
          <p:cNvSpPr/>
          <p:nvPr/>
        </p:nvSpPr>
        <p:spPr>
          <a:xfrm>
            <a:off x="457200" y="1005840"/>
            <a:ext cx="109440" cy="914040"/>
          </a:xfrm>
          <a:prstGeom prst="rect">
            <a:avLst/>
          </a:prstGeom>
          <a:solidFill>
            <a:srgbClr val="0d47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9" name="Text 4"/>
          <p:cNvSpPr/>
          <p:nvPr/>
        </p:nvSpPr>
        <p:spPr>
          <a:xfrm>
            <a:off x="685800" y="1024200"/>
            <a:ext cx="7772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Problem Statement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0" name="Text 5"/>
          <p:cNvSpPr/>
          <p:nvPr/>
        </p:nvSpPr>
        <p:spPr>
          <a:xfrm>
            <a:off x="685800" y="1334880"/>
            <a:ext cx="77720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"Conventional single-node crop recommendation systems cannot iteratively refine cluster assignments at scale. K-Means requires multiple passes until convergence — prohibitively slow on disk-based MapReduce but highly efficient on Spark's in-memory RDD framework."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1" name="Text 6"/>
          <p:cNvSpPr/>
          <p:nvPr/>
        </p:nvSpPr>
        <p:spPr>
          <a:xfrm>
            <a:off x="457200" y="203004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5-Stage MLlib Pipeline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2" name="Shape 7"/>
          <p:cNvSpPr/>
          <p:nvPr/>
        </p:nvSpPr>
        <p:spPr>
          <a:xfrm>
            <a:off x="457200" y="2423160"/>
            <a:ext cx="1554120" cy="456840"/>
          </a:xfrm>
          <a:prstGeom prst="rect">
            <a:avLst/>
          </a:prstGeom>
          <a:solidFill>
            <a:srgbClr val="0d47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3" name="Text 8"/>
          <p:cNvSpPr/>
          <p:nvPr/>
        </p:nvSpPr>
        <p:spPr>
          <a:xfrm>
            <a:off x="457200" y="242316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Stage 1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4" name="Shape 9"/>
          <p:cNvSpPr/>
          <p:nvPr/>
        </p:nvSpPr>
        <p:spPr>
          <a:xfrm>
            <a:off x="457200" y="2907720"/>
            <a:ext cx="1554120" cy="1188360"/>
          </a:xfrm>
          <a:prstGeom prst="rect">
            <a:avLst/>
          </a:prstGeom>
          <a:solidFill>
            <a:srgbClr val="f0f7ff"/>
          </a:solidFill>
          <a:ln w="12700">
            <a:solidFill>
              <a:srgbClr val="bbde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5" name="Text 10"/>
          <p:cNvSpPr/>
          <p:nvPr/>
        </p:nvSpPr>
        <p:spPr>
          <a:xfrm>
            <a:off x="502920" y="2944440"/>
            <a:ext cx="146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1565c0"/>
                </a:solidFill>
                <a:uFillTx/>
                <a:latin typeface="Calibri"/>
                <a:ea typeface="Calibri"/>
              </a:rPr>
              <a:t>Data Ingestion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6" name="Text 11"/>
          <p:cNvSpPr/>
          <p:nvPr/>
        </p:nvSpPr>
        <p:spPr>
          <a:xfrm>
            <a:off x="502920" y="3310200"/>
            <a:ext cx="14626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500K CSV via spark.read.csv()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7" name="Text 12"/>
          <p:cNvSpPr/>
          <p:nvPr/>
        </p:nvSpPr>
        <p:spPr>
          <a:xfrm>
            <a:off x="2011680" y="2541960"/>
            <a:ext cx="145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42a5f5"/>
                </a:solidFill>
                <a:uFillTx/>
                <a:latin typeface="Calibri"/>
              </a:rPr>
              <a:t>→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8" name="Shape 13"/>
          <p:cNvSpPr/>
          <p:nvPr/>
        </p:nvSpPr>
        <p:spPr>
          <a:xfrm>
            <a:off x="2157840" y="2423160"/>
            <a:ext cx="1554120" cy="456840"/>
          </a:xfrm>
          <a:prstGeom prst="rect">
            <a:avLst/>
          </a:prstGeom>
          <a:solidFill>
            <a:srgbClr val="0d47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9" name="Text 14"/>
          <p:cNvSpPr/>
          <p:nvPr/>
        </p:nvSpPr>
        <p:spPr>
          <a:xfrm>
            <a:off x="2157840" y="242316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Stage 2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0" name="Shape 15"/>
          <p:cNvSpPr/>
          <p:nvPr/>
        </p:nvSpPr>
        <p:spPr>
          <a:xfrm>
            <a:off x="2157840" y="2907720"/>
            <a:ext cx="1554120" cy="1188360"/>
          </a:xfrm>
          <a:prstGeom prst="rect">
            <a:avLst/>
          </a:prstGeom>
          <a:solidFill>
            <a:srgbClr val="f0f7ff"/>
          </a:solidFill>
          <a:ln w="12700">
            <a:solidFill>
              <a:srgbClr val="bbde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1" name="Text 16"/>
          <p:cNvSpPr/>
          <p:nvPr/>
        </p:nvSpPr>
        <p:spPr>
          <a:xfrm>
            <a:off x="2203560" y="2944440"/>
            <a:ext cx="146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1565c0"/>
                </a:solidFill>
                <a:uFillTx/>
                <a:latin typeface="Calibri"/>
                <a:ea typeface="Calibri"/>
              </a:rPr>
              <a:t>Feature Assembly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2" name="Text 17"/>
          <p:cNvSpPr/>
          <p:nvPr/>
        </p:nvSpPr>
        <p:spPr>
          <a:xfrm>
            <a:off x="2203560" y="3310200"/>
            <a:ext cx="14626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VectorAssembler: N,P,K,temp,humidity,pH,rainfall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3" name="Text 18"/>
          <p:cNvSpPr/>
          <p:nvPr/>
        </p:nvSpPr>
        <p:spPr>
          <a:xfrm>
            <a:off x="3712320" y="2541960"/>
            <a:ext cx="145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42a5f5"/>
                </a:solidFill>
                <a:uFillTx/>
                <a:latin typeface="Calibri"/>
              </a:rPr>
              <a:t>→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4" name="Shape 19"/>
          <p:cNvSpPr/>
          <p:nvPr/>
        </p:nvSpPr>
        <p:spPr>
          <a:xfrm>
            <a:off x="3858840" y="2423160"/>
            <a:ext cx="1554120" cy="456840"/>
          </a:xfrm>
          <a:prstGeom prst="rect">
            <a:avLst/>
          </a:prstGeom>
          <a:solidFill>
            <a:srgbClr val="0d47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5" name="Text 20"/>
          <p:cNvSpPr/>
          <p:nvPr/>
        </p:nvSpPr>
        <p:spPr>
          <a:xfrm>
            <a:off x="3858840" y="242316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Stage 3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6" name="Shape 21"/>
          <p:cNvSpPr/>
          <p:nvPr/>
        </p:nvSpPr>
        <p:spPr>
          <a:xfrm>
            <a:off x="3858840" y="2907720"/>
            <a:ext cx="1554120" cy="1188360"/>
          </a:xfrm>
          <a:prstGeom prst="rect">
            <a:avLst/>
          </a:prstGeom>
          <a:solidFill>
            <a:srgbClr val="f0f7ff"/>
          </a:solidFill>
          <a:ln w="12700">
            <a:solidFill>
              <a:srgbClr val="bbde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7" name="Text 22"/>
          <p:cNvSpPr/>
          <p:nvPr/>
        </p:nvSpPr>
        <p:spPr>
          <a:xfrm>
            <a:off x="3904560" y="2944440"/>
            <a:ext cx="146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1565c0"/>
                </a:solidFill>
                <a:uFillTx/>
                <a:latin typeface="Calibri"/>
                <a:ea typeface="Calibri"/>
              </a:rPr>
              <a:t>Normalization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8" name="Text 23"/>
          <p:cNvSpPr/>
          <p:nvPr/>
        </p:nvSpPr>
        <p:spPr>
          <a:xfrm>
            <a:off x="3904560" y="3310200"/>
            <a:ext cx="14626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StandardScaler → zero mean, unit std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9" name="Text 24"/>
          <p:cNvSpPr/>
          <p:nvPr/>
        </p:nvSpPr>
        <p:spPr>
          <a:xfrm>
            <a:off x="5413320" y="2541960"/>
            <a:ext cx="145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42a5f5"/>
                </a:solidFill>
                <a:uFillTx/>
                <a:latin typeface="Calibri"/>
              </a:rPr>
              <a:t>→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0" name="Shape 25"/>
          <p:cNvSpPr/>
          <p:nvPr/>
        </p:nvSpPr>
        <p:spPr>
          <a:xfrm>
            <a:off x="5559480" y="2423160"/>
            <a:ext cx="1554120" cy="456840"/>
          </a:xfrm>
          <a:prstGeom prst="rect">
            <a:avLst/>
          </a:prstGeom>
          <a:solidFill>
            <a:srgbClr val="0d47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1" name="Text 26"/>
          <p:cNvSpPr/>
          <p:nvPr/>
        </p:nvSpPr>
        <p:spPr>
          <a:xfrm>
            <a:off x="5559480" y="242316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Stage 4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2" name="Shape 27"/>
          <p:cNvSpPr/>
          <p:nvPr/>
        </p:nvSpPr>
        <p:spPr>
          <a:xfrm>
            <a:off x="5559480" y="2907720"/>
            <a:ext cx="1554120" cy="1188360"/>
          </a:xfrm>
          <a:prstGeom prst="rect">
            <a:avLst/>
          </a:prstGeom>
          <a:solidFill>
            <a:srgbClr val="f0f7ff"/>
          </a:solidFill>
          <a:ln w="12700">
            <a:solidFill>
              <a:srgbClr val="bbde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3" name="Text 28"/>
          <p:cNvSpPr/>
          <p:nvPr/>
        </p:nvSpPr>
        <p:spPr>
          <a:xfrm>
            <a:off x="5605200" y="2944440"/>
            <a:ext cx="146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1565c0"/>
                </a:solidFill>
                <a:uFillTx/>
                <a:latin typeface="Calibri"/>
                <a:ea typeface="Calibri"/>
              </a:rPr>
              <a:t>K Selection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4" name="Text 29"/>
          <p:cNvSpPr/>
          <p:nvPr/>
        </p:nvSpPr>
        <p:spPr>
          <a:xfrm>
            <a:off x="5605200" y="3310200"/>
            <a:ext cx="14626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KMeans K=3→11, ClusteringEvaluator (Silhouette)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5" name="Text 30"/>
          <p:cNvSpPr/>
          <p:nvPr/>
        </p:nvSpPr>
        <p:spPr>
          <a:xfrm>
            <a:off x="7113960" y="2541960"/>
            <a:ext cx="145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42a5f5"/>
                </a:solidFill>
                <a:uFillTx/>
                <a:latin typeface="Calibri"/>
              </a:rPr>
              <a:t>→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6" name="Shape 31"/>
          <p:cNvSpPr/>
          <p:nvPr/>
        </p:nvSpPr>
        <p:spPr>
          <a:xfrm>
            <a:off x="7260480" y="2423160"/>
            <a:ext cx="1554120" cy="456840"/>
          </a:xfrm>
          <a:prstGeom prst="rect">
            <a:avLst/>
          </a:prstGeom>
          <a:solidFill>
            <a:srgbClr val="0d47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7" name="Text 32"/>
          <p:cNvSpPr/>
          <p:nvPr/>
        </p:nvSpPr>
        <p:spPr>
          <a:xfrm>
            <a:off x="7260480" y="242316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Stage 5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8" name="Shape 33"/>
          <p:cNvSpPr/>
          <p:nvPr/>
        </p:nvSpPr>
        <p:spPr>
          <a:xfrm>
            <a:off x="7260480" y="2907720"/>
            <a:ext cx="1554120" cy="1188360"/>
          </a:xfrm>
          <a:prstGeom prst="rect">
            <a:avLst/>
          </a:prstGeom>
          <a:solidFill>
            <a:srgbClr val="f0f7ff"/>
          </a:solidFill>
          <a:ln w="12700">
            <a:solidFill>
              <a:srgbClr val="bbde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9" name="Text 34"/>
          <p:cNvSpPr/>
          <p:nvPr/>
        </p:nvSpPr>
        <p:spPr>
          <a:xfrm>
            <a:off x="7306200" y="2944440"/>
            <a:ext cx="146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1565c0"/>
                </a:solidFill>
                <a:uFillTx/>
                <a:latin typeface="Calibri"/>
                <a:ea typeface="Calibri"/>
              </a:rPr>
              <a:t>Output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0" name="Text 35"/>
          <p:cNvSpPr/>
          <p:nvPr/>
        </p:nvSpPr>
        <p:spPr>
          <a:xfrm>
            <a:off x="7306200" y="3310200"/>
            <a:ext cx="14626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Cluster→Crop mapping via dominant label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1" name="Shape 36"/>
          <p:cNvSpPr/>
          <p:nvPr/>
        </p:nvSpPr>
        <p:spPr>
          <a:xfrm>
            <a:off x="457200" y="4251960"/>
            <a:ext cx="2011320" cy="639720"/>
          </a:xfrm>
          <a:prstGeom prst="rect">
            <a:avLst/>
          </a:prstGeom>
          <a:solidFill>
            <a:srgbClr val="0d47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32" name="Text 37"/>
          <p:cNvSpPr/>
          <p:nvPr/>
        </p:nvSpPr>
        <p:spPr>
          <a:xfrm>
            <a:off x="457200" y="425196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500,000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3" name="Text 38"/>
          <p:cNvSpPr/>
          <p:nvPr/>
        </p:nvSpPr>
        <p:spPr>
          <a:xfrm>
            <a:off x="457200" y="461772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90caf9"/>
                </a:solidFill>
                <a:uFillTx/>
                <a:latin typeface="Calibri"/>
                <a:ea typeface="Calibri"/>
              </a:rPr>
              <a:t>Records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4" name="Shape 39"/>
          <p:cNvSpPr/>
          <p:nvPr/>
        </p:nvSpPr>
        <p:spPr>
          <a:xfrm>
            <a:off x="2606040" y="4251960"/>
            <a:ext cx="2011320" cy="639720"/>
          </a:xfrm>
          <a:prstGeom prst="rect">
            <a:avLst/>
          </a:prstGeom>
          <a:solidFill>
            <a:srgbClr val="0d47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35" name="Text 40"/>
          <p:cNvSpPr/>
          <p:nvPr/>
        </p:nvSpPr>
        <p:spPr>
          <a:xfrm>
            <a:off x="2606040" y="425196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5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6" name="Text 41"/>
          <p:cNvSpPr/>
          <p:nvPr/>
        </p:nvSpPr>
        <p:spPr>
          <a:xfrm>
            <a:off x="2606040" y="461772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90caf9"/>
                </a:solidFill>
                <a:uFillTx/>
                <a:latin typeface="Calibri"/>
                <a:ea typeface="Calibri"/>
              </a:rPr>
              <a:t>Indian Regions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7" name="Shape 42"/>
          <p:cNvSpPr/>
          <p:nvPr/>
        </p:nvSpPr>
        <p:spPr>
          <a:xfrm>
            <a:off x="4754880" y="4251960"/>
            <a:ext cx="2011320" cy="639720"/>
          </a:xfrm>
          <a:prstGeom prst="rect">
            <a:avLst/>
          </a:prstGeom>
          <a:solidFill>
            <a:srgbClr val="0d47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38" name="Text 43"/>
          <p:cNvSpPr/>
          <p:nvPr/>
        </p:nvSpPr>
        <p:spPr>
          <a:xfrm>
            <a:off x="4754880" y="425196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10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9" name="Text 44"/>
          <p:cNvSpPr/>
          <p:nvPr/>
        </p:nvSpPr>
        <p:spPr>
          <a:xfrm>
            <a:off x="4754880" y="461772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90caf9"/>
                </a:solidFill>
                <a:uFillTx/>
                <a:latin typeface="Calibri"/>
                <a:ea typeface="Calibri"/>
              </a:rPr>
              <a:t>Crop Classes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0" name="Shape 45"/>
          <p:cNvSpPr/>
          <p:nvPr/>
        </p:nvSpPr>
        <p:spPr>
          <a:xfrm>
            <a:off x="6903720" y="4251960"/>
            <a:ext cx="2011320" cy="639720"/>
          </a:xfrm>
          <a:prstGeom prst="rect">
            <a:avLst/>
          </a:prstGeom>
          <a:solidFill>
            <a:srgbClr val="0d47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1" name="Text 46"/>
          <p:cNvSpPr/>
          <p:nvPr/>
        </p:nvSpPr>
        <p:spPr>
          <a:xfrm>
            <a:off x="6903720" y="425196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7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2" name="Text 47"/>
          <p:cNvSpPr/>
          <p:nvPr/>
        </p:nvSpPr>
        <p:spPr>
          <a:xfrm>
            <a:off x="6903720" y="461772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90caf9"/>
                </a:solidFill>
                <a:uFillTx/>
                <a:latin typeface="Calibri"/>
                <a:ea typeface="Calibri"/>
              </a:rPr>
              <a:t>Soil/Climate Features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Text 0"/>
          <p:cNvSpPr/>
          <p:nvPr/>
        </p:nvSpPr>
        <p:spPr>
          <a:xfrm>
            <a:off x="457200" y="2559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Optimal K Selection via Silhouette Scoring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4" name="Shape 1"/>
          <p:cNvSpPr/>
          <p:nvPr/>
        </p:nvSpPr>
        <p:spPr>
          <a:xfrm>
            <a:off x="457200" y="887040"/>
            <a:ext cx="8229240" cy="27000"/>
          </a:xfrm>
          <a:prstGeom prst="rect">
            <a:avLst/>
          </a:prstGeom>
          <a:solidFill>
            <a:srgbClr val="42a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graphicFrame>
        <p:nvGraphicFramePr>
          <p:cNvPr id="245" name="Table 0"/>
          <p:cNvGraphicFramePr/>
          <p:nvPr/>
        </p:nvGraphicFramePr>
        <p:xfrm>
          <a:off x="457200" y="1005840"/>
          <a:ext cx="4114440" cy="3931560"/>
        </p:xfrm>
        <a:graphic>
          <a:graphicData uri="http://schemas.openxmlformats.org/drawingml/2006/table">
            <a:tbl>
              <a:tblPr/>
              <a:tblGrid>
                <a:gridCol w="640080"/>
                <a:gridCol w="1371600"/>
                <a:gridCol w="1280160"/>
                <a:gridCol w="822960"/>
              </a:tblGrid>
              <a:tr h="393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</a:rPr>
                        <a:t>K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0080">
                      <a:solidFill>
                        <a:srgbClr val="bbdefb"/>
                      </a:solidFill>
                      <a:prstDash val="solid"/>
                    </a:lnL>
                    <a:lnR w="10080">
                      <a:solidFill>
                        <a:srgbClr val="bbdefb"/>
                      </a:solidFill>
                      <a:prstDash val="solid"/>
                    </a:lnR>
                    <a:lnT w="10080">
                      <a:solidFill>
                        <a:srgbClr val="bbdefb"/>
                      </a:solidFill>
                      <a:prstDash val="solid"/>
                    </a:lnT>
                    <a:lnB w="10080">
                      <a:solidFill>
                        <a:srgbClr val="bbdefb"/>
                      </a:solidFill>
                      <a:prstDash val="soli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</a:rPr>
                        <a:t>Silhouette Score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0080">
                      <a:solidFill>
                        <a:srgbClr val="bbdefb"/>
                      </a:solidFill>
                      <a:prstDash val="solid"/>
                    </a:lnL>
                    <a:lnR w="10080">
                      <a:solidFill>
                        <a:srgbClr val="bbdefb"/>
                      </a:solidFill>
                      <a:prstDash val="solid"/>
                    </a:lnR>
                    <a:lnT w="10080">
                      <a:solidFill>
                        <a:srgbClr val="bbdefb"/>
                      </a:solidFill>
                      <a:prstDash val="solid"/>
                    </a:lnT>
                    <a:lnB w="10080">
                      <a:solidFill>
                        <a:srgbClr val="bbdefb"/>
                      </a:solidFill>
                      <a:prstDash val="soli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</a:rPr>
                        <a:t>WSSSE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0080">
                      <a:solidFill>
                        <a:srgbClr val="bbdefb"/>
                      </a:solidFill>
                      <a:prstDash val="solid"/>
                    </a:lnL>
                    <a:lnR w="10080">
                      <a:solidFill>
                        <a:srgbClr val="bbdefb"/>
                      </a:solidFill>
                      <a:prstDash val="solid"/>
                    </a:lnR>
                    <a:lnT w="10080">
                      <a:solidFill>
                        <a:srgbClr val="bbdefb"/>
                      </a:solidFill>
                      <a:prstDash val="solid"/>
                    </a:lnT>
                    <a:lnB w="10080">
                      <a:solidFill>
                        <a:srgbClr val="bbdefb"/>
                      </a:solidFill>
                      <a:prstDash val="soli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</a:rPr>
                        <a:t>Status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0080">
                      <a:solidFill>
                        <a:srgbClr val="bbdefb"/>
                      </a:solidFill>
                      <a:prstDash val="solid"/>
                    </a:lnL>
                    <a:lnR w="10080">
                      <a:solidFill>
                        <a:srgbClr val="bbdefb"/>
                      </a:solidFill>
                      <a:prstDash val="solid"/>
                    </a:lnR>
                    <a:lnT w="10080">
                      <a:solidFill>
                        <a:srgbClr val="bbdefb"/>
                      </a:solidFill>
                      <a:prstDash val="solid"/>
                    </a:lnT>
                    <a:lnB w="10080">
                      <a:solidFill>
                        <a:srgbClr val="bbdefb"/>
                      </a:solidFill>
                      <a:prstDash val="solid"/>
                    </a:lnB>
                    <a:solidFill>
                      <a:srgbClr val="0d47a1"/>
                    </a:solidFill>
                  </a:tcPr>
                </a:tc>
              </a:tr>
              <a:tr h="393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d1b3e"/>
                          </a:solidFill>
                          <a:uFillTx/>
                          <a:latin typeface="Calibri"/>
                        </a:rPr>
                        <a:t>K=3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0080">
                      <a:solidFill>
                        <a:srgbClr val="bbdefb"/>
                      </a:solidFill>
                      <a:prstDash val="solid"/>
                    </a:lnL>
                    <a:lnR w="10080">
                      <a:solidFill>
                        <a:srgbClr val="bbdefb"/>
                      </a:solidFill>
                      <a:prstDash val="solid"/>
                    </a:lnR>
                    <a:lnT w="10080">
                      <a:solidFill>
                        <a:srgbClr val="bbdefb"/>
                      </a:solidFill>
                      <a:prstDash val="solid"/>
                    </a:lnT>
                    <a:lnB w="10080">
                      <a:solidFill>
                        <a:srgbClr val="bbde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d1b3e"/>
                          </a:solidFill>
                          <a:uFillTx/>
                          <a:latin typeface="Calibri"/>
                        </a:rPr>
                        <a:t>0.3969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0080">
                      <a:solidFill>
                        <a:srgbClr val="bbdefb"/>
                      </a:solidFill>
                      <a:prstDash val="solid"/>
                    </a:lnL>
                    <a:lnR w="10080">
                      <a:solidFill>
                        <a:srgbClr val="bbdefb"/>
                      </a:solidFill>
                      <a:prstDash val="solid"/>
                    </a:lnR>
                    <a:lnT w="10080">
                      <a:solidFill>
                        <a:srgbClr val="bbdefb"/>
                      </a:solidFill>
                      <a:prstDash val="solid"/>
                    </a:lnT>
                    <a:lnB w="10080">
                      <a:solidFill>
                        <a:srgbClr val="bbde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d1b3e"/>
                          </a:solidFill>
                          <a:uFillTx/>
                          <a:latin typeface="Calibri"/>
                        </a:rPr>
                        <a:t>2,162,002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0080">
                      <a:solidFill>
                        <a:srgbClr val="bbdefb"/>
                      </a:solidFill>
                      <a:prstDash val="solid"/>
                    </a:lnL>
                    <a:lnR w="10080">
                      <a:solidFill>
                        <a:srgbClr val="bbdefb"/>
                      </a:solidFill>
                      <a:prstDash val="solid"/>
                    </a:lnR>
                    <a:lnT w="10080">
                      <a:solidFill>
                        <a:srgbClr val="bbdefb"/>
                      </a:solidFill>
                      <a:prstDash val="solid"/>
                    </a:lnT>
                    <a:lnB w="10080">
                      <a:solidFill>
                        <a:srgbClr val="bbde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100" strike="noStrike" u="none">
                        <a:solidFill>
                          <a:schemeClr val="dk1"/>
                        </a:solidFill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0080">
                      <a:solidFill>
                        <a:srgbClr val="bbdefb"/>
                      </a:solidFill>
                      <a:prstDash val="solid"/>
                    </a:lnL>
                    <a:lnR w="10080">
                      <a:solidFill>
                        <a:srgbClr val="bbdefb"/>
                      </a:solidFill>
                      <a:prstDash val="solid"/>
                    </a:lnR>
                    <a:lnT w="10080">
                      <a:solidFill>
                        <a:srgbClr val="bbdefb"/>
                      </a:solidFill>
                      <a:prstDash val="solid"/>
                    </a:lnT>
                    <a:lnB w="10080">
                      <a:solidFill>
                        <a:srgbClr val="bbde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d1b3e"/>
                          </a:solidFill>
                          <a:uFillTx/>
                          <a:latin typeface="Calibri"/>
                        </a:rPr>
                        <a:t>K=4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0080">
                      <a:solidFill>
                        <a:srgbClr val="bbdefb"/>
                      </a:solidFill>
                      <a:prstDash val="solid"/>
                    </a:lnL>
                    <a:lnR w="10080">
                      <a:solidFill>
                        <a:srgbClr val="bbdefb"/>
                      </a:solidFill>
                      <a:prstDash val="solid"/>
                    </a:lnR>
                    <a:lnT w="10080">
                      <a:solidFill>
                        <a:srgbClr val="bbdefb"/>
                      </a:solidFill>
                      <a:prstDash val="solid"/>
                    </a:lnT>
                    <a:lnB w="10080">
                      <a:solidFill>
                        <a:srgbClr val="bbde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d1b3e"/>
                          </a:solidFill>
                          <a:uFillTx/>
                          <a:latin typeface="Calibri"/>
                        </a:rPr>
                        <a:t>0.3543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0080">
                      <a:solidFill>
                        <a:srgbClr val="bbdefb"/>
                      </a:solidFill>
                      <a:prstDash val="solid"/>
                    </a:lnL>
                    <a:lnR w="10080">
                      <a:solidFill>
                        <a:srgbClr val="bbdefb"/>
                      </a:solidFill>
                      <a:prstDash val="solid"/>
                    </a:lnR>
                    <a:lnT w="10080">
                      <a:solidFill>
                        <a:srgbClr val="bbdefb"/>
                      </a:solidFill>
                      <a:prstDash val="solid"/>
                    </a:lnT>
                    <a:lnB w="10080">
                      <a:solidFill>
                        <a:srgbClr val="bbde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d1b3e"/>
                          </a:solidFill>
                          <a:uFillTx/>
                          <a:latin typeface="Calibri"/>
                        </a:rPr>
                        <a:t>1,925,466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0080">
                      <a:solidFill>
                        <a:srgbClr val="bbdefb"/>
                      </a:solidFill>
                      <a:prstDash val="solid"/>
                    </a:lnL>
                    <a:lnR w="10080">
                      <a:solidFill>
                        <a:srgbClr val="bbdefb"/>
                      </a:solidFill>
                      <a:prstDash val="solid"/>
                    </a:lnR>
                    <a:lnT w="10080">
                      <a:solidFill>
                        <a:srgbClr val="bbdefb"/>
                      </a:solidFill>
                      <a:prstDash val="solid"/>
                    </a:lnT>
                    <a:lnB w="10080">
                      <a:solidFill>
                        <a:srgbClr val="bbde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100" strike="noStrike" u="none">
                        <a:solidFill>
                          <a:schemeClr val="dk1"/>
                        </a:solidFill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0080">
                      <a:solidFill>
                        <a:srgbClr val="bbdefb"/>
                      </a:solidFill>
                      <a:prstDash val="solid"/>
                    </a:lnL>
                    <a:lnR w="10080">
                      <a:solidFill>
                        <a:srgbClr val="bbdefb"/>
                      </a:solidFill>
                      <a:prstDash val="solid"/>
                    </a:lnR>
                    <a:lnT w="10080">
                      <a:solidFill>
                        <a:srgbClr val="bbdefb"/>
                      </a:solidFill>
                      <a:prstDash val="solid"/>
                    </a:lnT>
                    <a:lnB w="10080">
                      <a:solidFill>
                        <a:srgbClr val="bbde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d1b3e"/>
                          </a:solidFill>
                          <a:uFillTx/>
                          <a:latin typeface="Calibri"/>
                        </a:rPr>
                        <a:t>K=5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0080">
                      <a:solidFill>
                        <a:srgbClr val="bbdefb"/>
                      </a:solidFill>
                      <a:prstDash val="solid"/>
                    </a:lnL>
                    <a:lnR w="10080">
                      <a:solidFill>
                        <a:srgbClr val="bbdefb"/>
                      </a:solidFill>
                      <a:prstDash val="solid"/>
                    </a:lnR>
                    <a:lnT w="10080">
                      <a:solidFill>
                        <a:srgbClr val="bbdefb"/>
                      </a:solidFill>
                      <a:prstDash val="solid"/>
                    </a:lnT>
                    <a:lnB w="10080">
                      <a:solidFill>
                        <a:srgbClr val="bbde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d1b3e"/>
                          </a:solidFill>
                          <a:uFillTx/>
                          <a:latin typeface="Calibri"/>
                        </a:rPr>
                        <a:t>0.3835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0080">
                      <a:solidFill>
                        <a:srgbClr val="bbdefb"/>
                      </a:solidFill>
                      <a:prstDash val="solid"/>
                    </a:lnL>
                    <a:lnR w="10080">
                      <a:solidFill>
                        <a:srgbClr val="bbdefb"/>
                      </a:solidFill>
                      <a:prstDash val="solid"/>
                    </a:lnR>
                    <a:lnT w="10080">
                      <a:solidFill>
                        <a:srgbClr val="bbdefb"/>
                      </a:solidFill>
                      <a:prstDash val="solid"/>
                    </a:lnT>
                    <a:lnB w="10080">
                      <a:solidFill>
                        <a:srgbClr val="bbde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d1b3e"/>
                          </a:solidFill>
                          <a:uFillTx/>
                          <a:latin typeface="Calibri"/>
                        </a:rPr>
                        <a:t>1,704,315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0080">
                      <a:solidFill>
                        <a:srgbClr val="bbdefb"/>
                      </a:solidFill>
                      <a:prstDash val="solid"/>
                    </a:lnL>
                    <a:lnR w="10080">
                      <a:solidFill>
                        <a:srgbClr val="bbdefb"/>
                      </a:solidFill>
                      <a:prstDash val="solid"/>
                    </a:lnR>
                    <a:lnT w="10080">
                      <a:solidFill>
                        <a:srgbClr val="bbdefb"/>
                      </a:solidFill>
                      <a:prstDash val="solid"/>
                    </a:lnT>
                    <a:lnB w="10080">
                      <a:solidFill>
                        <a:srgbClr val="bbde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100" strike="noStrike" u="none">
                        <a:solidFill>
                          <a:schemeClr val="dk1"/>
                        </a:solidFill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0080">
                      <a:solidFill>
                        <a:srgbClr val="bbdefb"/>
                      </a:solidFill>
                      <a:prstDash val="solid"/>
                    </a:lnL>
                    <a:lnR w="10080">
                      <a:solidFill>
                        <a:srgbClr val="bbdefb"/>
                      </a:solidFill>
                      <a:prstDash val="solid"/>
                    </a:lnR>
                    <a:lnT w="10080">
                      <a:solidFill>
                        <a:srgbClr val="bbdefb"/>
                      </a:solidFill>
                      <a:prstDash val="solid"/>
                    </a:lnT>
                    <a:lnB w="10080">
                      <a:solidFill>
                        <a:srgbClr val="bbde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d1b3e"/>
                          </a:solidFill>
                          <a:uFillTx/>
                          <a:latin typeface="Calibri"/>
                        </a:rPr>
                        <a:t>K=6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0080">
                      <a:solidFill>
                        <a:srgbClr val="bbdefb"/>
                      </a:solidFill>
                      <a:prstDash val="solid"/>
                    </a:lnL>
                    <a:lnR w="10080">
                      <a:solidFill>
                        <a:srgbClr val="bbdefb"/>
                      </a:solidFill>
                      <a:prstDash val="solid"/>
                    </a:lnR>
                    <a:lnT w="10080">
                      <a:solidFill>
                        <a:srgbClr val="bbdefb"/>
                      </a:solidFill>
                      <a:prstDash val="solid"/>
                    </a:lnT>
                    <a:lnB w="10080">
                      <a:solidFill>
                        <a:srgbClr val="bbde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d1b3e"/>
                          </a:solidFill>
                          <a:uFillTx/>
                          <a:latin typeface="Calibri"/>
                        </a:rPr>
                        <a:t>0.3596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0080">
                      <a:solidFill>
                        <a:srgbClr val="bbdefb"/>
                      </a:solidFill>
                      <a:prstDash val="solid"/>
                    </a:lnL>
                    <a:lnR w="10080">
                      <a:solidFill>
                        <a:srgbClr val="bbdefb"/>
                      </a:solidFill>
                      <a:prstDash val="solid"/>
                    </a:lnR>
                    <a:lnT w="10080">
                      <a:solidFill>
                        <a:srgbClr val="bbdefb"/>
                      </a:solidFill>
                      <a:prstDash val="solid"/>
                    </a:lnT>
                    <a:lnB w="10080">
                      <a:solidFill>
                        <a:srgbClr val="bbde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d1b3e"/>
                          </a:solidFill>
                          <a:uFillTx/>
                          <a:latin typeface="Calibri"/>
                        </a:rPr>
                        <a:t>1,514,474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0080">
                      <a:solidFill>
                        <a:srgbClr val="bbdefb"/>
                      </a:solidFill>
                      <a:prstDash val="solid"/>
                    </a:lnL>
                    <a:lnR w="10080">
                      <a:solidFill>
                        <a:srgbClr val="bbdefb"/>
                      </a:solidFill>
                      <a:prstDash val="solid"/>
                    </a:lnR>
                    <a:lnT w="10080">
                      <a:solidFill>
                        <a:srgbClr val="bbdefb"/>
                      </a:solidFill>
                      <a:prstDash val="solid"/>
                    </a:lnT>
                    <a:lnB w="10080">
                      <a:solidFill>
                        <a:srgbClr val="bbde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100" strike="noStrike" u="none">
                        <a:solidFill>
                          <a:schemeClr val="dk1"/>
                        </a:solidFill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0080">
                      <a:solidFill>
                        <a:srgbClr val="bbdefb"/>
                      </a:solidFill>
                      <a:prstDash val="solid"/>
                    </a:lnL>
                    <a:lnR w="10080">
                      <a:solidFill>
                        <a:srgbClr val="bbdefb"/>
                      </a:solidFill>
                      <a:prstDash val="solid"/>
                    </a:lnR>
                    <a:lnT w="10080">
                      <a:solidFill>
                        <a:srgbClr val="bbdefb"/>
                      </a:solidFill>
                      <a:prstDash val="solid"/>
                    </a:lnT>
                    <a:lnB w="10080">
                      <a:solidFill>
                        <a:srgbClr val="bbde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d1b3e"/>
                          </a:solidFill>
                          <a:uFillTx/>
                          <a:latin typeface="Calibri"/>
                        </a:rPr>
                        <a:t>K=7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0080">
                      <a:solidFill>
                        <a:srgbClr val="bbdefb"/>
                      </a:solidFill>
                      <a:prstDash val="solid"/>
                    </a:lnL>
                    <a:lnR w="10080">
                      <a:solidFill>
                        <a:srgbClr val="bbdefb"/>
                      </a:solidFill>
                      <a:prstDash val="solid"/>
                    </a:lnR>
                    <a:lnT w="10080">
                      <a:solidFill>
                        <a:srgbClr val="bbdefb"/>
                      </a:solidFill>
                      <a:prstDash val="solid"/>
                    </a:lnT>
                    <a:lnB w="10080">
                      <a:solidFill>
                        <a:srgbClr val="bbde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d1b3e"/>
                          </a:solidFill>
                          <a:uFillTx/>
                          <a:latin typeface="Calibri"/>
                        </a:rPr>
                        <a:t>0.3979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0080">
                      <a:solidFill>
                        <a:srgbClr val="bbdefb"/>
                      </a:solidFill>
                      <a:prstDash val="solid"/>
                    </a:lnL>
                    <a:lnR w="10080">
                      <a:solidFill>
                        <a:srgbClr val="bbdefb"/>
                      </a:solidFill>
                      <a:prstDash val="solid"/>
                    </a:lnR>
                    <a:lnT w="10080">
                      <a:solidFill>
                        <a:srgbClr val="bbdefb"/>
                      </a:solidFill>
                      <a:prstDash val="solid"/>
                    </a:lnT>
                    <a:lnB w="10080">
                      <a:solidFill>
                        <a:srgbClr val="bbde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d1b3e"/>
                          </a:solidFill>
                          <a:uFillTx/>
                          <a:latin typeface="Calibri"/>
                        </a:rPr>
                        <a:t>1,282,069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0080">
                      <a:solidFill>
                        <a:srgbClr val="bbdefb"/>
                      </a:solidFill>
                      <a:prstDash val="solid"/>
                    </a:lnL>
                    <a:lnR w="10080">
                      <a:solidFill>
                        <a:srgbClr val="bbdefb"/>
                      </a:solidFill>
                      <a:prstDash val="solid"/>
                    </a:lnR>
                    <a:lnT w="10080">
                      <a:solidFill>
                        <a:srgbClr val="bbdefb"/>
                      </a:solidFill>
                      <a:prstDash val="solid"/>
                    </a:lnT>
                    <a:lnB w="10080">
                      <a:solidFill>
                        <a:srgbClr val="bbde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100" strike="noStrike" u="none">
                        <a:solidFill>
                          <a:schemeClr val="dk1"/>
                        </a:solidFill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0080">
                      <a:solidFill>
                        <a:srgbClr val="bbdefb"/>
                      </a:solidFill>
                      <a:prstDash val="solid"/>
                    </a:lnL>
                    <a:lnR w="10080">
                      <a:solidFill>
                        <a:srgbClr val="bbdefb"/>
                      </a:solidFill>
                      <a:prstDash val="solid"/>
                    </a:lnR>
                    <a:lnT w="10080">
                      <a:solidFill>
                        <a:srgbClr val="bbdefb"/>
                      </a:solidFill>
                      <a:prstDash val="solid"/>
                    </a:lnT>
                    <a:lnB w="10080">
                      <a:solidFill>
                        <a:srgbClr val="bbde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d1b3e"/>
                          </a:solidFill>
                          <a:uFillTx/>
                          <a:latin typeface="Calibri"/>
                        </a:rPr>
                        <a:t>K=8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0080">
                      <a:solidFill>
                        <a:srgbClr val="bbdefb"/>
                      </a:solidFill>
                      <a:prstDash val="solid"/>
                    </a:lnL>
                    <a:lnR w="10080">
                      <a:solidFill>
                        <a:srgbClr val="bbdefb"/>
                      </a:solidFill>
                      <a:prstDash val="solid"/>
                    </a:lnR>
                    <a:lnT w="10080">
                      <a:solidFill>
                        <a:srgbClr val="bbdefb"/>
                      </a:solidFill>
                      <a:prstDash val="solid"/>
                    </a:lnT>
                    <a:lnB w="10080">
                      <a:solidFill>
                        <a:srgbClr val="bbde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d1b3e"/>
                          </a:solidFill>
                          <a:uFillTx/>
                          <a:latin typeface="Calibri"/>
                        </a:rPr>
                        <a:t>0.4384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0080">
                      <a:solidFill>
                        <a:srgbClr val="bbdefb"/>
                      </a:solidFill>
                      <a:prstDash val="solid"/>
                    </a:lnL>
                    <a:lnR w="10080">
                      <a:solidFill>
                        <a:srgbClr val="bbdefb"/>
                      </a:solidFill>
                      <a:prstDash val="solid"/>
                    </a:lnR>
                    <a:lnT w="10080">
                      <a:solidFill>
                        <a:srgbClr val="bbdefb"/>
                      </a:solidFill>
                      <a:prstDash val="solid"/>
                    </a:lnT>
                    <a:lnB w="10080">
                      <a:solidFill>
                        <a:srgbClr val="bbde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d1b3e"/>
                          </a:solidFill>
                          <a:uFillTx/>
                          <a:latin typeface="Calibri"/>
                        </a:rPr>
                        <a:t>1,109,180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0080">
                      <a:solidFill>
                        <a:srgbClr val="bbdefb"/>
                      </a:solidFill>
                      <a:prstDash val="solid"/>
                    </a:lnL>
                    <a:lnR w="10080">
                      <a:solidFill>
                        <a:srgbClr val="bbdefb"/>
                      </a:solidFill>
                      <a:prstDash val="solid"/>
                    </a:lnR>
                    <a:lnT w="10080">
                      <a:solidFill>
                        <a:srgbClr val="bbdefb"/>
                      </a:solidFill>
                      <a:prstDash val="solid"/>
                    </a:lnT>
                    <a:lnB w="10080">
                      <a:solidFill>
                        <a:srgbClr val="bbde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100" strike="noStrike" u="none">
                        <a:solidFill>
                          <a:schemeClr val="dk1"/>
                        </a:solidFill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0080">
                      <a:solidFill>
                        <a:srgbClr val="bbdefb"/>
                      </a:solidFill>
                      <a:prstDash val="solid"/>
                    </a:lnL>
                    <a:lnR w="10080">
                      <a:solidFill>
                        <a:srgbClr val="bbdefb"/>
                      </a:solidFill>
                      <a:prstDash val="solid"/>
                    </a:lnR>
                    <a:lnT w="10080">
                      <a:solidFill>
                        <a:srgbClr val="bbdefb"/>
                      </a:solidFill>
                      <a:prstDash val="solid"/>
                    </a:lnT>
                    <a:lnB w="10080">
                      <a:solidFill>
                        <a:srgbClr val="bbde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0d1b3e"/>
                          </a:solidFill>
                          <a:uFillTx/>
                          <a:latin typeface="Calibri"/>
                        </a:rPr>
                        <a:t>K=9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0080">
                      <a:solidFill>
                        <a:srgbClr val="bbdefb"/>
                      </a:solidFill>
                      <a:prstDash val="solid"/>
                    </a:lnL>
                    <a:lnR w="10080">
                      <a:solidFill>
                        <a:srgbClr val="bbdefb"/>
                      </a:solidFill>
                      <a:prstDash val="solid"/>
                    </a:lnR>
                    <a:lnT w="10080">
                      <a:solidFill>
                        <a:srgbClr val="bbdefb"/>
                      </a:solidFill>
                      <a:prstDash val="solid"/>
                    </a:lnT>
                    <a:lnB w="10080">
                      <a:solidFill>
                        <a:srgbClr val="bbdefb"/>
                      </a:solidFill>
                      <a:prstDash val="soli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0d1b3e"/>
                          </a:solidFill>
                          <a:uFillTx/>
                          <a:latin typeface="Calibri"/>
                        </a:rPr>
                        <a:t>0.4570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0080">
                      <a:solidFill>
                        <a:srgbClr val="bbdefb"/>
                      </a:solidFill>
                      <a:prstDash val="solid"/>
                    </a:lnL>
                    <a:lnR w="10080">
                      <a:solidFill>
                        <a:srgbClr val="bbdefb"/>
                      </a:solidFill>
                      <a:prstDash val="solid"/>
                    </a:lnR>
                    <a:lnT w="10080">
                      <a:solidFill>
                        <a:srgbClr val="bbdefb"/>
                      </a:solidFill>
                      <a:prstDash val="solid"/>
                    </a:lnT>
                    <a:lnB w="10080">
                      <a:solidFill>
                        <a:srgbClr val="bbdefb"/>
                      </a:solidFill>
                      <a:prstDash val="soli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0d1b3e"/>
                          </a:solidFill>
                          <a:uFillTx/>
                          <a:latin typeface="Calibri"/>
                        </a:rPr>
                        <a:t>1,001,840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0080">
                      <a:solidFill>
                        <a:srgbClr val="bbdefb"/>
                      </a:solidFill>
                      <a:prstDash val="solid"/>
                    </a:lnL>
                    <a:lnR w="10080">
                      <a:solidFill>
                        <a:srgbClr val="bbdefb"/>
                      </a:solidFill>
                      <a:prstDash val="solid"/>
                    </a:lnR>
                    <a:lnT w="10080">
                      <a:solidFill>
                        <a:srgbClr val="bbdefb"/>
                      </a:solidFill>
                      <a:prstDash val="solid"/>
                    </a:lnT>
                    <a:lnB w="10080">
                      <a:solidFill>
                        <a:srgbClr val="bbdefb"/>
                      </a:solidFill>
                      <a:prstDash val="soli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2e7d32"/>
                          </a:solidFill>
                          <a:uFillTx/>
                          <a:latin typeface="Calibri"/>
                        </a:rPr>
                        <a:t>★ </a:t>
                      </a:r>
                      <a:r>
                        <a:rPr b="1" lang="en-US" sz="1100" strike="noStrike" u="none">
                          <a:solidFill>
                            <a:srgbClr val="2e7d32"/>
                          </a:solidFill>
                          <a:uFillTx/>
                          <a:latin typeface="Calibri"/>
                        </a:rPr>
                        <a:t>BEST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0080">
                      <a:solidFill>
                        <a:srgbClr val="bbdefb"/>
                      </a:solidFill>
                      <a:prstDash val="solid"/>
                    </a:lnL>
                    <a:lnR w="10080">
                      <a:solidFill>
                        <a:srgbClr val="bbdefb"/>
                      </a:solidFill>
                      <a:prstDash val="solid"/>
                    </a:lnR>
                    <a:lnT w="10080">
                      <a:solidFill>
                        <a:srgbClr val="bbdefb"/>
                      </a:solidFill>
                      <a:prstDash val="solid"/>
                    </a:lnT>
                    <a:lnB w="10080">
                      <a:solidFill>
                        <a:srgbClr val="bbdefb"/>
                      </a:solidFill>
                      <a:prstDash val="solid"/>
                    </a:lnB>
                    <a:solidFill>
                      <a:srgbClr val="e3f2fd"/>
                    </a:solidFill>
                  </a:tcPr>
                </a:tc>
              </a:tr>
              <a:tr h="393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d1b3e"/>
                          </a:solidFill>
                          <a:uFillTx/>
                          <a:latin typeface="Calibri"/>
                        </a:rPr>
                        <a:t>K=10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0080">
                      <a:solidFill>
                        <a:srgbClr val="bbdefb"/>
                      </a:solidFill>
                      <a:prstDash val="solid"/>
                    </a:lnL>
                    <a:lnR w="10080">
                      <a:solidFill>
                        <a:srgbClr val="bbdefb"/>
                      </a:solidFill>
                      <a:prstDash val="solid"/>
                    </a:lnR>
                    <a:lnT w="10080">
                      <a:solidFill>
                        <a:srgbClr val="bbdefb"/>
                      </a:solidFill>
                      <a:prstDash val="solid"/>
                    </a:lnT>
                    <a:lnB w="10080">
                      <a:solidFill>
                        <a:srgbClr val="bbde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d1b3e"/>
                          </a:solidFill>
                          <a:uFillTx/>
                          <a:latin typeface="Calibri"/>
                        </a:rPr>
                        <a:t>0.3718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0080">
                      <a:solidFill>
                        <a:srgbClr val="bbdefb"/>
                      </a:solidFill>
                      <a:prstDash val="solid"/>
                    </a:lnL>
                    <a:lnR w="10080">
                      <a:solidFill>
                        <a:srgbClr val="bbdefb"/>
                      </a:solidFill>
                      <a:prstDash val="solid"/>
                    </a:lnR>
                    <a:lnT w="10080">
                      <a:solidFill>
                        <a:srgbClr val="bbdefb"/>
                      </a:solidFill>
                      <a:prstDash val="solid"/>
                    </a:lnT>
                    <a:lnB w="10080">
                      <a:solidFill>
                        <a:srgbClr val="bbde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d1b3e"/>
                          </a:solidFill>
                          <a:uFillTx/>
                          <a:latin typeface="Calibri"/>
                        </a:rPr>
                        <a:t>1,030,460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0080">
                      <a:solidFill>
                        <a:srgbClr val="bbdefb"/>
                      </a:solidFill>
                      <a:prstDash val="solid"/>
                    </a:lnL>
                    <a:lnR w="10080">
                      <a:solidFill>
                        <a:srgbClr val="bbdefb"/>
                      </a:solidFill>
                      <a:prstDash val="solid"/>
                    </a:lnR>
                    <a:lnT w="10080">
                      <a:solidFill>
                        <a:srgbClr val="bbdefb"/>
                      </a:solidFill>
                      <a:prstDash val="solid"/>
                    </a:lnT>
                    <a:lnB w="10080">
                      <a:solidFill>
                        <a:srgbClr val="bbde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100" strike="noStrike" u="none">
                        <a:solidFill>
                          <a:schemeClr val="dk1"/>
                        </a:solidFill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0080">
                      <a:solidFill>
                        <a:srgbClr val="bbdefb"/>
                      </a:solidFill>
                      <a:prstDash val="solid"/>
                    </a:lnL>
                    <a:lnR w="10080">
                      <a:solidFill>
                        <a:srgbClr val="bbdefb"/>
                      </a:solidFill>
                      <a:prstDash val="solid"/>
                    </a:lnR>
                    <a:lnT w="10080">
                      <a:solidFill>
                        <a:srgbClr val="bbdefb"/>
                      </a:solidFill>
                      <a:prstDash val="solid"/>
                    </a:lnT>
                    <a:lnB w="10080">
                      <a:solidFill>
                        <a:srgbClr val="bbde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d1b3e"/>
                          </a:solidFill>
                          <a:uFillTx/>
                          <a:latin typeface="Calibri"/>
                        </a:rPr>
                        <a:t>K=11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0080">
                      <a:solidFill>
                        <a:srgbClr val="bbdefb"/>
                      </a:solidFill>
                      <a:prstDash val="solid"/>
                    </a:lnL>
                    <a:lnR w="10080">
                      <a:solidFill>
                        <a:srgbClr val="bbdefb"/>
                      </a:solidFill>
                      <a:prstDash val="solid"/>
                    </a:lnR>
                    <a:lnT w="10080">
                      <a:solidFill>
                        <a:srgbClr val="bbdefb"/>
                      </a:solidFill>
                      <a:prstDash val="solid"/>
                    </a:lnT>
                    <a:lnB w="10080">
                      <a:solidFill>
                        <a:srgbClr val="bbde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d1b3e"/>
                          </a:solidFill>
                          <a:uFillTx/>
                          <a:latin typeface="Calibri"/>
                        </a:rPr>
                        <a:t>0.4076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0080">
                      <a:solidFill>
                        <a:srgbClr val="bbdefb"/>
                      </a:solidFill>
                      <a:prstDash val="solid"/>
                    </a:lnL>
                    <a:lnR w="10080">
                      <a:solidFill>
                        <a:srgbClr val="bbdefb"/>
                      </a:solidFill>
                      <a:prstDash val="solid"/>
                    </a:lnR>
                    <a:lnT w="10080">
                      <a:solidFill>
                        <a:srgbClr val="bbdefb"/>
                      </a:solidFill>
                      <a:prstDash val="solid"/>
                    </a:lnT>
                    <a:lnB w="10080">
                      <a:solidFill>
                        <a:srgbClr val="bbde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d1b3e"/>
                          </a:solidFill>
                          <a:uFillTx/>
                          <a:latin typeface="Calibri"/>
                        </a:rPr>
                        <a:t>914,143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0080">
                      <a:solidFill>
                        <a:srgbClr val="bbdefb"/>
                      </a:solidFill>
                      <a:prstDash val="solid"/>
                    </a:lnL>
                    <a:lnR w="10080">
                      <a:solidFill>
                        <a:srgbClr val="bbdefb"/>
                      </a:solidFill>
                      <a:prstDash val="solid"/>
                    </a:lnR>
                    <a:lnT w="10080">
                      <a:solidFill>
                        <a:srgbClr val="bbdefb"/>
                      </a:solidFill>
                      <a:prstDash val="solid"/>
                    </a:lnT>
                    <a:lnB w="10080">
                      <a:solidFill>
                        <a:srgbClr val="bbde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100" strike="noStrike" u="none">
                        <a:solidFill>
                          <a:schemeClr val="dk1"/>
                        </a:solidFill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0080">
                      <a:solidFill>
                        <a:srgbClr val="bbdefb"/>
                      </a:solidFill>
                      <a:prstDash val="solid"/>
                    </a:lnL>
                    <a:lnR w="10080">
                      <a:solidFill>
                        <a:srgbClr val="bbdefb"/>
                      </a:solidFill>
                      <a:prstDash val="solid"/>
                    </a:lnR>
                    <a:lnT w="10080">
                      <a:solidFill>
                        <a:srgbClr val="bbdefb"/>
                      </a:solidFill>
                      <a:prstDash val="solid"/>
                    </a:lnT>
                    <a:lnB w="10080">
                      <a:solidFill>
                        <a:srgbClr val="bbde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6" name="Text 2"/>
          <p:cNvSpPr/>
          <p:nvPr/>
        </p:nvSpPr>
        <p:spPr>
          <a:xfrm>
            <a:off x="4846320" y="100584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Final Model Performance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7" name="Shape 3"/>
          <p:cNvSpPr/>
          <p:nvPr/>
        </p:nvSpPr>
        <p:spPr>
          <a:xfrm>
            <a:off x="4846320" y="1463040"/>
            <a:ext cx="3840120" cy="383760"/>
          </a:xfrm>
          <a:prstGeom prst="rect">
            <a:avLst/>
          </a:prstGeom>
          <a:solidFill>
            <a:srgbClr val="f0f7ff"/>
          </a:solidFill>
          <a:ln w="6350">
            <a:solidFill>
              <a:srgbClr val="bbde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8" name="Text 4"/>
          <p:cNvSpPr/>
          <p:nvPr/>
        </p:nvSpPr>
        <p:spPr>
          <a:xfrm>
            <a:off x="4919400" y="1490400"/>
            <a:ext cx="1919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Best K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9" name="Text 5"/>
          <p:cNvSpPr/>
          <p:nvPr/>
        </p:nvSpPr>
        <p:spPr>
          <a:xfrm>
            <a:off x="6858000" y="1490400"/>
            <a:ext cx="1782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565c0"/>
                </a:solidFill>
                <a:uFillTx/>
                <a:latin typeface="Calibri"/>
                <a:ea typeface="Calibri"/>
              </a:rPr>
              <a:t>9 Clusters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0" name="Shape 6"/>
          <p:cNvSpPr/>
          <p:nvPr/>
        </p:nvSpPr>
        <p:spPr>
          <a:xfrm>
            <a:off x="4846320" y="1874520"/>
            <a:ext cx="3840120" cy="38376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1" name="Text 7"/>
          <p:cNvSpPr/>
          <p:nvPr/>
        </p:nvSpPr>
        <p:spPr>
          <a:xfrm>
            <a:off x="4919400" y="1901880"/>
            <a:ext cx="1919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Silhouette Score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2" name="Text 8"/>
          <p:cNvSpPr/>
          <p:nvPr/>
        </p:nvSpPr>
        <p:spPr>
          <a:xfrm>
            <a:off x="6858000" y="1901880"/>
            <a:ext cx="1782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565c0"/>
                </a:solidFill>
                <a:uFillTx/>
                <a:latin typeface="Calibri"/>
                <a:ea typeface="Calibri"/>
              </a:rPr>
              <a:t>0.4570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3" name="Shape 9"/>
          <p:cNvSpPr/>
          <p:nvPr/>
        </p:nvSpPr>
        <p:spPr>
          <a:xfrm>
            <a:off x="4846320" y="2286000"/>
            <a:ext cx="3840120" cy="383760"/>
          </a:xfrm>
          <a:prstGeom prst="rect">
            <a:avLst/>
          </a:prstGeom>
          <a:solidFill>
            <a:srgbClr val="f0f7ff"/>
          </a:solidFill>
          <a:ln w="6350">
            <a:solidFill>
              <a:srgbClr val="bbde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4" name="Text 10"/>
          <p:cNvSpPr/>
          <p:nvPr/>
        </p:nvSpPr>
        <p:spPr>
          <a:xfrm>
            <a:off x="4919400" y="2313360"/>
            <a:ext cx="1919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WSSSE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5" name="Text 11"/>
          <p:cNvSpPr/>
          <p:nvPr/>
        </p:nvSpPr>
        <p:spPr>
          <a:xfrm>
            <a:off x="6858000" y="2313360"/>
            <a:ext cx="1782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565c0"/>
                </a:solidFill>
                <a:uFillTx/>
                <a:latin typeface="Calibri"/>
                <a:ea typeface="Calibri"/>
              </a:rPr>
              <a:t>1,001,840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6" name="Shape 12"/>
          <p:cNvSpPr/>
          <p:nvPr/>
        </p:nvSpPr>
        <p:spPr>
          <a:xfrm>
            <a:off x="4846320" y="2697480"/>
            <a:ext cx="3840120" cy="38376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7" name="Text 13"/>
          <p:cNvSpPr/>
          <p:nvPr/>
        </p:nvSpPr>
        <p:spPr>
          <a:xfrm>
            <a:off x="4919400" y="2724840"/>
            <a:ext cx="1919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Training Iterations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8" name="Text 14"/>
          <p:cNvSpPr/>
          <p:nvPr/>
        </p:nvSpPr>
        <p:spPr>
          <a:xfrm>
            <a:off x="6858000" y="2724840"/>
            <a:ext cx="1782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565c0"/>
                </a:solidFill>
                <a:uFillTx/>
                <a:latin typeface="Calibri"/>
                <a:ea typeface="Calibri"/>
              </a:rPr>
              <a:t>30 (converged &lt; maxIter=50)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9" name="Shape 15"/>
          <p:cNvSpPr/>
          <p:nvPr/>
        </p:nvSpPr>
        <p:spPr>
          <a:xfrm>
            <a:off x="4846320" y="3108960"/>
            <a:ext cx="3840120" cy="383760"/>
          </a:xfrm>
          <a:prstGeom prst="rect">
            <a:avLst/>
          </a:prstGeom>
          <a:solidFill>
            <a:srgbClr val="f0f7ff"/>
          </a:solidFill>
          <a:ln w="6350">
            <a:solidFill>
              <a:srgbClr val="bbde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0" name="Text 16"/>
          <p:cNvSpPr/>
          <p:nvPr/>
        </p:nvSpPr>
        <p:spPr>
          <a:xfrm>
            <a:off x="4919400" y="3136320"/>
            <a:ext cx="1919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Training Time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1" name="Text 17"/>
          <p:cNvSpPr/>
          <p:nvPr/>
        </p:nvSpPr>
        <p:spPr>
          <a:xfrm>
            <a:off x="6858000" y="3136320"/>
            <a:ext cx="1782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565c0"/>
                </a:solidFill>
                <a:uFillTx/>
                <a:latin typeface="Calibri"/>
                <a:ea typeface="Calibri"/>
              </a:rPr>
              <a:t>~18 seconds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2" name="Shape 18"/>
          <p:cNvSpPr/>
          <p:nvPr/>
        </p:nvSpPr>
        <p:spPr>
          <a:xfrm>
            <a:off x="4846320" y="3520440"/>
            <a:ext cx="3840120" cy="38376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3" name="Text 19"/>
          <p:cNvSpPr/>
          <p:nvPr/>
        </p:nvSpPr>
        <p:spPr>
          <a:xfrm>
            <a:off x="4919400" y="3547800"/>
            <a:ext cx="1919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Total Pipeline Time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4" name="Text 20"/>
          <p:cNvSpPr/>
          <p:nvPr/>
        </p:nvSpPr>
        <p:spPr>
          <a:xfrm>
            <a:off x="6858000" y="3547800"/>
            <a:ext cx="1782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565c0"/>
                </a:solidFill>
                <a:uFillTx/>
                <a:latin typeface="Calibri"/>
                <a:ea typeface="Calibri"/>
              </a:rPr>
              <a:t>~202 seconds (K=3→11 + final)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5" name="Shape 21"/>
          <p:cNvSpPr/>
          <p:nvPr/>
        </p:nvSpPr>
        <p:spPr>
          <a:xfrm>
            <a:off x="4846320" y="3931920"/>
            <a:ext cx="3840120" cy="383760"/>
          </a:xfrm>
          <a:prstGeom prst="rect">
            <a:avLst/>
          </a:prstGeom>
          <a:solidFill>
            <a:srgbClr val="f0f7ff"/>
          </a:solidFill>
          <a:ln w="6350">
            <a:solidFill>
              <a:srgbClr val="bbde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6" name="Text 22"/>
          <p:cNvSpPr/>
          <p:nvPr/>
        </p:nvSpPr>
        <p:spPr>
          <a:xfrm>
            <a:off x="4919400" y="3959280"/>
            <a:ext cx="1919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Records Processed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7" name="Text 23"/>
          <p:cNvSpPr/>
          <p:nvPr/>
        </p:nvSpPr>
        <p:spPr>
          <a:xfrm>
            <a:off x="6858000" y="3959280"/>
            <a:ext cx="1782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565c0"/>
                </a:solidFill>
                <a:uFillTx/>
                <a:latin typeface="Calibri"/>
                <a:ea typeface="Calibri"/>
              </a:rPr>
              <a:t>500,000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8" name="Shape 24"/>
          <p:cNvSpPr/>
          <p:nvPr/>
        </p:nvSpPr>
        <p:spPr>
          <a:xfrm>
            <a:off x="4846320" y="4343400"/>
            <a:ext cx="3840120" cy="38376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9" name="Text 25"/>
          <p:cNvSpPr/>
          <p:nvPr/>
        </p:nvSpPr>
        <p:spPr>
          <a:xfrm>
            <a:off x="4919400" y="4370760"/>
            <a:ext cx="1919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Initialization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0" name="Text 26"/>
          <p:cNvSpPr/>
          <p:nvPr/>
        </p:nvSpPr>
        <p:spPr>
          <a:xfrm>
            <a:off x="6858000" y="4370760"/>
            <a:ext cx="1782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565c0"/>
                </a:solidFill>
                <a:uFillTx/>
                <a:latin typeface="Calibri"/>
                <a:ea typeface="Calibri"/>
              </a:rPr>
              <a:t>k-means|| parallel seeding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Text 0"/>
          <p:cNvSpPr/>
          <p:nvPr/>
        </p:nvSpPr>
        <p:spPr>
          <a:xfrm>
            <a:off x="457200" y="2559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Crop Recommendation Output — 9 Agro-Climatic Zones (K=9)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2" name="Shape 1"/>
          <p:cNvSpPr/>
          <p:nvPr/>
        </p:nvSpPr>
        <p:spPr>
          <a:xfrm>
            <a:off x="457200" y="887040"/>
            <a:ext cx="8229240" cy="27000"/>
          </a:xfrm>
          <a:prstGeom prst="rect">
            <a:avLst/>
          </a:prstGeom>
          <a:solidFill>
            <a:srgbClr val="42a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73" name="Shape 2"/>
          <p:cNvSpPr/>
          <p:nvPr/>
        </p:nvSpPr>
        <p:spPr>
          <a:xfrm>
            <a:off x="320040" y="1024200"/>
            <a:ext cx="1215720" cy="347040"/>
          </a:xfrm>
          <a:prstGeom prst="rect">
            <a:avLst/>
          </a:prstGeom>
          <a:solidFill>
            <a:srgbClr val="0d47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74" name="Text 3"/>
          <p:cNvSpPr/>
          <p:nvPr/>
        </p:nvSpPr>
        <p:spPr>
          <a:xfrm>
            <a:off x="320040" y="1024200"/>
            <a:ext cx="1215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Crop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5" name="Shape 4"/>
          <p:cNvSpPr/>
          <p:nvPr/>
        </p:nvSpPr>
        <p:spPr>
          <a:xfrm>
            <a:off x="1536120" y="1024200"/>
            <a:ext cx="1215720" cy="347040"/>
          </a:xfrm>
          <a:prstGeom prst="rect">
            <a:avLst/>
          </a:prstGeom>
          <a:solidFill>
            <a:srgbClr val="0d47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76" name="Text 5"/>
          <p:cNvSpPr/>
          <p:nvPr/>
        </p:nvSpPr>
        <p:spPr>
          <a:xfrm>
            <a:off x="1536120" y="1024200"/>
            <a:ext cx="1215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Cluster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7" name="Shape 6"/>
          <p:cNvSpPr/>
          <p:nvPr/>
        </p:nvSpPr>
        <p:spPr>
          <a:xfrm>
            <a:off x="2752200" y="1024200"/>
            <a:ext cx="1215720" cy="347040"/>
          </a:xfrm>
          <a:prstGeom prst="rect">
            <a:avLst/>
          </a:prstGeom>
          <a:solidFill>
            <a:srgbClr val="0d47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78" name="Text 7"/>
          <p:cNvSpPr/>
          <p:nvPr/>
        </p:nvSpPr>
        <p:spPr>
          <a:xfrm>
            <a:off x="2752200" y="1024200"/>
            <a:ext cx="1215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Records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9" name="Shape 8"/>
          <p:cNvSpPr/>
          <p:nvPr/>
        </p:nvSpPr>
        <p:spPr>
          <a:xfrm>
            <a:off x="3968640" y="1024200"/>
            <a:ext cx="1215720" cy="347040"/>
          </a:xfrm>
          <a:prstGeom prst="rect">
            <a:avLst/>
          </a:prstGeom>
          <a:solidFill>
            <a:srgbClr val="0d47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80" name="Text 9"/>
          <p:cNvSpPr/>
          <p:nvPr/>
        </p:nvSpPr>
        <p:spPr>
          <a:xfrm>
            <a:off x="3968640" y="1024200"/>
            <a:ext cx="1215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Avg Temp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1" name="Shape 10"/>
          <p:cNvSpPr/>
          <p:nvPr/>
        </p:nvSpPr>
        <p:spPr>
          <a:xfrm>
            <a:off x="5184720" y="1024200"/>
            <a:ext cx="1215720" cy="347040"/>
          </a:xfrm>
          <a:prstGeom prst="rect">
            <a:avLst/>
          </a:prstGeom>
          <a:solidFill>
            <a:srgbClr val="0d47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82" name="Text 11"/>
          <p:cNvSpPr/>
          <p:nvPr/>
        </p:nvSpPr>
        <p:spPr>
          <a:xfrm>
            <a:off x="5184720" y="1024200"/>
            <a:ext cx="1215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Humidity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3" name="Shape 12"/>
          <p:cNvSpPr/>
          <p:nvPr/>
        </p:nvSpPr>
        <p:spPr>
          <a:xfrm>
            <a:off x="6400800" y="1024200"/>
            <a:ext cx="1215720" cy="347040"/>
          </a:xfrm>
          <a:prstGeom prst="rect">
            <a:avLst/>
          </a:prstGeom>
          <a:solidFill>
            <a:srgbClr val="0d47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84" name="Text 13"/>
          <p:cNvSpPr/>
          <p:nvPr/>
        </p:nvSpPr>
        <p:spPr>
          <a:xfrm>
            <a:off x="6400800" y="1024200"/>
            <a:ext cx="1215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Rainfall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5" name="Shape 14"/>
          <p:cNvSpPr/>
          <p:nvPr/>
        </p:nvSpPr>
        <p:spPr>
          <a:xfrm>
            <a:off x="7616880" y="1024200"/>
            <a:ext cx="1215720" cy="347040"/>
          </a:xfrm>
          <a:prstGeom prst="rect">
            <a:avLst/>
          </a:prstGeom>
          <a:solidFill>
            <a:srgbClr val="0d47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86" name="Text 15"/>
          <p:cNvSpPr/>
          <p:nvPr/>
        </p:nvSpPr>
        <p:spPr>
          <a:xfrm>
            <a:off x="7616880" y="1024200"/>
            <a:ext cx="1215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Avg N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7" name="Shape 16"/>
          <p:cNvSpPr/>
          <p:nvPr/>
        </p:nvSpPr>
        <p:spPr>
          <a:xfrm>
            <a:off x="320040" y="1398960"/>
            <a:ext cx="8512560" cy="3837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8" name="Shape 17"/>
          <p:cNvSpPr/>
          <p:nvPr/>
        </p:nvSpPr>
        <p:spPr>
          <a:xfrm>
            <a:off x="320040" y="1398960"/>
            <a:ext cx="109440" cy="383760"/>
          </a:xfrm>
          <a:prstGeom prst="rect">
            <a:avLst/>
          </a:prstGeom>
          <a:solidFill>
            <a:srgbClr val="f57f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89" name="Text 18"/>
          <p:cNvSpPr/>
          <p:nvPr/>
        </p:nvSpPr>
        <p:spPr>
          <a:xfrm>
            <a:off x="320040" y="141732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57f17"/>
                </a:solidFill>
                <a:uFillTx/>
                <a:latin typeface="Calibri"/>
                <a:ea typeface="Calibri"/>
              </a:rPr>
              <a:t>Mango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0" name="Text 19"/>
          <p:cNvSpPr/>
          <p:nvPr/>
        </p:nvSpPr>
        <p:spPr>
          <a:xfrm>
            <a:off x="1536120" y="141732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C-0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1" name="Text 20"/>
          <p:cNvSpPr/>
          <p:nvPr/>
        </p:nvSpPr>
        <p:spPr>
          <a:xfrm>
            <a:off x="2752200" y="141732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18,937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2" name="Text 21"/>
          <p:cNvSpPr/>
          <p:nvPr/>
        </p:nvSpPr>
        <p:spPr>
          <a:xfrm>
            <a:off x="3968640" y="141732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29.5°C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3" name="Text 22"/>
          <p:cNvSpPr/>
          <p:nvPr/>
        </p:nvSpPr>
        <p:spPr>
          <a:xfrm>
            <a:off x="5184720" y="141732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60%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4" name="Text 23"/>
          <p:cNvSpPr/>
          <p:nvPr/>
        </p:nvSpPr>
        <p:spPr>
          <a:xfrm>
            <a:off x="6400800" y="141732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120mm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5" name="Text 24"/>
          <p:cNvSpPr/>
          <p:nvPr/>
        </p:nvSpPr>
        <p:spPr>
          <a:xfrm>
            <a:off x="7616880" y="141732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25.0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6" name="Shape 25"/>
          <p:cNvSpPr/>
          <p:nvPr/>
        </p:nvSpPr>
        <p:spPr>
          <a:xfrm>
            <a:off x="320040" y="1783080"/>
            <a:ext cx="8512560" cy="383760"/>
          </a:xfrm>
          <a:prstGeom prst="rect">
            <a:avLst/>
          </a:prstGeom>
          <a:solidFill>
            <a:srgbClr val="f0f7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7" name="Shape 26"/>
          <p:cNvSpPr/>
          <p:nvPr/>
        </p:nvSpPr>
        <p:spPr>
          <a:xfrm>
            <a:off x="320040" y="1783080"/>
            <a:ext cx="109440" cy="383760"/>
          </a:xfrm>
          <a:prstGeom prst="rect">
            <a:avLst/>
          </a:prstGeom>
          <a:solidFill>
            <a:srgbClr val="558b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98" name="Text 27"/>
          <p:cNvSpPr/>
          <p:nvPr/>
        </p:nvSpPr>
        <p:spPr>
          <a:xfrm>
            <a:off x="320040" y="180144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558b2f"/>
                </a:solidFill>
                <a:uFillTx/>
                <a:latin typeface="Calibri"/>
                <a:ea typeface="Calibri"/>
              </a:rPr>
              <a:t>Maize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9" name="Text 28"/>
          <p:cNvSpPr/>
          <p:nvPr/>
        </p:nvSpPr>
        <p:spPr>
          <a:xfrm>
            <a:off x="1536120" y="180144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C-1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0" name="Text 29"/>
          <p:cNvSpPr/>
          <p:nvPr/>
        </p:nvSpPr>
        <p:spPr>
          <a:xfrm>
            <a:off x="2752200" y="180144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79,484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1" name="Text 30"/>
          <p:cNvSpPr/>
          <p:nvPr/>
        </p:nvSpPr>
        <p:spPr>
          <a:xfrm>
            <a:off x="3968640" y="180144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23.1°C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2" name="Text 31"/>
          <p:cNvSpPr/>
          <p:nvPr/>
        </p:nvSpPr>
        <p:spPr>
          <a:xfrm>
            <a:off x="5184720" y="180144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63%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3" name="Text 32"/>
          <p:cNvSpPr/>
          <p:nvPr/>
        </p:nvSpPr>
        <p:spPr>
          <a:xfrm>
            <a:off x="6400800" y="180144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111mm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4" name="Text 33"/>
          <p:cNvSpPr/>
          <p:nvPr/>
        </p:nvSpPr>
        <p:spPr>
          <a:xfrm>
            <a:off x="7616880" y="180144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100.0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5" name="Shape 34"/>
          <p:cNvSpPr/>
          <p:nvPr/>
        </p:nvSpPr>
        <p:spPr>
          <a:xfrm>
            <a:off x="320040" y="2167200"/>
            <a:ext cx="8512560" cy="3837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6" name="Shape 35"/>
          <p:cNvSpPr/>
          <p:nvPr/>
        </p:nvSpPr>
        <p:spPr>
          <a:xfrm>
            <a:off x="320040" y="2167200"/>
            <a:ext cx="109440" cy="383760"/>
          </a:xfrm>
          <a:prstGeom prst="rect">
            <a:avLst/>
          </a:prstGeom>
          <a:solidFill>
            <a:srgbClr val="4e34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07" name="Text 36"/>
          <p:cNvSpPr/>
          <p:nvPr/>
        </p:nvSpPr>
        <p:spPr>
          <a:xfrm>
            <a:off x="320040" y="218556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4e342e"/>
                </a:solidFill>
                <a:uFillTx/>
                <a:latin typeface="Calibri"/>
                <a:ea typeface="Calibri"/>
              </a:rPr>
              <a:t>Cotton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Text 37"/>
          <p:cNvSpPr/>
          <p:nvPr/>
        </p:nvSpPr>
        <p:spPr>
          <a:xfrm>
            <a:off x="1536120" y="218556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C-2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9" name="Text 38"/>
          <p:cNvSpPr/>
          <p:nvPr/>
        </p:nvSpPr>
        <p:spPr>
          <a:xfrm>
            <a:off x="2752200" y="218556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83,872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0" name="Text 39"/>
          <p:cNvSpPr/>
          <p:nvPr/>
        </p:nvSpPr>
        <p:spPr>
          <a:xfrm>
            <a:off x="3968640" y="218556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26.8°C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1" name="Text 40"/>
          <p:cNvSpPr/>
          <p:nvPr/>
        </p:nvSpPr>
        <p:spPr>
          <a:xfrm>
            <a:off x="5184720" y="218556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65%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2" name="Text 41"/>
          <p:cNvSpPr/>
          <p:nvPr/>
        </p:nvSpPr>
        <p:spPr>
          <a:xfrm>
            <a:off x="6400800" y="218556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93mm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3" name="Text 42"/>
          <p:cNvSpPr/>
          <p:nvPr/>
        </p:nvSpPr>
        <p:spPr>
          <a:xfrm>
            <a:off x="7616880" y="218556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120.3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4" name="Shape 43"/>
          <p:cNvSpPr/>
          <p:nvPr/>
        </p:nvSpPr>
        <p:spPr>
          <a:xfrm>
            <a:off x="320040" y="2551320"/>
            <a:ext cx="8512560" cy="383760"/>
          </a:xfrm>
          <a:prstGeom prst="rect">
            <a:avLst/>
          </a:prstGeom>
          <a:solidFill>
            <a:srgbClr val="f0f7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5" name="Shape 44"/>
          <p:cNvSpPr/>
          <p:nvPr/>
        </p:nvSpPr>
        <p:spPr>
          <a:xfrm>
            <a:off x="320040" y="2551320"/>
            <a:ext cx="109440" cy="383760"/>
          </a:xfrm>
          <a:prstGeom prst="rect">
            <a:avLst/>
          </a:prstGeom>
          <a:solidFill>
            <a:srgbClr val="6a1b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16" name="Text 45"/>
          <p:cNvSpPr/>
          <p:nvPr/>
        </p:nvSpPr>
        <p:spPr>
          <a:xfrm>
            <a:off x="320040" y="256932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6a1b9a"/>
                </a:solidFill>
                <a:uFillTx/>
                <a:latin typeface="Calibri"/>
                <a:ea typeface="Calibri"/>
              </a:rPr>
              <a:t>Grapes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7" name="Text 46"/>
          <p:cNvSpPr/>
          <p:nvPr/>
        </p:nvSpPr>
        <p:spPr>
          <a:xfrm>
            <a:off x="1536120" y="256932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C-3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8" name="Text 47"/>
          <p:cNvSpPr/>
          <p:nvPr/>
        </p:nvSpPr>
        <p:spPr>
          <a:xfrm>
            <a:off x="2752200" y="256932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9,025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9" name="Text 48"/>
          <p:cNvSpPr/>
          <p:nvPr/>
        </p:nvSpPr>
        <p:spPr>
          <a:xfrm>
            <a:off x="3968640" y="256932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13.0°C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0" name="Text 49"/>
          <p:cNvSpPr/>
          <p:nvPr/>
        </p:nvSpPr>
        <p:spPr>
          <a:xfrm>
            <a:off x="5184720" y="256932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60%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1" name="Text 50"/>
          <p:cNvSpPr/>
          <p:nvPr/>
        </p:nvSpPr>
        <p:spPr>
          <a:xfrm>
            <a:off x="6400800" y="256932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75mm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2" name="Text 51"/>
          <p:cNvSpPr/>
          <p:nvPr/>
        </p:nvSpPr>
        <p:spPr>
          <a:xfrm>
            <a:off x="7616880" y="256932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24.9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3" name="Shape 52"/>
          <p:cNvSpPr/>
          <p:nvPr/>
        </p:nvSpPr>
        <p:spPr>
          <a:xfrm>
            <a:off x="320040" y="2935080"/>
            <a:ext cx="8512560" cy="3837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4" name="Shape 53"/>
          <p:cNvSpPr/>
          <p:nvPr/>
        </p:nvSpPr>
        <p:spPr>
          <a:xfrm>
            <a:off x="320040" y="2935080"/>
            <a:ext cx="109440" cy="383760"/>
          </a:xfrm>
          <a:prstGeom prst="rect">
            <a:avLst/>
          </a:prstGeom>
          <a:solidFill>
            <a:srgbClr val="01579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5" name="Text 54"/>
          <p:cNvSpPr/>
          <p:nvPr/>
        </p:nvSpPr>
        <p:spPr>
          <a:xfrm>
            <a:off x="320040" y="295344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1579b"/>
                </a:solidFill>
                <a:uFillTx/>
                <a:latin typeface="Calibri"/>
                <a:ea typeface="Calibri"/>
              </a:rPr>
              <a:t>Rice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6" name="Text 55"/>
          <p:cNvSpPr/>
          <p:nvPr/>
        </p:nvSpPr>
        <p:spPr>
          <a:xfrm>
            <a:off x="1536120" y="295344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C-4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7" name="Text 56"/>
          <p:cNvSpPr/>
          <p:nvPr/>
        </p:nvSpPr>
        <p:spPr>
          <a:xfrm>
            <a:off x="2752200" y="295344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80,366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8" name="Text 57"/>
          <p:cNvSpPr/>
          <p:nvPr/>
        </p:nvSpPr>
        <p:spPr>
          <a:xfrm>
            <a:off x="3968640" y="295344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23.2°C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9" name="Text 58"/>
          <p:cNvSpPr/>
          <p:nvPr/>
        </p:nvSpPr>
        <p:spPr>
          <a:xfrm>
            <a:off x="5184720" y="295344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83%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0" name="Text 59"/>
          <p:cNvSpPr/>
          <p:nvPr/>
        </p:nvSpPr>
        <p:spPr>
          <a:xfrm>
            <a:off x="6400800" y="295344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213mm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1" name="Text 60"/>
          <p:cNvSpPr/>
          <p:nvPr/>
        </p:nvSpPr>
        <p:spPr>
          <a:xfrm>
            <a:off x="7616880" y="295344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82.6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2" name="Shape 61"/>
          <p:cNvSpPr/>
          <p:nvPr/>
        </p:nvSpPr>
        <p:spPr>
          <a:xfrm>
            <a:off x="320040" y="3319200"/>
            <a:ext cx="8512560" cy="383760"/>
          </a:xfrm>
          <a:prstGeom prst="rect">
            <a:avLst/>
          </a:prstGeom>
          <a:solidFill>
            <a:srgbClr val="f0f7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3" name="Shape 62"/>
          <p:cNvSpPr/>
          <p:nvPr/>
        </p:nvSpPr>
        <p:spPr>
          <a:xfrm>
            <a:off x="320040" y="3319200"/>
            <a:ext cx="109440" cy="383760"/>
          </a:xfrm>
          <a:prstGeom prst="rect">
            <a:avLst/>
          </a:prstGeom>
          <a:solidFill>
            <a:srgbClr val="e651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34" name="Text 63"/>
          <p:cNvSpPr/>
          <p:nvPr/>
        </p:nvSpPr>
        <p:spPr>
          <a:xfrm>
            <a:off x="320040" y="333756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e65100"/>
                </a:solidFill>
                <a:uFillTx/>
                <a:latin typeface="Calibri"/>
                <a:ea typeface="Calibri"/>
              </a:rPr>
              <a:t>Wheat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5" name="Text 64"/>
          <p:cNvSpPr/>
          <p:nvPr/>
        </p:nvSpPr>
        <p:spPr>
          <a:xfrm>
            <a:off x="1536120" y="333756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C-5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6" name="Text 65"/>
          <p:cNvSpPr/>
          <p:nvPr/>
        </p:nvSpPr>
        <p:spPr>
          <a:xfrm>
            <a:off x="2752200" y="333756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71,033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7" name="Text 66"/>
          <p:cNvSpPr/>
          <p:nvPr/>
        </p:nvSpPr>
        <p:spPr>
          <a:xfrm>
            <a:off x="3968640" y="333756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15.1°C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8" name="Text 67"/>
          <p:cNvSpPr/>
          <p:nvPr/>
        </p:nvSpPr>
        <p:spPr>
          <a:xfrm>
            <a:off x="5184720" y="333756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60%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9" name="Text 68"/>
          <p:cNvSpPr/>
          <p:nvPr/>
        </p:nvSpPr>
        <p:spPr>
          <a:xfrm>
            <a:off x="6400800" y="333756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77mm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0" name="Text 69"/>
          <p:cNvSpPr/>
          <p:nvPr/>
        </p:nvSpPr>
        <p:spPr>
          <a:xfrm>
            <a:off x="7616880" y="333756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99.7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1" name="Shape 70"/>
          <p:cNvSpPr/>
          <p:nvPr/>
        </p:nvSpPr>
        <p:spPr>
          <a:xfrm>
            <a:off x="320040" y="3703320"/>
            <a:ext cx="8512560" cy="3837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2" name="Shape 71"/>
          <p:cNvSpPr/>
          <p:nvPr/>
        </p:nvSpPr>
        <p:spPr>
          <a:xfrm>
            <a:off x="320040" y="3703320"/>
            <a:ext cx="109440" cy="383760"/>
          </a:xfrm>
          <a:prstGeom prst="rect">
            <a:avLst/>
          </a:prstGeom>
          <a:solidFill>
            <a:srgbClr val="006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43" name="Text 72"/>
          <p:cNvSpPr/>
          <p:nvPr/>
        </p:nvSpPr>
        <p:spPr>
          <a:xfrm>
            <a:off x="320040" y="372168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0695c"/>
                </a:solidFill>
                <a:uFillTx/>
                <a:latin typeface="Calibri"/>
                <a:ea typeface="Calibri"/>
              </a:rPr>
              <a:t>Sugarcane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4" name="Text 73"/>
          <p:cNvSpPr/>
          <p:nvPr/>
        </p:nvSpPr>
        <p:spPr>
          <a:xfrm>
            <a:off x="1536120" y="372168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C-6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5" name="Text 74"/>
          <p:cNvSpPr/>
          <p:nvPr/>
        </p:nvSpPr>
        <p:spPr>
          <a:xfrm>
            <a:off x="2752200" y="372168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122,027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6" name="Text 75"/>
          <p:cNvSpPr/>
          <p:nvPr/>
        </p:nvSpPr>
        <p:spPr>
          <a:xfrm>
            <a:off x="3968640" y="372168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27.8°C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7" name="Text 76"/>
          <p:cNvSpPr/>
          <p:nvPr/>
        </p:nvSpPr>
        <p:spPr>
          <a:xfrm>
            <a:off x="5184720" y="372168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77%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8" name="Text 77"/>
          <p:cNvSpPr/>
          <p:nvPr/>
        </p:nvSpPr>
        <p:spPr>
          <a:xfrm>
            <a:off x="6400800" y="372168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177mm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9" name="Text 78"/>
          <p:cNvSpPr/>
          <p:nvPr/>
        </p:nvSpPr>
        <p:spPr>
          <a:xfrm>
            <a:off x="7616880" y="372168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117.1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0" name="Shape 79"/>
          <p:cNvSpPr/>
          <p:nvPr/>
        </p:nvSpPr>
        <p:spPr>
          <a:xfrm>
            <a:off x="320040" y="4087440"/>
            <a:ext cx="8512560" cy="383760"/>
          </a:xfrm>
          <a:prstGeom prst="rect">
            <a:avLst/>
          </a:prstGeom>
          <a:solidFill>
            <a:srgbClr val="f0f7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1" name="Shape 80"/>
          <p:cNvSpPr/>
          <p:nvPr/>
        </p:nvSpPr>
        <p:spPr>
          <a:xfrm>
            <a:off x="320040" y="4087440"/>
            <a:ext cx="109440" cy="383760"/>
          </a:xfrm>
          <a:prstGeom prst="rect">
            <a:avLst/>
          </a:prstGeom>
          <a:solidFill>
            <a:srgbClr val="0d47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52" name="Text 81"/>
          <p:cNvSpPr/>
          <p:nvPr/>
        </p:nvSpPr>
        <p:spPr>
          <a:xfrm>
            <a:off x="320040" y="410580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Chickpea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3" name="Text 82"/>
          <p:cNvSpPr/>
          <p:nvPr/>
        </p:nvSpPr>
        <p:spPr>
          <a:xfrm>
            <a:off x="1536120" y="410580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C-7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4" name="Text 83"/>
          <p:cNvSpPr/>
          <p:nvPr/>
        </p:nvSpPr>
        <p:spPr>
          <a:xfrm>
            <a:off x="2752200" y="410580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31,087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5" name="Text 84"/>
          <p:cNvSpPr/>
          <p:nvPr/>
        </p:nvSpPr>
        <p:spPr>
          <a:xfrm>
            <a:off x="3968640" y="410580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23.0°C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6" name="Text 85"/>
          <p:cNvSpPr/>
          <p:nvPr/>
        </p:nvSpPr>
        <p:spPr>
          <a:xfrm>
            <a:off x="5184720" y="410580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22%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7" name="Text 86"/>
          <p:cNvSpPr/>
          <p:nvPr/>
        </p:nvSpPr>
        <p:spPr>
          <a:xfrm>
            <a:off x="6400800" y="410580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110mm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8" name="Text 87"/>
          <p:cNvSpPr/>
          <p:nvPr/>
        </p:nvSpPr>
        <p:spPr>
          <a:xfrm>
            <a:off x="7616880" y="410580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25.0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9" name="Shape 88"/>
          <p:cNvSpPr/>
          <p:nvPr/>
        </p:nvSpPr>
        <p:spPr>
          <a:xfrm>
            <a:off x="320040" y="4471560"/>
            <a:ext cx="8512560" cy="3837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0" name="Shape 89"/>
          <p:cNvSpPr/>
          <p:nvPr/>
        </p:nvSpPr>
        <p:spPr>
          <a:xfrm>
            <a:off x="320040" y="4471560"/>
            <a:ext cx="109440" cy="383760"/>
          </a:xfrm>
          <a:prstGeom prst="rect">
            <a:avLst/>
          </a:prstGeom>
          <a:solidFill>
            <a:srgbClr val="ad14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61" name="Text 90"/>
          <p:cNvSpPr/>
          <p:nvPr/>
        </p:nvSpPr>
        <p:spPr>
          <a:xfrm>
            <a:off x="320040" y="448956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ad1457"/>
                </a:solidFill>
                <a:uFillTx/>
                <a:latin typeface="Calibri"/>
                <a:ea typeface="Calibri"/>
              </a:rPr>
              <a:t>Banana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2" name="Text 91"/>
          <p:cNvSpPr/>
          <p:nvPr/>
        </p:nvSpPr>
        <p:spPr>
          <a:xfrm>
            <a:off x="1536120" y="448956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C-8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3" name="Text 92"/>
          <p:cNvSpPr/>
          <p:nvPr/>
        </p:nvSpPr>
        <p:spPr>
          <a:xfrm>
            <a:off x="2752200" y="448956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42,576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4" name="Text 93"/>
          <p:cNvSpPr/>
          <p:nvPr/>
        </p:nvSpPr>
        <p:spPr>
          <a:xfrm>
            <a:off x="3968640" y="448956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29.5°C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5" name="Text 94"/>
          <p:cNvSpPr/>
          <p:nvPr/>
        </p:nvSpPr>
        <p:spPr>
          <a:xfrm>
            <a:off x="5184720" y="448956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81%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6" name="Text 95"/>
          <p:cNvSpPr/>
          <p:nvPr/>
        </p:nvSpPr>
        <p:spPr>
          <a:xfrm>
            <a:off x="6400800" y="448956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192mm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7" name="Text 96"/>
          <p:cNvSpPr/>
          <p:nvPr/>
        </p:nvSpPr>
        <p:spPr>
          <a:xfrm>
            <a:off x="7616880" y="4489560"/>
            <a:ext cx="121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105.6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Text 0"/>
          <p:cNvSpPr/>
          <p:nvPr/>
        </p:nvSpPr>
        <p:spPr>
          <a:xfrm>
            <a:off x="457200" y="2559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Spark MLlib K-Means vs Hadoop MapReduce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9" name="Shape 1"/>
          <p:cNvSpPr/>
          <p:nvPr/>
        </p:nvSpPr>
        <p:spPr>
          <a:xfrm>
            <a:off x="457200" y="887040"/>
            <a:ext cx="8229240" cy="27000"/>
          </a:xfrm>
          <a:prstGeom prst="rect">
            <a:avLst/>
          </a:prstGeom>
          <a:solidFill>
            <a:srgbClr val="42a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70" name="Shape 2"/>
          <p:cNvSpPr/>
          <p:nvPr/>
        </p:nvSpPr>
        <p:spPr>
          <a:xfrm>
            <a:off x="457200" y="1005840"/>
            <a:ext cx="4114440" cy="383760"/>
          </a:xfrm>
          <a:prstGeom prst="rect">
            <a:avLst/>
          </a:prstGeom>
          <a:solidFill>
            <a:srgbClr val="c6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71" name="Text 3"/>
          <p:cNvSpPr/>
          <p:nvPr/>
        </p:nvSpPr>
        <p:spPr>
          <a:xfrm>
            <a:off x="457200" y="1005840"/>
            <a:ext cx="4114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Hadoop MapReduce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2" name="Shape 4"/>
          <p:cNvSpPr/>
          <p:nvPr/>
        </p:nvSpPr>
        <p:spPr>
          <a:xfrm>
            <a:off x="4681800" y="1005840"/>
            <a:ext cx="4004640" cy="383760"/>
          </a:xfrm>
          <a:prstGeom prst="rect">
            <a:avLst/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73" name="Text 5"/>
          <p:cNvSpPr/>
          <p:nvPr/>
        </p:nvSpPr>
        <p:spPr>
          <a:xfrm>
            <a:off x="4681800" y="1005840"/>
            <a:ext cx="4004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Apache Spark MLlib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4" name="Shape 6"/>
          <p:cNvSpPr/>
          <p:nvPr/>
        </p:nvSpPr>
        <p:spPr>
          <a:xfrm>
            <a:off x="457200" y="1417320"/>
            <a:ext cx="8229240" cy="4021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5" name="Text 7"/>
          <p:cNvSpPr/>
          <p:nvPr/>
        </p:nvSpPr>
        <p:spPr>
          <a:xfrm>
            <a:off x="502920" y="1444680"/>
            <a:ext cx="2468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Processing Model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6" name="Text 8"/>
          <p:cNvSpPr/>
          <p:nvPr/>
        </p:nvSpPr>
        <p:spPr>
          <a:xfrm>
            <a:off x="3017520" y="1444680"/>
            <a:ext cx="15541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c62828"/>
                </a:solidFill>
                <a:uFillTx/>
                <a:latin typeface="Calibri"/>
                <a:ea typeface="Calibri"/>
              </a:rPr>
              <a:t>Batch (disk I/O per iteration)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7" name="Text 9"/>
          <p:cNvSpPr/>
          <p:nvPr/>
        </p:nvSpPr>
        <p:spPr>
          <a:xfrm>
            <a:off x="4617720" y="1444680"/>
            <a:ext cx="456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07d8b"/>
                </a:solidFill>
                <a:uFillTx/>
                <a:latin typeface="Calibri"/>
                <a:ea typeface="Calibri"/>
              </a:rPr>
              <a:t>vs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8" name="Text 10"/>
          <p:cNvSpPr/>
          <p:nvPr/>
        </p:nvSpPr>
        <p:spPr>
          <a:xfrm>
            <a:off x="5120640" y="1444680"/>
            <a:ext cx="3520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2e7d32"/>
                </a:solidFill>
                <a:uFillTx/>
                <a:latin typeface="Calibri"/>
                <a:ea typeface="Calibri"/>
              </a:rPr>
              <a:t>In-memory RDD (~100× faster/iter)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9" name="Shape 11"/>
          <p:cNvSpPr/>
          <p:nvPr/>
        </p:nvSpPr>
        <p:spPr>
          <a:xfrm>
            <a:off x="457200" y="1819800"/>
            <a:ext cx="8229240" cy="402120"/>
          </a:xfrm>
          <a:prstGeom prst="rect">
            <a:avLst/>
          </a:prstGeom>
          <a:solidFill>
            <a:srgbClr val="f0f7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0" name="Text 12"/>
          <p:cNvSpPr/>
          <p:nvPr/>
        </p:nvSpPr>
        <p:spPr>
          <a:xfrm>
            <a:off x="502920" y="1847160"/>
            <a:ext cx="2468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K Selection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1" name="Text 13"/>
          <p:cNvSpPr/>
          <p:nvPr/>
        </p:nvSpPr>
        <p:spPr>
          <a:xfrm>
            <a:off x="3017520" y="1847160"/>
            <a:ext cx="15541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c62828"/>
                </a:solidFill>
                <a:uFillTx/>
                <a:latin typeface="Calibri"/>
                <a:ea typeface="Calibri"/>
              </a:rPr>
              <a:t>Manual / Fixed (5 regions)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2" name="Text 14"/>
          <p:cNvSpPr/>
          <p:nvPr/>
        </p:nvSpPr>
        <p:spPr>
          <a:xfrm>
            <a:off x="4617720" y="1847160"/>
            <a:ext cx="456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07d8b"/>
                </a:solidFill>
                <a:uFillTx/>
                <a:latin typeface="Calibri"/>
                <a:ea typeface="Calibri"/>
              </a:rPr>
              <a:t>vs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3" name="Text 15"/>
          <p:cNvSpPr/>
          <p:nvPr/>
        </p:nvSpPr>
        <p:spPr>
          <a:xfrm>
            <a:off x="5120640" y="1847160"/>
            <a:ext cx="3520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2e7d32"/>
                </a:solidFill>
                <a:uFillTx/>
                <a:latin typeface="Calibri"/>
                <a:ea typeface="Calibri"/>
              </a:rPr>
              <a:t>Automatic via Silhouette scoring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4" name="Shape 16"/>
          <p:cNvSpPr/>
          <p:nvPr/>
        </p:nvSpPr>
        <p:spPr>
          <a:xfrm>
            <a:off x="457200" y="2221920"/>
            <a:ext cx="8229240" cy="4021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5" name="Text 17"/>
          <p:cNvSpPr/>
          <p:nvPr/>
        </p:nvSpPr>
        <p:spPr>
          <a:xfrm>
            <a:off x="502920" y="2249280"/>
            <a:ext cx="2468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Initialization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6" name="Text 18"/>
          <p:cNvSpPr/>
          <p:nvPr/>
        </p:nvSpPr>
        <p:spPr>
          <a:xfrm>
            <a:off x="3017520" y="2249280"/>
            <a:ext cx="15541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c62828"/>
                </a:solidFill>
                <a:uFillTx/>
                <a:latin typeface="Calibri"/>
                <a:ea typeface="Calibri"/>
              </a:rPr>
              <a:t>N/A (region-based grouping)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7" name="Text 19"/>
          <p:cNvSpPr/>
          <p:nvPr/>
        </p:nvSpPr>
        <p:spPr>
          <a:xfrm>
            <a:off x="4617720" y="2249280"/>
            <a:ext cx="456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07d8b"/>
                </a:solidFill>
                <a:uFillTx/>
                <a:latin typeface="Calibri"/>
                <a:ea typeface="Calibri"/>
              </a:rPr>
              <a:t>vs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8" name="Text 20"/>
          <p:cNvSpPr/>
          <p:nvPr/>
        </p:nvSpPr>
        <p:spPr>
          <a:xfrm>
            <a:off x="5120640" y="2249280"/>
            <a:ext cx="3520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2e7d32"/>
                </a:solidFill>
                <a:uFillTx/>
                <a:latin typeface="Calibri"/>
                <a:ea typeface="Calibri"/>
              </a:rPr>
              <a:t>k-means|| parallel seeding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9" name="Shape 21"/>
          <p:cNvSpPr/>
          <p:nvPr/>
        </p:nvSpPr>
        <p:spPr>
          <a:xfrm>
            <a:off x="457200" y="2624400"/>
            <a:ext cx="8229240" cy="402120"/>
          </a:xfrm>
          <a:prstGeom prst="rect">
            <a:avLst/>
          </a:prstGeom>
          <a:solidFill>
            <a:srgbClr val="f0f7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0" name="Text 22"/>
          <p:cNvSpPr/>
          <p:nvPr/>
        </p:nvSpPr>
        <p:spPr>
          <a:xfrm>
            <a:off x="502920" y="2651760"/>
            <a:ext cx="2468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Normalization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1" name="Text 23"/>
          <p:cNvSpPr/>
          <p:nvPr/>
        </p:nvSpPr>
        <p:spPr>
          <a:xfrm>
            <a:off x="3017520" y="2651760"/>
            <a:ext cx="15541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c62828"/>
                </a:solidFill>
                <a:uFillTx/>
                <a:latin typeface="Calibri"/>
                <a:ea typeface="Calibri"/>
              </a:rPr>
              <a:t>Manual Euclidean weights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2" name="Text 24"/>
          <p:cNvSpPr/>
          <p:nvPr/>
        </p:nvSpPr>
        <p:spPr>
          <a:xfrm>
            <a:off x="4617720" y="2651760"/>
            <a:ext cx="456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07d8b"/>
                </a:solidFill>
                <a:uFillTx/>
                <a:latin typeface="Calibri"/>
                <a:ea typeface="Calibri"/>
              </a:rPr>
              <a:t>vs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3" name="Text 25"/>
          <p:cNvSpPr/>
          <p:nvPr/>
        </p:nvSpPr>
        <p:spPr>
          <a:xfrm>
            <a:off x="5120640" y="2651760"/>
            <a:ext cx="3520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2e7d32"/>
                </a:solidFill>
                <a:uFillTx/>
                <a:latin typeface="Calibri"/>
                <a:ea typeface="Calibri"/>
              </a:rPr>
              <a:t>StandardScaler (zero mean, unit std)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4" name="Shape 26"/>
          <p:cNvSpPr/>
          <p:nvPr/>
        </p:nvSpPr>
        <p:spPr>
          <a:xfrm>
            <a:off x="457200" y="3026520"/>
            <a:ext cx="8229240" cy="4021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5" name="Text 27"/>
          <p:cNvSpPr/>
          <p:nvPr/>
        </p:nvSpPr>
        <p:spPr>
          <a:xfrm>
            <a:off x="502920" y="3054240"/>
            <a:ext cx="2468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Training Time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6" name="Text 28"/>
          <p:cNvSpPr/>
          <p:nvPr/>
        </p:nvSpPr>
        <p:spPr>
          <a:xfrm>
            <a:off x="3017520" y="3054240"/>
            <a:ext cx="15541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c62828"/>
                </a:solidFill>
                <a:uFillTx/>
                <a:latin typeface="Calibri"/>
                <a:ea typeface="Calibri"/>
              </a:rPr>
              <a:t>25.2s (1 pass, no iterations)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7" name="Text 29"/>
          <p:cNvSpPr/>
          <p:nvPr/>
        </p:nvSpPr>
        <p:spPr>
          <a:xfrm>
            <a:off x="4617720" y="3054240"/>
            <a:ext cx="456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07d8b"/>
                </a:solidFill>
                <a:uFillTx/>
                <a:latin typeface="Calibri"/>
                <a:ea typeface="Calibri"/>
              </a:rPr>
              <a:t>vs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8" name="Text 30"/>
          <p:cNvSpPr/>
          <p:nvPr/>
        </p:nvSpPr>
        <p:spPr>
          <a:xfrm>
            <a:off x="5120640" y="3054240"/>
            <a:ext cx="3520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2e7d32"/>
                </a:solidFill>
                <a:uFillTx/>
                <a:latin typeface="Calibri"/>
                <a:ea typeface="Calibri"/>
              </a:rPr>
              <a:t>~18s (30 iterations, in-memory)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9" name="Shape 31"/>
          <p:cNvSpPr/>
          <p:nvPr/>
        </p:nvSpPr>
        <p:spPr>
          <a:xfrm>
            <a:off x="457200" y="3429000"/>
            <a:ext cx="8229240" cy="402120"/>
          </a:xfrm>
          <a:prstGeom prst="rect">
            <a:avLst/>
          </a:prstGeom>
          <a:solidFill>
            <a:srgbClr val="f0f7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0" name="Text 32"/>
          <p:cNvSpPr/>
          <p:nvPr/>
        </p:nvSpPr>
        <p:spPr>
          <a:xfrm>
            <a:off x="502920" y="3456360"/>
            <a:ext cx="2468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Code Complexity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1" name="Text 33"/>
          <p:cNvSpPr/>
          <p:nvPr/>
        </p:nvSpPr>
        <p:spPr>
          <a:xfrm>
            <a:off x="3017520" y="3456360"/>
            <a:ext cx="15541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c62828"/>
                </a:solidFill>
                <a:uFillTx/>
                <a:latin typeface="Calibri"/>
                <a:ea typeface="Calibri"/>
              </a:rPr>
              <a:t>~200 lines Java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2" name="Text 34"/>
          <p:cNvSpPr/>
          <p:nvPr/>
        </p:nvSpPr>
        <p:spPr>
          <a:xfrm>
            <a:off x="4617720" y="3456360"/>
            <a:ext cx="456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07d8b"/>
                </a:solidFill>
                <a:uFillTx/>
                <a:latin typeface="Calibri"/>
                <a:ea typeface="Calibri"/>
              </a:rPr>
              <a:t>vs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3" name="Text 35"/>
          <p:cNvSpPr/>
          <p:nvPr/>
        </p:nvSpPr>
        <p:spPr>
          <a:xfrm>
            <a:off x="5120640" y="3456360"/>
            <a:ext cx="3520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2e7d32"/>
                </a:solidFill>
                <a:uFillTx/>
                <a:latin typeface="Calibri"/>
                <a:ea typeface="Calibri"/>
              </a:rPr>
              <a:t>~80 lines Python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4" name="Shape 36"/>
          <p:cNvSpPr/>
          <p:nvPr/>
        </p:nvSpPr>
        <p:spPr>
          <a:xfrm>
            <a:off x="457200" y="3831480"/>
            <a:ext cx="8229240" cy="4021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5" name="Text 37"/>
          <p:cNvSpPr/>
          <p:nvPr/>
        </p:nvSpPr>
        <p:spPr>
          <a:xfrm>
            <a:off x="502920" y="3858840"/>
            <a:ext cx="2468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Fault Tolerance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6" name="Text 38"/>
          <p:cNvSpPr/>
          <p:nvPr/>
        </p:nvSpPr>
        <p:spPr>
          <a:xfrm>
            <a:off x="3017520" y="3858840"/>
            <a:ext cx="15541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c62828"/>
                </a:solidFill>
                <a:uFillTx/>
                <a:latin typeface="Calibri"/>
                <a:ea typeface="Calibri"/>
              </a:rPr>
              <a:t>HDFS replication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7" name="Text 39"/>
          <p:cNvSpPr/>
          <p:nvPr/>
        </p:nvSpPr>
        <p:spPr>
          <a:xfrm>
            <a:off x="4617720" y="3858840"/>
            <a:ext cx="456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07d8b"/>
                </a:solidFill>
                <a:uFillTx/>
                <a:latin typeface="Calibri"/>
                <a:ea typeface="Calibri"/>
              </a:rPr>
              <a:t>vs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8" name="Text 40"/>
          <p:cNvSpPr/>
          <p:nvPr/>
        </p:nvSpPr>
        <p:spPr>
          <a:xfrm>
            <a:off x="5120640" y="3858840"/>
            <a:ext cx="3520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2e7d32"/>
                </a:solidFill>
                <a:uFillTx/>
                <a:latin typeface="Calibri"/>
                <a:ea typeface="Calibri"/>
              </a:rPr>
              <a:t>RDD lineage recomputation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9" name="Shape 41"/>
          <p:cNvSpPr/>
          <p:nvPr/>
        </p:nvSpPr>
        <p:spPr>
          <a:xfrm>
            <a:off x="457200" y="4233600"/>
            <a:ext cx="8229240" cy="402120"/>
          </a:xfrm>
          <a:prstGeom prst="rect">
            <a:avLst/>
          </a:prstGeom>
          <a:solidFill>
            <a:srgbClr val="f0f7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0" name="Text 42"/>
          <p:cNvSpPr/>
          <p:nvPr/>
        </p:nvSpPr>
        <p:spPr>
          <a:xfrm>
            <a:off x="502920" y="4260960"/>
            <a:ext cx="2468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Zoning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1" name="Text 43"/>
          <p:cNvSpPr/>
          <p:nvPr/>
        </p:nvSpPr>
        <p:spPr>
          <a:xfrm>
            <a:off x="3017520" y="4260960"/>
            <a:ext cx="15541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c62828"/>
                </a:solidFill>
                <a:uFillTx/>
                <a:latin typeface="Calibri"/>
                <a:ea typeface="Calibri"/>
              </a:rPr>
              <a:t>5 fixed geographic regions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2" name="Text 44"/>
          <p:cNvSpPr/>
          <p:nvPr/>
        </p:nvSpPr>
        <p:spPr>
          <a:xfrm>
            <a:off x="4617720" y="4260960"/>
            <a:ext cx="456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07d8b"/>
                </a:solidFill>
                <a:uFillTx/>
                <a:latin typeface="Calibri"/>
                <a:ea typeface="Calibri"/>
              </a:rPr>
              <a:t>vs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3" name="Text 45"/>
          <p:cNvSpPr/>
          <p:nvPr/>
        </p:nvSpPr>
        <p:spPr>
          <a:xfrm>
            <a:off x="5120640" y="4260960"/>
            <a:ext cx="3520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2e7d32"/>
                </a:solidFill>
                <a:uFillTx/>
                <a:latin typeface="Calibri"/>
                <a:ea typeface="Calibri"/>
              </a:rPr>
              <a:t>9 data-driven agro-climatic zones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4" name="Shape 46"/>
          <p:cNvSpPr/>
          <p:nvPr/>
        </p:nvSpPr>
        <p:spPr>
          <a:xfrm>
            <a:off x="457200" y="4663440"/>
            <a:ext cx="8229240" cy="31968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5" name="Text 47"/>
          <p:cNvSpPr/>
          <p:nvPr/>
        </p:nvSpPr>
        <p:spPr>
          <a:xfrm>
            <a:off x="594360" y="4681800"/>
            <a:ext cx="7954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★  </a:t>
            </a:r>
            <a:r>
              <a:rPr b="1" lang="en-US" sz="105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Spark's in-memory RDD eliminates disk I/O between iterations, making K-Means convergence ~100× faster per iteration than MapReduce.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465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42a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17" name="Text 3"/>
          <p:cNvSpPr/>
          <p:nvPr/>
        </p:nvSpPr>
        <p:spPr>
          <a:xfrm>
            <a:off x="502920" y="1695960"/>
            <a:ext cx="8046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WFAR: Weighted Fuzzy Agro-Zone Recommender</a:t>
            </a:r>
            <a:endParaRPr b="0" lang="en-US" sz="3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18" name="Text 4"/>
          <p:cNvSpPr/>
          <p:nvPr/>
        </p:nvSpPr>
        <p:spPr>
          <a:xfrm>
            <a:off x="502920" y="2992680"/>
            <a:ext cx="7772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90caf9"/>
                </a:solidFill>
                <a:uFillTx/>
                <a:latin typeface="Calibri"/>
                <a:ea typeface="Calibri"/>
              </a:rPr>
              <a:t>Custom Crop Recommendation Algorithm · Domain-Weighted Distance · Fuzzy Membership Scoring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Text 0"/>
          <p:cNvSpPr/>
          <p:nvPr/>
        </p:nvSpPr>
        <p:spPr>
          <a:xfrm>
            <a:off x="457200" y="2559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WFAR Algorithm Design — Two Novel Mechanisms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0" name="Shape 1"/>
          <p:cNvSpPr/>
          <p:nvPr/>
        </p:nvSpPr>
        <p:spPr>
          <a:xfrm>
            <a:off x="457200" y="887040"/>
            <a:ext cx="8229240" cy="27000"/>
          </a:xfrm>
          <a:prstGeom prst="rect">
            <a:avLst/>
          </a:prstGeom>
          <a:solidFill>
            <a:srgbClr val="42a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21" name="Shape 2"/>
          <p:cNvSpPr/>
          <p:nvPr/>
        </p:nvSpPr>
        <p:spPr>
          <a:xfrm>
            <a:off x="365760" y="1005840"/>
            <a:ext cx="4114440" cy="3931560"/>
          </a:xfrm>
          <a:prstGeom prst="rect">
            <a:avLst/>
          </a:prstGeom>
          <a:solidFill>
            <a:srgbClr val="f0f7ff"/>
          </a:solidFill>
          <a:ln w="12700">
            <a:solidFill>
              <a:srgbClr val="bbde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2" name="Shape 3"/>
          <p:cNvSpPr/>
          <p:nvPr/>
        </p:nvSpPr>
        <p:spPr>
          <a:xfrm>
            <a:off x="365760" y="1005840"/>
            <a:ext cx="4114440" cy="438480"/>
          </a:xfrm>
          <a:prstGeom prst="rect">
            <a:avLst/>
          </a:prstGeom>
          <a:solidFill>
            <a:srgbClr val="0d47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23" name="Text 4"/>
          <p:cNvSpPr/>
          <p:nvPr/>
        </p:nvSpPr>
        <p:spPr>
          <a:xfrm>
            <a:off x="457200" y="1024200"/>
            <a:ext cx="39315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① </a:t>
            </a: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Domain-Weighted Euclidean Distance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4" name="Text 5"/>
          <p:cNvSpPr/>
          <p:nvPr/>
        </p:nvSpPr>
        <p:spPr>
          <a:xfrm>
            <a:off x="502920" y="1527120"/>
            <a:ext cx="3931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d(x,cⱼ) = √[ Σᵢ wᵢ · (xᵢ − cⱼᵢ)² ]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5" name="Shape 6"/>
          <p:cNvSpPr/>
          <p:nvPr/>
        </p:nvSpPr>
        <p:spPr>
          <a:xfrm>
            <a:off x="411480" y="2011680"/>
            <a:ext cx="4023000" cy="3196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6" name="Text 7"/>
          <p:cNvSpPr/>
          <p:nvPr/>
        </p:nvSpPr>
        <p:spPr>
          <a:xfrm>
            <a:off x="457200" y="2030040"/>
            <a:ext cx="1416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temperature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7" name="Text 8"/>
          <p:cNvSpPr/>
          <p:nvPr/>
        </p:nvSpPr>
        <p:spPr>
          <a:xfrm>
            <a:off x="1901880" y="203004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2.0×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8" name="Text 9"/>
          <p:cNvSpPr/>
          <p:nvPr/>
        </p:nvSpPr>
        <p:spPr>
          <a:xfrm>
            <a:off x="2432160" y="203004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07d8b"/>
                </a:solidFill>
                <a:uFillTx/>
                <a:latin typeface="Calibri"/>
                <a:ea typeface="Calibri"/>
              </a:rPr>
              <a:t>Grapes 13°C vs Banana 29.5°C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9" name="Shape 10"/>
          <p:cNvSpPr/>
          <p:nvPr/>
        </p:nvSpPr>
        <p:spPr>
          <a:xfrm>
            <a:off x="411480" y="2359080"/>
            <a:ext cx="4023000" cy="319680"/>
          </a:xfrm>
          <a:prstGeom prst="rect">
            <a:avLst/>
          </a:prstGeom>
          <a:solidFill>
            <a:srgbClr val="e3f2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0" name="Text 11"/>
          <p:cNvSpPr/>
          <p:nvPr/>
        </p:nvSpPr>
        <p:spPr>
          <a:xfrm>
            <a:off x="457200" y="2377440"/>
            <a:ext cx="1416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humidity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1" name="Text 12"/>
          <p:cNvSpPr/>
          <p:nvPr/>
        </p:nvSpPr>
        <p:spPr>
          <a:xfrm>
            <a:off x="1901880" y="237744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2.0×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2" name="Text 13"/>
          <p:cNvSpPr/>
          <p:nvPr/>
        </p:nvSpPr>
        <p:spPr>
          <a:xfrm>
            <a:off x="2432160" y="237744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07d8b"/>
                </a:solidFill>
                <a:uFillTx/>
                <a:latin typeface="Calibri"/>
                <a:ea typeface="Calibri"/>
              </a:rPr>
              <a:t>Chickpea 22% vs Rice 83%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3" name="Shape 14"/>
          <p:cNvSpPr/>
          <p:nvPr/>
        </p:nvSpPr>
        <p:spPr>
          <a:xfrm>
            <a:off x="411480" y="2706480"/>
            <a:ext cx="4023000" cy="3196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4" name="Text 15"/>
          <p:cNvSpPr/>
          <p:nvPr/>
        </p:nvSpPr>
        <p:spPr>
          <a:xfrm>
            <a:off x="457200" y="2724840"/>
            <a:ext cx="1416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rainfall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5" name="Text 16"/>
          <p:cNvSpPr/>
          <p:nvPr/>
        </p:nvSpPr>
        <p:spPr>
          <a:xfrm>
            <a:off x="1901880" y="272484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1.8×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6" name="Text 17"/>
          <p:cNvSpPr/>
          <p:nvPr/>
        </p:nvSpPr>
        <p:spPr>
          <a:xfrm>
            <a:off x="2432160" y="272484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07d8b"/>
                </a:solidFill>
                <a:uFillTx/>
                <a:latin typeface="Calibri"/>
                <a:ea typeface="Calibri"/>
              </a:rPr>
              <a:t>Grapes 75mm vs Rice 213mm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7" name="Shape 18"/>
          <p:cNvSpPr/>
          <p:nvPr/>
        </p:nvSpPr>
        <p:spPr>
          <a:xfrm>
            <a:off x="411480" y="3054240"/>
            <a:ext cx="4023000" cy="319680"/>
          </a:xfrm>
          <a:prstGeom prst="rect">
            <a:avLst/>
          </a:prstGeom>
          <a:solidFill>
            <a:srgbClr val="e3f2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8" name="Text 19"/>
          <p:cNvSpPr/>
          <p:nvPr/>
        </p:nvSpPr>
        <p:spPr>
          <a:xfrm>
            <a:off x="457200" y="3072240"/>
            <a:ext cx="1416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P (phosphorus)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9" name="Text 20"/>
          <p:cNvSpPr/>
          <p:nvPr/>
        </p:nvSpPr>
        <p:spPr>
          <a:xfrm>
            <a:off x="1901880" y="307224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1.5×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0" name="Text 21"/>
          <p:cNvSpPr/>
          <p:nvPr/>
        </p:nvSpPr>
        <p:spPr>
          <a:xfrm>
            <a:off x="2432160" y="307224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07d8b"/>
                </a:solidFill>
                <a:uFillTx/>
                <a:latin typeface="Calibri"/>
                <a:ea typeface="Calibri"/>
              </a:rPr>
              <a:t>Grapes 122 vs Rice 44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1" name="Shape 22"/>
          <p:cNvSpPr/>
          <p:nvPr/>
        </p:nvSpPr>
        <p:spPr>
          <a:xfrm>
            <a:off x="411480" y="3401640"/>
            <a:ext cx="4023000" cy="3196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2" name="Text 23"/>
          <p:cNvSpPr/>
          <p:nvPr/>
        </p:nvSpPr>
        <p:spPr>
          <a:xfrm>
            <a:off x="457200" y="3420000"/>
            <a:ext cx="1416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K (potassium)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3" name="Text 24"/>
          <p:cNvSpPr/>
          <p:nvPr/>
        </p:nvSpPr>
        <p:spPr>
          <a:xfrm>
            <a:off x="1901880" y="342000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1.5×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4" name="Text 25"/>
          <p:cNvSpPr/>
          <p:nvPr/>
        </p:nvSpPr>
        <p:spPr>
          <a:xfrm>
            <a:off x="2432160" y="342000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07d8b"/>
                </a:solidFill>
                <a:uFillTx/>
                <a:latin typeface="Calibri"/>
                <a:ea typeface="Calibri"/>
              </a:rPr>
              <a:t>Grapes 122 vs Sugarcane 44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5" name="Shape 26"/>
          <p:cNvSpPr/>
          <p:nvPr/>
        </p:nvSpPr>
        <p:spPr>
          <a:xfrm>
            <a:off x="411480" y="3749040"/>
            <a:ext cx="4023000" cy="319680"/>
          </a:xfrm>
          <a:prstGeom prst="rect">
            <a:avLst/>
          </a:prstGeom>
          <a:solidFill>
            <a:srgbClr val="e3f2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6" name="Text 27"/>
          <p:cNvSpPr/>
          <p:nvPr/>
        </p:nvSpPr>
        <p:spPr>
          <a:xfrm>
            <a:off x="457200" y="3767400"/>
            <a:ext cx="1416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N (nitrogen)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7" name="Text 28"/>
          <p:cNvSpPr/>
          <p:nvPr/>
        </p:nvSpPr>
        <p:spPr>
          <a:xfrm>
            <a:off x="1901880" y="376740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1.2×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8" name="Text 29"/>
          <p:cNvSpPr/>
          <p:nvPr/>
        </p:nvSpPr>
        <p:spPr>
          <a:xfrm>
            <a:off x="2432160" y="376740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07d8b"/>
                </a:solidFill>
                <a:uFillTx/>
                <a:latin typeface="Calibri"/>
                <a:ea typeface="Calibri"/>
              </a:rPr>
              <a:t>Variable, overlaps staple crops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9" name="Shape 30"/>
          <p:cNvSpPr/>
          <p:nvPr/>
        </p:nvSpPr>
        <p:spPr>
          <a:xfrm>
            <a:off x="411480" y="4096440"/>
            <a:ext cx="4023000" cy="3196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0" name="Text 31"/>
          <p:cNvSpPr/>
          <p:nvPr/>
        </p:nvSpPr>
        <p:spPr>
          <a:xfrm>
            <a:off x="457200" y="4114800"/>
            <a:ext cx="1416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pH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1" name="Text 32"/>
          <p:cNvSpPr/>
          <p:nvPr/>
        </p:nvSpPr>
        <p:spPr>
          <a:xfrm>
            <a:off x="1901880" y="411480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0.8×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2" name="Text 33"/>
          <p:cNvSpPr/>
          <p:nvPr/>
        </p:nvSpPr>
        <p:spPr>
          <a:xfrm>
            <a:off x="2432160" y="411480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07d8b"/>
                </a:solidFill>
                <a:uFillTx/>
                <a:latin typeface="Calibri"/>
                <a:ea typeface="Calibri"/>
              </a:rPr>
              <a:t>Low discrimination (6.1–6.9 range)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3" name="Shape 34"/>
          <p:cNvSpPr/>
          <p:nvPr/>
        </p:nvSpPr>
        <p:spPr>
          <a:xfrm>
            <a:off x="4663440" y="1005840"/>
            <a:ext cx="4114440" cy="3931560"/>
          </a:xfrm>
          <a:prstGeom prst="rect">
            <a:avLst/>
          </a:prstGeom>
          <a:solidFill>
            <a:srgbClr val="f0f7ff"/>
          </a:solidFill>
          <a:ln w="12700">
            <a:solidFill>
              <a:srgbClr val="bbde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4" name="Shape 35"/>
          <p:cNvSpPr/>
          <p:nvPr/>
        </p:nvSpPr>
        <p:spPr>
          <a:xfrm>
            <a:off x="4663440" y="1005840"/>
            <a:ext cx="4114440" cy="438480"/>
          </a:xfrm>
          <a:prstGeom prst="rect">
            <a:avLst/>
          </a:prstGeom>
          <a:solidFill>
            <a:srgbClr val="006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55" name="Text 36"/>
          <p:cNvSpPr/>
          <p:nvPr/>
        </p:nvSpPr>
        <p:spPr>
          <a:xfrm>
            <a:off x="4754880" y="1024200"/>
            <a:ext cx="39315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② </a:t>
            </a: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Fuzzy Membership Scoring (FCM)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6" name="Text 37"/>
          <p:cNvSpPr/>
          <p:nvPr/>
        </p:nvSpPr>
        <p:spPr>
          <a:xfrm>
            <a:off x="4754880" y="1527120"/>
            <a:ext cx="3931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695c"/>
                </a:solidFill>
                <a:uFillTx/>
                <a:latin typeface="Calibri"/>
                <a:ea typeface="Calibri"/>
              </a:rPr>
              <a:t>uⱼ = 1 / Σₖ [(dⱼ/dₖ)^(2/(m-1))]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695c"/>
                </a:solidFill>
                <a:uFillTx/>
                <a:latin typeface="Calibri"/>
                <a:ea typeface="Calibri"/>
              </a:rPr>
              <a:t>  </a:t>
            </a:r>
            <a:r>
              <a:rPr b="1" lang="en-US" sz="1200" strike="noStrike" u="none">
                <a:solidFill>
                  <a:srgbClr val="00695c"/>
                </a:solidFill>
                <a:uFillTx/>
                <a:latin typeface="Calibri"/>
                <a:ea typeface="Calibri"/>
              </a:rPr>
              <a:t>where m = 2.0 (fuzziness exponent)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7" name="Shape 38"/>
          <p:cNvSpPr/>
          <p:nvPr/>
        </p:nvSpPr>
        <p:spPr>
          <a:xfrm>
            <a:off x="4709160" y="2212920"/>
            <a:ext cx="4023000" cy="4111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8" name="Text 39"/>
          <p:cNvSpPr/>
          <p:nvPr/>
        </p:nvSpPr>
        <p:spPr>
          <a:xfrm>
            <a:off x="4773240" y="2231280"/>
            <a:ext cx="1279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0695c"/>
                </a:solidFill>
                <a:uFillTx/>
                <a:latin typeface="Calibri"/>
                <a:ea typeface="Calibri"/>
              </a:rPr>
              <a:t>Soft Assignment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9" name="Text 40"/>
          <p:cNvSpPr/>
          <p:nvPr/>
        </p:nvSpPr>
        <p:spPr>
          <a:xfrm>
            <a:off x="6080760" y="2231280"/>
            <a:ext cx="2633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Each record gets confidence % for ALL 9 crops — not a single hard label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0" name="Shape 41"/>
          <p:cNvSpPr/>
          <p:nvPr/>
        </p:nvSpPr>
        <p:spPr>
          <a:xfrm>
            <a:off x="4709160" y="2660760"/>
            <a:ext cx="4023000" cy="411120"/>
          </a:xfrm>
          <a:prstGeom prst="rect">
            <a:avLst/>
          </a:prstGeom>
          <a:solidFill>
            <a:srgbClr val="e3f2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1" name="Text 42"/>
          <p:cNvSpPr/>
          <p:nvPr/>
        </p:nvSpPr>
        <p:spPr>
          <a:xfrm>
            <a:off x="4773240" y="2679120"/>
            <a:ext cx="1279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0695c"/>
                </a:solidFill>
                <a:uFillTx/>
                <a:latin typeface="Calibri"/>
                <a:ea typeface="Calibri"/>
              </a:rPr>
              <a:t>Fuzziness m=2.0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2" name="Text 43"/>
          <p:cNvSpPr/>
          <p:nvPr/>
        </p:nvSpPr>
        <p:spPr>
          <a:xfrm>
            <a:off x="6080760" y="2679120"/>
            <a:ext cx="2633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Standard FCM setting. m→1 collapses to hard KMeans; m→3 spreads confidence evenly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3" name="Shape 44"/>
          <p:cNvSpPr/>
          <p:nvPr/>
        </p:nvSpPr>
        <p:spPr>
          <a:xfrm>
            <a:off x="4709160" y="3108960"/>
            <a:ext cx="4023000" cy="4111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4" name="Text 45"/>
          <p:cNvSpPr/>
          <p:nvPr/>
        </p:nvSpPr>
        <p:spPr>
          <a:xfrm>
            <a:off x="4773240" y="3127320"/>
            <a:ext cx="1279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0695c"/>
                </a:solidFill>
                <a:uFillTx/>
                <a:latin typeface="Calibri"/>
                <a:ea typeface="Calibri"/>
              </a:rPr>
              <a:t>Borderline Detection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5" name="Text 46"/>
          <p:cNvSpPr/>
          <p:nvPr/>
        </p:nvSpPr>
        <p:spPr>
          <a:xfrm>
            <a:off x="6080760" y="3127320"/>
            <a:ext cx="2633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Flag records where top-1 and top-2 confidence differ by &lt;10% — agronomically ambiguous zones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6" name="Shape 47"/>
          <p:cNvSpPr/>
          <p:nvPr/>
        </p:nvSpPr>
        <p:spPr>
          <a:xfrm>
            <a:off x="4709160" y="3557160"/>
            <a:ext cx="4023000" cy="411120"/>
          </a:xfrm>
          <a:prstGeom prst="rect">
            <a:avLst/>
          </a:prstGeom>
          <a:solidFill>
            <a:srgbClr val="e3f2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7" name="Text 48"/>
          <p:cNvSpPr/>
          <p:nvPr/>
        </p:nvSpPr>
        <p:spPr>
          <a:xfrm>
            <a:off x="4773240" y="3575160"/>
            <a:ext cx="1279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0695c"/>
                </a:solidFill>
                <a:uFillTx/>
                <a:latin typeface="Calibri"/>
                <a:ea typeface="Calibri"/>
              </a:rPr>
              <a:t>Pipeline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8" name="Text 49"/>
          <p:cNvSpPr/>
          <p:nvPr/>
        </p:nvSpPr>
        <p:spPr>
          <a:xfrm>
            <a:off x="6080760" y="3575160"/>
            <a:ext cx="2633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Raw Input → StandardScaler → Weighted Distance Matrix → Fuzzy Memberships → Ranked Output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9" name="Shape 50"/>
          <p:cNvSpPr/>
          <p:nvPr/>
        </p:nvSpPr>
        <p:spPr>
          <a:xfrm>
            <a:off x="4709160" y="4005000"/>
            <a:ext cx="4023000" cy="4111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0" name="Text 51"/>
          <p:cNvSpPr/>
          <p:nvPr/>
        </p:nvSpPr>
        <p:spPr>
          <a:xfrm>
            <a:off x="4773240" y="4023360"/>
            <a:ext cx="1279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0695c"/>
                </a:solidFill>
                <a:uFillTx/>
                <a:latin typeface="Calibri"/>
                <a:ea typeface="Calibri"/>
              </a:rPr>
              <a:t>Interpretability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1" name="Text 52"/>
          <p:cNvSpPr/>
          <p:nvPr/>
        </p:nvSpPr>
        <p:spPr>
          <a:xfrm>
            <a:off x="6080760" y="4023360"/>
            <a:ext cx="2633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Feature weights are explicit and human-readable — unlike neural embeddings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2" name="Shape 53"/>
          <p:cNvSpPr/>
          <p:nvPr/>
        </p:nvSpPr>
        <p:spPr>
          <a:xfrm>
            <a:off x="4709160" y="4453200"/>
            <a:ext cx="4023000" cy="411120"/>
          </a:xfrm>
          <a:prstGeom prst="rect">
            <a:avLst/>
          </a:prstGeom>
          <a:solidFill>
            <a:srgbClr val="e3f2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3" name="Text 54"/>
          <p:cNvSpPr/>
          <p:nvPr/>
        </p:nvSpPr>
        <p:spPr>
          <a:xfrm>
            <a:off x="4773240" y="4471560"/>
            <a:ext cx="1279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0695c"/>
                </a:solidFill>
                <a:uFillTx/>
                <a:latin typeface="Calibri"/>
                <a:ea typeface="Calibri"/>
              </a:rPr>
              <a:t>Latency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4" name="Text 55"/>
          <p:cNvSpPr/>
          <p:nvPr/>
        </p:nvSpPr>
        <p:spPr>
          <a:xfrm>
            <a:off x="6080760" y="4471560"/>
            <a:ext cx="2633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37474f"/>
                </a:solidFill>
                <a:uFillTx/>
                <a:latin typeface="Calibri"/>
                <a:ea typeface="Calibri"/>
              </a:rPr>
              <a:t>0.552s for 1,800 records on single core — mobile/edge deployable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Text 0"/>
          <p:cNvSpPr/>
          <p:nvPr/>
        </p:nvSpPr>
        <p:spPr>
          <a:xfrm>
            <a:off x="457200" y="2559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WFAR — Evaluation Results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6" name="Shape 1"/>
          <p:cNvSpPr/>
          <p:nvPr/>
        </p:nvSpPr>
        <p:spPr>
          <a:xfrm>
            <a:off x="457200" y="887040"/>
            <a:ext cx="8229240" cy="27000"/>
          </a:xfrm>
          <a:prstGeom prst="rect">
            <a:avLst/>
          </a:prstGeom>
          <a:solidFill>
            <a:srgbClr val="42a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77" name="Shape 2"/>
          <p:cNvSpPr/>
          <p:nvPr/>
        </p:nvSpPr>
        <p:spPr>
          <a:xfrm>
            <a:off x="320040" y="1005840"/>
            <a:ext cx="2011320" cy="1051200"/>
          </a:xfrm>
          <a:prstGeom prst="rect">
            <a:avLst/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78" name="Text 3"/>
          <p:cNvSpPr/>
          <p:nvPr/>
        </p:nvSpPr>
        <p:spPr>
          <a:xfrm>
            <a:off x="320040" y="1051560"/>
            <a:ext cx="20113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84.06%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9" name="Text 4"/>
          <p:cNvSpPr/>
          <p:nvPr/>
        </p:nvSpPr>
        <p:spPr>
          <a:xfrm>
            <a:off x="347400" y="1664280"/>
            <a:ext cx="1919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Overall Accuracy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0" name="Shape 5"/>
          <p:cNvSpPr/>
          <p:nvPr/>
        </p:nvSpPr>
        <p:spPr>
          <a:xfrm>
            <a:off x="2468880" y="1005840"/>
            <a:ext cx="2011320" cy="105120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81" name="Text 6"/>
          <p:cNvSpPr/>
          <p:nvPr/>
        </p:nvSpPr>
        <p:spPr>
          <a:xfrm>
            <a:off x="2468880" y="1051560"/>
            <a:ext cx="20113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46.68%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2" name="Text 7"/>
          <p:cNvSpPr/>
          <p:nvPr/>
        </p:nvSpPr>
        <p:spPr>
          <a:xfrm>
            <a:off x="2496240" y="1664280"/>
            <a:ext cx="1919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Avg Top-1 Confidence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3" name="Shape 8"/>
          <p:cNvSpPr/>
          <p:nvPr/>
        </p:nvSpPr>
        <p:spPr>
          <a:xfrm>
            <a:off x="4617720" y="1005840"/>
            <a:ext cx="2011320" cy="1051200"/>
          </a:xfrm>
          <a:prstGeom prst="rect">
            <a:avLst/>
          </a:prstGeom>
          <a:solidFill>
            <a:srgbClr val="e651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84" name="Text 9"/>
          <p:cNvSpPr/>
          <p:nvPr/>
        </p:nvSpPr>
        <p:spPr>
          <a:xfrm>
            <a:off x="4617720" y="1051560"/>
            <a:ext cx="20113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18.94%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5" name="Text 10"/>
          <p:cNvSpPr/>
          <p:nvPr/>
        </p:nvSpPr>
        <p:spPr>
          <a:xfrm>
            <a:off x="4645080" y="1664280"/>
            <a:ext cx="1919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Borderline Detection Rate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6" name="Shape 11"/>
          <p:cNvSpPr/>
          <p:nvPr/>
        </p:nvSpPr>
        <p:spPr>
          <a:xfrm>
            <a:off x="6766560" y="1005840"/>
            <a:ext cx="2011320" cy="1051200"/>
          </a:xfrm>
          <a:prstGeom prst="rect">
            <a:avLst/>
          </a:prstGeom>
          <a:solidFill>
            <a:srgbClr val="006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87" name="Text 12"/>
          <p:cNvSpPr/>
          <p:nvPr/>
        </p:nvSpPr>
        <p:spPr>
          <a:xfrm>
            <a:off x="6766560" y="1051560"/>
            <a:ext cx="20113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0.552s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8" name="Text 13"/>
          <p:cNvSpPr/>
          <p:nvPr/>
        </p:nvSpPr>
        <p:spPr>
          <a:xfrm>
            <a:off x="6793920" y="1664280"/>
            <a:ext cx="1919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Execution Time (1,800 records)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9" name="Text 14"/>
          <p:cNvSpPr/>
          <p:nvPr/>
        </p:nvSpPr>
        <p:spPr>
          <a:xfrm>
            <a:off x="365760" y="21945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Per-Crop Precision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0" name="Shape 15"/>
          <p:cNvSpPr/>
          <p:nvPr/>
        </p:nvSpPr>
        <p:spPr>
          <a:xfrm>
            <a:off x="320040" y="2578680"/>
            <a:ext cx="1188360" cy="328680"/>
          </a:xfrm>
          <a:prstGeom prst="rect">
            <a:avLst/>
          </a:prstGeom>
          <a:solidFill>
            <a:srgbClr val="0d47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91" name="Text 16"/>
          <p:cNvSpPr/>
          <p:nvPr/>
        </p:nvSpPr>
        <p:spPr>
          <a:xfrm>
            <a:off x="320040" y="2578680"/>
            <a:ext cx="1188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Crop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2" name="Shape 17"/>
          <p:cNvSpPr/>
          <p:nvPr/>
        </p:nvSpPr>
        <p:spPr>
          <a:xfrm>
            <a:off x="1508760" y="2578680"/>
            <a:ext cx="1234080" cy="328680"/>
          </a:xfrm>
          <a:prstGeom prst="rect">
            <a:avLst/>
          </a:prstGeom>
          <a:solidFill>
            <a:srgbClr val="0d47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93" name="Text 18"/>
          <p:cNvSpPr/>
          <p:nvPr/>
        </p:nvSpPr>
        <p:spPr>
          <a:xfrm>
            <a:off x="1508760" y="2578680"/>
            <a:ext cx="1234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Correct/Total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4" name="Shape 19"/>
          <p:cNvSpPr/>
          <p:nvPr/>
        </p:nvSpPr>
        <p:spPr>
          <a:xfrm>
            <a:off x="2743200" y="2578680"/>
            <a:ext cx="914040" cy="328680"/>
          </a:xfrm>
          <a:prstGeom prst="rect">
            <a:avLst/>
          </a:prstGeom>
          <a:solidFill>
            <a:srgbClr val="0d47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95" name="Text 20"/>
          <p:cNvSpPr/>
          <p:nvPr/>
        </p:nvSpPr>
        <p:spPr>
          <a:xfrm>
            <a:off x="2743200" y="2578680"/>
            <a:ext cx="914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Precision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6" name="Shape 21"/>
          <p:cNvSpPr/>
          <p:nvPr/>
        </p:nvSpPr>
        <p:spPr>
          <a:xfrm>
            <a:off x="3657600" y="2578680"/>
            <a:ext cx="868320" cy="328680"/>
          </a:xfrm>
          <a:prstGeom prst="rect">
            <a:avLst/>
          </a:prstGeom>
          <a:solidFill>
            <a:srgbClr val="0d47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97" name="Text 22"/>
          <p:cNvSpPr/>
          <p:nvPr/>
        </p:nvSpPr>
        <p:spPr>
          <a:xfrm>
            <a:off x="3657600" y="2578680"/>
            <a:ext cx="8683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Avg Conf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8" name="Shape 23"/>
          <p:cNvSpPr/>
          <p:nvPr/>
        </p:nvSpPr>
        <p:spPr>
          <a:xfrm>
            <a:off x="4526280" y="2578680"/>
            <a:ext cx="4434480" cy="328680"/>
          </a:xfrm>
          <a:prstGeom prst="rect">
            <a:avLst/>
          </a:prstGeom>
          <a:solidFill>
            <a:srgbClr val="0d47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99" name="Text 24"/>
          <p:cNvSpPr/>
          <p:nvPr/>
        </p:nvSpPr>
        <p:spPr>
          <a:xfrm>
            <a:off x="4526280" y="2578680"/>
            <a:ext cx="44344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Remarks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0" name="Shape 25"/>
          <p:cNvSpPr/>
          <p:nvPr/>
        </p:nvSpPr>
        <p:spPr>
          <a:xfrm>
            <a:off x="320040" y="2935080"/>
            <a:ext cx="8366400" cy="246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1" name="Shape 26"/>
          <p:cNvSpPr/>
          <p:nvPr/>
        </p:nvSpPr>
        <p:spPr>
          <a:xfrm>
            <a:off x="320040" y="2935080"/>
            <a:ext cx="72720" cy="246600"/>
          </a:xfrm>
          <a:prstGeom prst="rect">
            <a:avLst/>
          </a:prstGeom>
          <a:solidFill>
            <a:srgbClr val="0d47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02" name="Text 27"/>
          <p:cNvSpPr/>
          <p:nvPr/>
        </p:nvSpPr>
        <p:spPr>
          <a:xfrm>
            <a:off x="320040" y="2944440"/>
            <a:ext cx="1188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Chickpea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3" name="Text 28"/>
          <p:cNvSpPr/>
          <p:nvPr/>
        </p:nvSpPr>
        <p:spPr>
          <a:xfrm>
            <a:off x="1508760" y="2944440"/>
            <a:ext cx="1234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200/200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4" name="Text 29"/>
          <p:cNvSpPr/>
          <p:nvPr/>
        </p:nvSpPr>
        <p:spPr>
          <a:xfrm>
            <a:off x="2743200" y="2944440"/>
            <a:ext cx="914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e7d32"/>
                </a:solidFill>
                <a:uFillTx/>
                <a:latin typeface="Calibri"/>
                <a:ea typeface="Calibri"/>
              </a:rPr>
              <a:t>100.0%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5" name="Text 30"/>
          <p:cNvSpPr/>
          <p:nvPr/>
        </p:nvSpPr>
        <p:spPr>
          <a:xfrm>
            <a:off x="3657600" y="294444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52.5%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6" name="Text 31"/>
          <p:cNvSpPr/>
          <p:nvPr/>
        </p:nvSpPr>
        <p:spPr>
          <a:xfrm>
            <a:off x="4526280" y="2944440"/>
            <a:ext cx="4434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Unique low-humidity zone (22%) — perfectly separable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7" name="Shape 32"/>
          <p:cNvSpPr/>
          <p:nvPr/>
        </p:nvSpPr>
        <p:spPr>
          <a:xfrm>
            <a:off x="320040" y="3182040"/>
            <a:ext cx="8366400" cy="246600"/>
          </a:xfrm>
          <a:prstGeom prst="rect">
            <a:avLst/>
          </a:prstGeom>
          <a:solidFill>
            <a:srgbClr val="f0f7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8" name="Shape 33"/>
          <p:cNvSpPr/>
          <p:nvPr/>
        </p:nvSpPr>
        <p:spPr>
          <a:xfrm>
            <a:off x="320040" y="3182040"/>
            <a:ext cx="72720" cy="246600"/>
          </a:xfrm>
          <a:prstGeom prst="rect">
            <a:avLst/>
          </a:prstGeom>
          <a:solidFill>
            <a:srgbClr val="6a1b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09" name="Text 34"/>
          <p:cNvSpPr/>
          <p:nvPr/>
        </p:nvSpPr>
        <p:spPr>
          <a:xfrm>
            <a:off x="320040" y="3191400"/>
            <a:ext cx="1188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Grapes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0" name="Text 35"/>
          <p:cNvSpPr/>
          <p:nvPr/>
        </p:nvSpPr>
        <p:spPr>
          <a:xfrm>
            <a:off x="1508760" y="3191400"/>
            <a:ext cx="1234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200/200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1" name="Text 36"/>
          <p:cNvSpPr/>
          <p:nvPr/>
        </p:nvSpPr>
        <p:spPr>
          <a:xfrm>
            <a:off x="2743200" y="3191400"/>
            <a:ext cx="914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e7d32"/>
                </a:solidFill>
                <a:uFillTx/>
                <a:latin typeface="Calibri"/>
                <a:ea typeface="Calibri"/>
              </a:rPr>
              <a:t>100.0%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2" name="Text 37"/>
          <p:cNvSpPr/>
          <p:nvPr/>
        </p:nvSpPr>
        <p:spPr>
          <a:xfrm>
            <a:off x="3657600" y="319140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59.3%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3" name="Text 38"/>
          <p:cNvSpPr/>
          <p:nvPr/>
        </p:nvSpPr>
        <p:spPr>
          <a:xfrm>
            <a:off x="4526280" y="3191400"/>
            <a:ext cx="4434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Cool temp (13°C) + high P/K — most distinctive centroid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4" name="Shape 39"/>
          <p:cNvSpPr/>
          <p:nvPr/>
        </p:nvSpPr>
        <p:spPr>
          <a:xfrm>
            <a:off x="320040" y="3429000"/>
            <a:ext cx="8366400" cy="246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5" name="Shape 40"/>
          <p:cNvSpPr/>
          <p:nvPr/>
        </p:nvSpPr>
        <p:spPr>
          <a:xfrm>
            <a:off x="320040" y="3429000"/>
            <a:ext cx="72720" cy="246600"/>
          </a:xfrm>
          <a:prstGeom prst="rect">
            <a:avLst/>
          </a:prstGeom>
          <a:solidFill>
            <a:srgbClr val="f57f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16" name="Text 41"/>
          <p:cNvSpPr/>
          <p:nvPr/>
        </p:nvSpPr>
        <p:spPr>
          <a:xfrm>
            <a:off x="320040" y="3438000"/>
            <a:ext cx="1188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Mango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7" name="Text 42"/>
          <p:cNvSpPr/>
          <p:nvPr/>
        </p:nvSpPr>
        <p:spPr>
          <a:xfrm>
            <a:off x="1508760" y="3438000"/>
            <a:ext cx="1234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192/200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8" name="Text 43"/>
          <p:cNvSpPr/>
          <p:nvPr/>
        </p:nvSpPr>
        <p:spPr>
          <a:xfrm>
            <a:off x="2743200" y="3438000"/>
            <a:ext cx="914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96.0%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9" name="Text 44"/>
          <p:cNvSpPr/>
          <p:nvPr/>
        </p:nvSpPr>
        <p:spPr>
          <a:xfrm>
            <a:off x="3657600" y="343800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46.8%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0" name="Text 45"/>
          <p:cNvSpPr/>
          <p:nvPr/>
        </p:nvSpPr>
        <p:spPr>
          <a:xfrm>
            <a:off x="4526280" y="3438000"/>
            <a:ext cx="4434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High temp (29.5°C) + low N — strong signal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1" name="Shape 46"/>
          <p:cNvSpPr/>
          <p:nvPr/>
        </p:nvSpPr>
        <p:spPr>
          <a:xfrm>
            <a:off x="320040" y="3675960"/>
            <a:ext cx="8366400" cy="246600"/>
          </a:xfrm>
          <a:prstGeom prst="rect">
            <a:avLst/>
          </a:prstGeom>
          <a:solidFill>
            <a:srgbClr val="f0f7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2" name="Shape 47"/>
          <p:cNvSpPr/>
          <p:nvPr/>
        </p:nvSpPr>
        <p:spPr>
          <a:xfrm>
            <a:off x="320040" y="3675960"/>
            <a:ext cx="72720" cy="246600"/>
          </a:xfrm>
          <a:prstGeom prst="rect">
            <a:avLst/>
          </a:prstGeom>
          <a:solidFill>
            <a:srgbClr val="7955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23" name="Text 48"/>
          <p:cNvSpPr/>
          <p:nvPr/>
        </p:nvSpPr>
        <p:spPr>
          <a:xfrm>
            <a:off x="320040" y="3684960"/>
            <a:ext cx="1188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Wheat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4" name="Text 49"/>
          <p:cNvSpPr/>
          <p:nvPr/>
        </p:nvSpPr>
        <p:spPr>
          <a:xfrm>
            <a:off x="1508760" y="3684960"/>
            <a:ext cx="1234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168/200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5" name="Text 50"/>
          <p:cNvSpPr/>
          <p:nvPr/>
        </p:nvSpPr>
        <p:spPr>
          <a:xfrm>
            <a:off x="2743200" y="3684960"/>
            <a:ext cx="914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84.0%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6" name="Text 51"/>
          <p:cNvSpPr/>
          <p:nvPr/>
        </p:nvSpPr>
        <p:spPr>
          <a:xfrm>
            <a:off x="3657600" y="36849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49.6%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7" name="Text 52"/>
          <p:cNvSpPr/>
          <p:nvPr/>
        </p:nvSpPr>
        <p:spPr>
          <a:xfrm>
            <a:off x="4526280" y="3684960"/>
            <a:ext cx="4434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Moderate features — some overlap with maize zone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8" name="Shape 53"/>
          <p:cNvSpPr/>
          <p:nvPr/>
        </p:nvSpPr>
        <p:spPr>
          <a:xfrm>
            <a:off x="320040" y="3922920"/>
            <a:ext cx="8366400" cy="246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9" name="Shape 54"/>
          <p:cNvSpPr/>
          <p:nvPr/>
        </p:nvSpPr>
        <p:spPr>
          <a:xfrm>
            <a:off x="320040" y="3922920"/>
            <a:ext cx="72720" cy="246600"/>
          </a:xfrm>
          <a:prstGeom prst="rect">
            <a:avLst/>
          </a:prstGeom>
          <a:solidFill>
            <a:srgbClr val="558b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30" name="Text 55"/>
          <p:cNvSpPr/>
          <p:nvPr/>
        </p:nvSpPr>
        <p:spPr>
          <a:xfrm>
            <a:off x="320040" y="3931920"/>
            <a:ext cx="1188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Maize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1" name="Text 56"/>
          <p:cNvSpPr/>
          <p:nvPr/>
        </p:nvSpPr>
        <p:spPr>
          <a:xfrm>
            <a:off x="1508760" y="3931920"/>
            <a:ext cx="1234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154/200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2" name="Text 57"/>
          <p:cNvSpPr/>
          <p:nvPr/>
        </p:nvSpPr>
        <p:spPr>
          <a:xfrm>
            <a:off x="2743200" y="3931920"/>
            <a:ext cx="914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77.0%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3" name="Text 58"/>
          <p:cNvSpPr/>
          <p:nvPr/>
        </p:nvSpPr>
        <p:spPr>
          <a:xfrm>
            <a:off x="3657600" y="393192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43.2%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4" name="Text 59"/>
          <p:cNvSpPr/>
          <p:nvPr/>
        </p:nvSpPr>
        <p:spPr>
          <a:xfrm>
            <a:off x="4526280" y="3931920"/>
            <a:ext cx="4434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Overlaps with cotton in N/K space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5" name="Shape 60"/>
          <p:cNvSpPr/>
          <p:nvPr/>
        </p:nvSpPr>
        <p:spPr>
          <a:xfrm>
            <a:off x="320040" y="4169520"/>
            <a:ext cx="8366400" cy="246600"/>
          </a:xfrm>
          <a:prstGeom prst="rect">
            <a:avLst/>
          </a:prstGeom>
          <a:solidFill>
            <a:srgbClr val="f0f7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6" name="Shape 61"/>
          <p:cNvSpPr/>
          <p:nvPr/>
        </p:nvSpPr>
        <p:spPr>
          <a:xfrm>
            <a:off x="320040" y="4169520"/>
            <a:ext cx="72720" cy="246600"/>
          </a:xfrm>
          <a:prstGeom prst="rect">
            <a:avLst/>
          </a:prstGeom>
          <a:solidFill>
            <a:srgbClr val="01579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37" name="Text 62"/>
          <p:cNvSpPr/>
          <p:nvPr/>
        </p:nvSpPr>
        <p:spPr>
          <a:xfrm>
            <a:off x="320040" y="4178880"/>
            <a:ext cx="1188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Rice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8" name="Text 63"/>
          <p:cNvSpPr/>
          <p:nvPr/>
        </p:nvSpPr>
        <p:spPr>
          <a:xfrm>
            <a:off x="1508760" y="4178880"/>
            <a:ext cx="1234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153/200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9" name="Text 64"/>
          <p:cNvSpPr/>
          <p:nvPr/>
        </p:nvSpPr>
        <p:spPr>
          <a:xfrm>
            <a:off x="2743200" y="4178880"/>
            <a:ext cx="914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76.5%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0" name="Text 65"/>
          <p:cNvSpPr/>
          <p:nvPr/>
        </p:nvSpPr>
        <p:spPr>
          <a:xfrm>
            <a:off x="3657600" y="417888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40.9%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1" name="Text 66"/>
          <p:cNvSpPr/>
          <p:nvPr/>
        </p:nvSpPr>
        <p:spPr>
          <a:xfrm>
            <a:off x="4526280" y="4178880"/>
            <a:ext cx="4434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High humidity (83%) but temperature similar to maize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2" name="Shape 67"/>
          <p:cNvSpPr/>
          <p:nvPr/>
        </p:nvSpPr>
        <p:spPr>
          <a:xfrm>
            <a:off x="320040" y="4416480"/>
            <a:ext cx="8366400" cy="246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3" name="Shape 68"/>
          <p:cNvSpPr/>
          <p:nvPr/>
        </p:nvSpPr>
        <p:spPr>
          <a:xfrm>
            <a:off x="320040" y="4416480"/>
            <a:ext cx="72720" cy="246600"/>
          </a:xfrm>
          <a:prstGeom prst="rect">
            <a:avLst/>
          </a:prstGeom>
          <a:solidFill>
            <a:srgbClr val="4e34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44" name="Text 69"/>
          <p:cNvSpPr/>
          <p:nvPr/>
        </p:nvSpPr>
        <p:spPr>
          <a:xfrm>
            <a:off x="320040" y="4425840"/>
            <a:ext cx="1188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Cotton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5" name="Text 70"/>
          <p:cNvSpPr/>
          <p:nvPr/>
        </p:nvSpPr>
        <p:spPr>
          <a:xfrm>
            <a:off x="1508760" y="4425840"/>
            <a:ext cx="1234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150/200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6" name="Text 71"/>
          <p:cNvSpPr/>
          <p:nvPr/>
        </p:nvSpPr>
        <p:spPr>
          <a:xfrm>
            <a:off x="2743200" y="4425840"/>
            <a:ext cx="914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75.0%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7" name="Text 72"/>
          <p:cNvSpPr/>
          <p:nvPr/>
        </p:nvSpPr>
        <p:spPr>
          <a:xfrm>
            <a:off x="3657600" y="442584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45.9%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8" name="Text 73"/>
          <p:cNvSpPr/>
          <p:nvPr/>
        </p:nvSpPr>
        <p:spPr>
          <a:xfrm>
            <a:off x="4526280" y="4425840"/>
            <a:ext cx="4434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Close to maize/sugarcane in feature space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9" name="Shape 74"/>
          <p:cNvSpPr/>
          <p:nvPr/>
        </p:nvSpPr>
        <p:spPr>
          <a:xfrm>
            <a:off x="320040" y="4663440"/>
            <a:ext cx="8366400" cy="246600"/>
          </a:xfrm>
          <a:prstGeom prst="rect">
            <a:avLst/>
          </a:prstGeom>
          <a:solidFill>
            <a:srgbClr val="f0f7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0" name="Shape 75"/>
          <p:cNvSpPr/>
          <p:nvPr/>
        </p:nvSpPr>
        <p:spPr>
          <a:xfrm>
            <a:off x="320040" y="4663440"/>
            <a:ext cx="72720" cy="246600"/>
          </a:xfrm>
          <a:prstGeom prst="rect">
            <a:avLst/>
          </a:prstGeom>
          <a:solidFill>
            <a:srgbClr val="ad14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51" name="Text 76"/>
          <p:cNvSpPr/>
          <p:nvPr/>
        </p:nvSpPr>
        <p:spPr>
          <a:xfrm>
            <a:off x="320040" y="4672440"/>
            <a:ext cx="1188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Banana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2" name="Text 77"/>
          <p:cNvSpPr/>
          <p:nvPr/>
        </p:nvSpPr>
        <p:spPr>
          <a:xfrm>
            <a:off x="1508760" y="4672440"/>
            <a:ext cx="1234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148/200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3" name="Text 78"/>
          <p:cNvSpPr/>
          <p:nvPr/>
        </p:nvSpPr>
        <p:spPr>
          <a:xfrm>
            <a:off x="2743200" y="4672440"/>
            <a:ext cx="914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74.0%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4" name="Text 79"/>
          <p:cNvSpPr/>
          <p:nvPr/>
        </p:nvSpPr>
        <p:spPr>
          <a:xfrm>
            <a:off x="3657600" y="467244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41.8%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5" name="Text 80"/>
          <p:cNvSpPr/>
          <p:nvPr/>
        </p:nvSpPr>
        <p:spPr>
          <a:xfrm>
            <a:off x="4526280" y="4672440"/>
            <a:ext cx="4434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High humidity/rainfall overlap with sugarcane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6" name="Shape 81"/>
          <p:cNvSpPr/>
          <p:nvPr/>
        </p:nvSpPr>
        <p:spPr>
          <a:xfrm>
            <a:off x="320040" y="4910400"/>
            <a:ext cx="8366400" cy="246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7" name="Shape 82"/>
          <p:cNvSpPr/>
          <p:nvPr/>
        </p:nvSpPr>
        <p:spPr>
          <a:xfrm>
            <a:off x="320040" y="4910400"/>
            <a:ext cx="72720" cy="246600"/>
          </a:xfrm>
          <a:prstGeom prst="rect">
            <a:avLst/>
          </a:prstGeom>
          <a:solidFill>
            <a:srgbClr val="006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58" name="Text 83"/>
          <p:cNvSpPr/>
          <p:nvPr/>
        </p:nvSpPr>
        <p:spPr>
          <a:xfrm>
            <a:off x="320040" y="4919400"/>
            <a:ext cx="1188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Sugarcane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9" name="Text 84"/>
          <p:cNvSpPr/>
          <p:nvPr/>
        </p:nvSpPr>
        <p:spPr>
          <a:xfrm>
            <a:off x="1508760" y="4919400"/>
            <a:ext cx="1234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148/200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0" name="Text 85"/>
          <p:cNvSpPr/>
          <p:nvPr/>
        </p:nvSpPr>
        <p:spPr>
          <a:xfrm>
            <a:off x="2743200" y="4919400"/>
            <a:ext cx="914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74.0%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1" name="Text 86"/>
          <p:cNvSpPr/>
          <p:nvPr/>
        </p:nvSpPr>
        <p:spPr>
          <a:xfrm>
            <a:off x="3657600" y="491940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40.1%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2" name="Text 87"/>
          <p:cNvSpPr/>
          <p:nvPr/>
        </p:nvSpPr>
        <p:spPr>
          <a:xfrm>
            <a:off x="4526280" y="4919400"/>
            <a:ext cx="4434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Highest overlap with banana and cotton zones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Text 0"/>
          <p:cNvSpPr/>
          <p:nvPr/>
        </p:nvSpPr>
        <p:spPr>
          <a:xfrm>
            <a:off x="457200" y="2559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WFAR vs KMeans — Algorithmic Comparison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4" name="Shape 1"/>
          <p:cNvSpPr/>
          <p:nvPr/>
        </p:nvSpPr>
        <p:spPr>
          <a:xfrm>
            <a:off x="457200" y="887040"/>
            <a:ext cx="8229240" cy="27000"/>
          </a:xfrm>
          <a:prstGeom prst="rect">
            <a:avLst/>
          </a:prstGeom>
          <a:solidFill>
            <a:srgbClr val="42a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65" name="Shape 2"/>
          <p:cNvSpPr/>
          <p:nvPr/>
        </p:nvSpPr>
        <p:spPr>
          <a:xfrm>
            <a:off x="365760" y="1005840"/>
            <a:ext cx="2742840" cy="383760"/>
          </a:xfrm>
          <a:prstGeom prst="rect">
            <a:avLst/>
          </a:prstGeom>
          <a:solidFill>
            <a:srgbClr val="0d47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66" name="Text 3"/>
          <p:cNvSpPr/>
          <p:nvPr/>
        </p:nvSpPr>
        <p:spPr>
          <a:xfrm>
            <a:off x="365760" y="1005840"/>
            <a:ext cx="2742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Aspect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7" name="Shape 4"/>
          <p:cNvSpPr/>
          <p:nvPr/>
        </p:nvSpPr>
        <p:spPr>
          <a:xfrm>
            <a:off x="3154680" y="1005840"/>
            <a:ext cx="2651400" cy="383760"/>
          </a:xfrm>
          <a:prstGeom prst="rect">
            <a:avLst/>
          </a:prstGeom>
          <a:solidFill>
            <a:srgbClr val="c6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68" name="Text 5"/>
          <p:cNvSpPr/>
          <p:nvPr/>
        </p:nvSpPr>
        <p:spPr>
          <a:xfrm>
            <a:off x="3154680" y="1005840"/>
            <a:ext cx="2651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KMeans (Part 2a)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9" name="Shape 6"/>
          <p:cNvSpPr/>
          <p:nvPr/>
        </p:nvSpPr>
        <p:spPr>
          <a:xfrm>
            <a:off x="5852160" y="1005840"/>
            <a:ext cx="2925720" cy="383760"/>
          </a:xfrm>
          <a:prstGeom prst="rect">
            <a:avLst/>
          </a:prstGeom>
          <a:solidFill>
            <a:srgbClr val="006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70" name="Text 7"/>
          <p:cNvSpPr/>
          <p:nvPr/>
        </p:nvSpPr>
        <p:spPr>
          <a:xfrm>
            <a:off x="5852160" y="1005840"/>
            <a:ext cx="2925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WFAR (Part 2b)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1" name="Shape 8"/>
          <p:cNvSpPr/>
          <p:nvPr/>
        </p:nvSpPr>
        <p:spPr>
          <a:xfrm>
            <a:off x="365760" y="1417320"/>
            <a:ext cx="8412120" cy="4021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2" name="Text 9"/>
          <p:cNvSpPr/>
          <p:nvPr/>
        </p:nvSpPr>
        <p:spPr>
          <a:xfrm>
            <a:off x="411480" y="144468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Assignment method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3" name="Text 10"/>
          <p:cNvSpPr/>
          <p:nvPr/>
        </p:nvSpPr>
        <p:spPr>
          <a:xfrm>
            <a:off x="3154680" y="144468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c62828"/>
                </a:solidFill>
                <a:uFillTx/>
                <a:latin typeface="Calibri"/>
                <a:ea typeface="Calibri"/>
              </a:rPr>
              <a:t>Hard (exactly 1 cluster)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4" name="Text 11"/>
          <p:cNvSpPr/>
          <p:nvPr/>
        </p:nvSpPr>
        <p:spPr>
          <a:xfrm>
            <a:off x="5852160" y="1444680"/>
            <a:ext cx="2880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0695c"/>
                </a:solidFill>
                <a:uFillTx/>
                <a:latin typeface="Calibri"/>
                <a:ea typeface="Calibri"/>
              </a:rPr>
              <a:t>Soft/Fuzzy (confidence % for all 9)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5" name="Shape 12"/>
          <p:cNvSpPr/>
          <p:nvPr/>
        </p:nvSpPr>
        <p:spPr>
          <a:xfrm>
            <a:off x="365760" y="1819800"/>
            <a:ext cx="8412120" cy="402120"/>
          </a:xfrm>
          <a:prstGeom prst="rect">
            <a:avLst/>
          </a:prstGeom>
          <a:solidFill>
            <a:srgbClr val="f0f7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6" name="Text 13"/>
          <p:cNvSpPr/>
          <p:nvPr/>
        </p:nvSpPr>
        <p:spPr>
          <a:xfrm>
            <a:off x="411480" y="184716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Distance metric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7" name="Text 14"/>
          <p:cNvSpPr/>
          <p:nvPr/>
        </p:nvSpPr>
        <p:spPr>
          <a:xfrm>
            <a:off x="3154680" y="184716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c62828"/>
                </a:solidFill>
                <a:uFillTx/>
                <a:latin typeface="Calibri"/>
                <a:ea typeface="Calibri"/>
              </a:rPr>
              <a:t>Uniform Euclidean (equal weights)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8" name="Text 15"/>
          <p:cNvSpPr/>
          <p:nvPr/>
        </p:nvSpPr>
        <p:spPr>
          <a:xfrm>
            <a:off x="5852160" y="1847160"/>
            <a:ext cx="2880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0695c"/>
                </a:solidFill>
                <a:uFillTx/>
                <a:latin typeface="Calibri"/>
                <a:ea typeface="Calibri"/>
              </a:rPr>
              <a:t>Domain-Weighted (agro-importance)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9" name="Shape 16"/>
          <p:cNvSpPr/>
          <p:nvPr/>
        </p:nvSpPr>
        <p:spPr>
          <a:xfrm>
            <a:off x="365760" y="2221920"/>
            <a:ext cx="8412120" cy="4021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0" name="Text 17"/>
          <p:cNvSpPr/>
          <p:nvPr/>
        </p:nvSpPr>
        <p:spPr>
          <a:xfrm>
            <a:off x="411480" y="224928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Optimal K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1" name="Text 18"/>
          <p:cNvSpPr/>
          <p:nvPr/>
        </p:nvSpPr>
        <p:spPr>
          <a:xfrm>
            <a:off x="3154680" y="224928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c62828"/>
                </a:solidFill>
                <a:uFillTx/>
                <a:latin typeface="Calibri"/>
                <a:ea typeface="Calibri"/>
              </a:rPr>
              <a:t>Automatic via Silhouette scoring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2" name="Text 19"/>
          <p:cNvSpPr/>
          <p:nvPr/>
        </p:nvSpPr>
        <p:spPr>
          <a:xfrm>
            <a:off x="5852160" y="2249280"/>
            <a:ext cx="2880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0695c"/>
                </a:solidFill>
                <a:uFillTx/>
                <a:latin typeface="Calibri"/>
                <a:ea typeface="Calibri"/>
              </a:rPr>
              <a:t>Fixed at 9 (known crop profiles)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3" name="Shape 20"/>
          <p:cNvSpPr/>
          <p:nvPr/>
        </p:nvSpPr>
        <p:spPr>
          <a:xfrm>
            <a:off x="365760" y="2624400"/>
            <a:ext cx="8412120" cy="402120"/>
          </a:xfrm>
          <a:prstGeom prst="rect">
            <a:avLst/>
          </a:prstGeom>
          <a:solidFill>
            <a:srgbClr val="f0f7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4" name="Text 21"/>
          <p:cNvSpPr/>
          <p:nvPr/>
        </p:nvSpPr>
        <p:spPr>
          <a:xfrm>
            <a:off x="411480" y="265176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Scalability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5" name="Text 22"/>
          <p:cNvSpPr/>
          <p:nvPr/>
        </p:nvSpPr>
        <p:spPr>
          <a:xfrm>
            <a:off x="3154680" y="265176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c62828"/>
                </a:solidFill>
                <a:uFillTx/>
                <a:latin typeface="Calibri"/>
                <a:ea typeface="Calibri"/>
              </a:rPr>
              <a:t>Distributed (Spark, 500K records)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6" name="Text 23"/>
          <p:cNvSpPr/>
          <p:nvPr/>
        </p:nvSpPr>
        <p:spPr>
          <a:xfrm>
            <a:off x="5852160" y="2651760"/>
            <a:ext cx="2880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0695c"/>
                </a:solidFill>
                <a:uFillTx/>
                <a:latin typeface="Calibri"/>
                <a:ea typeface="Calibri"/>
              </a:rPr>
              <a:t>Single-node Python prototype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7" name="Shape 24"/>
          <p:cNvSpPr/>
          <p:nvPr/>
        </p:nvSpPr>
        <p:spPr>
          <a:xfrm>
            <a:off x="365760" y="3026520"/>
            <a:ext cx="8412120" cy="4021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8" name="Text 25"/>
          <p:cNvSpPr/>
          <p:nvPr/>
        </p:nvSpPr>
        <p:spPr>
          <a:xfrm>
            <a:off x="411480" y="305424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Borderline detection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9" name="Text 26"/>
          <p:cNvSpPr/>
          <p:nvPr/>
        </p:nvSpPr>
        <p:spPr>
          <a:xfrm>
            <a:off x="3154680" y="305424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c62828"/>
                </a:solidFill>
                <a:uFillTx/>
                <a:latin typeface="Calibri"/>
                <a:ea typeface="Calibri"/>
              </a:rPr>
              <a:t>None (binary assignment)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0" name="Text 27"/>
          <p:cNvSpPr/>
          <p:nvPr/>
        </p:nvSpPr>
        <p:spPr>
          <a:xfrm>
            <a:off x="5852160" y="3054240"/>
            <a:ext cx="2880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0695c"/>
                </a:solidFill>
                <a:uFillTx/>
                <a:latin typeface="Calibri"/>
                <a:ea typeface="Calibri"/>
              </a:rPr>
              <a:t>Yes — flags ambiguous zone records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1" name="Shape 28"/>
          <p:cNvSpPr/>
          <p:nvPr/>
        </p:nvSpPr>
        <p:spPr>
          <a:xfrm>
            <a:off x="365760" y="3429000"/>
            <a:ext cx="8412120" cy="402120"/>
          </a:xfrm>
          <a:prstGeom prst="rect">
            <a:avLst/>
          </a:prstGeom>
          <a:solidFill>
            <a:srgbClr val="f0f7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2" name="Text 29"/>
          <p:cNvSpPr/>
          <p:nvPr/>
        </p:nvSpPr>
        <p:spPr>
          <a:xfrm>
            <a:off x="411480" y="345636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Interpretability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3" name="Text 30"/>
          <p:cNvSpPr/>
          <p:nvPr/>
        </p:nvSpPr>
        <p:spPr>
          <a:xfrm>
            <a:off x="3154680" y="345636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c62828"/>
                </a:solidFill>
                <a:uFillTx/>
                <a:latin typeface="Calibri"/>
                <a:ea typeface="Calibri"/>
              </a:rPr>
              <a:t>Cluster centroids + dominant label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4" name="Text 31"/>
          <p:cNvSpPr/>
          <p:nvPr/>
        </p:nvSpPr>
        <p:spPr>
          <a:xfrm>
            <a:off x="5852160" y="3456360"/>
            <a:ext cx="2880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0695c"/>
                </a:solidFill>
                <a:uFillTx/>
                <a:latin typeface="Calibri"/>
                <a:ea typeface="Calibri"/>
              </a:rPr>
              <a:t>Per-crop membership % + weights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5" name="Shape 32"/>
          <p:cNvSpPr/>
          <p:nvPr/>
        </p:nvSpPr>
        <p:spPr>
          <a:xfrm>
            <a:off x="365760" y="3831480"/>
            <a:ext cx="8412120" cy="4021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6" name="Text 33"/>
          <p:cNvSpPr/>
          <p:nvPr/>
        </p:nvSpPr>
        <p:spPr>
          <a:xfrm>
            <a:off x="411480" y="385884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Accuracy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7" name="Text 34"/>
          <p:cNvSpPr/>
          <p:nvPr/>
        </p:nvSpPr>
        <p:spPr>
          <a:xfrm>
            <a:off x="3154680" y="385884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c62828"/>
                </a:solidFill>
                <a:uFillTx/>
                <a:latin typeface="Calibri"/>
                <a:ea typeface="Calibri"/>
              </a:rPr>
              <a:t>~High on 500K synthetic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8" name="Text 35"/>
          <p:cNvSpPr/>
          <p:nvPr/>
        </p:nvSpPr>
        <p:spPr>
          <a:xfrm>
            <a:off x="5852160" y="3858840"/>
            <a:ext cx="2880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0695c"/>
                </a:solidFill>
                <a:uFillTx/>
                <a:latin typeface="Calibri"/>
                <a:ea typeface="Calibri"/>
              </a:rPr>
              <a:t>84.06% on 1,800 test records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9" name="Shape 36"/>
          <p:cNvSpPr/>
          <p:nvPr/>
        </p:nvSpPr>
        <p:spPr>
          <a:xfrm>
            <a:off x="365760" y="4233600"/>
            <a:ext cx="8412120" cy="402120"/>
          </a:xfrm>
          <a:prstGeom prst="rect">
            <a:avLst/>
          </a:prstGeom>
          <a:solidFill>
            <a:srgbClr val="f0f7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0" name="Text 37"/>
          <p:cNvSpPr/>
          <p:nvPr/>
        </p:nvSpPr>
        <p:spPr>
          <a:xfrm>
            <a:off x="411480" y="426096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Novel contribution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1" name="Text 38"/>
          <p:cNvSpPr/>
          <p:nvPr/>
        </p:nvSpPr>
        <p:spPr>
          <a:xfrm>
            <a:off x="3154680" y="426096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c62828"/>
                </a:solidFill>
                <a:uFillTx/>
                <a:latin typeface="Calibri"/>
                <a:ea typeface="Calibri"/>
              </a:rPr>
              <a:t>Distributed in-memory Spark iteration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2" name="Text 39"/>
          <p:cNvSpPr/>
          <p:nvPr/>
        </p:nvSpPr>
        <p:spPr>
          <a:xfrm>
            <a:off x="5852160" y="4260960"/>
            <a:ext cx="2880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0695c"/>
                </a:solidFill>
                <a:uFillTx/>
                <a:latin typeface="Calibri"/>
                <a:ea typeface="Calibri"/>
              </a:rPr>
              <a:t>Agronomic weighting + fuzziness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3" name="Shape 40"/>
          <p:cNvSpPr/>
          <p:nvPr/>
        </p:nvSpPr>
        <p:spPr>
          <a:xfrm>
            <a:off x="365760" y="4681800"/>
            <a:ext cx="8412120" cy="31968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4" name="Text 41"/>
          <p:cNvSpPr/>
          <p:nvPr/>
        </p:nvSpPr>
        <p:spPr>
          <a:xfrm>
            <a:off x="502920" y="4700160"/>
            <a:ext cx="8137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KMeans and WFAR are complementary: Spark discovers zones at scale → WFAR delivers confidence-weighted recommendations at the farm level.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Text 0"/>
          <p:cNvSpPr/>
          <p:nvPr/>
        </p:nvSpPr>
        <p:spPr>
          <a:xfrm>
            <a:off x="457200" y="2559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Summary &amp; Conclusions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6" name="Shape 1"/>
          <p:cNvSpPr/>
          <p:nvPr/>
        </p:nvSpPr>
        <p:spPr>
          <a:xfrm>
            <a:off x="457200" y="887040"/>
            <a:ext cx="8229240" cy="27000"/>
          </a:xfrm>
          <a:prstGeom prst="rect">
            <a:avLst/>
          </a:prstGeom>
          <a:solidFill>
            <a:srgbClr val="42a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07" name="Shape 2"/>
          <p:cNvSpPr/>
          <p:nvPr/>
        </p:nvSpPr>
        <p:spPr>
          <a:xfrm>
            <a:off x="365760" y="1005840"/>
            <a:ext cx="8412120" cy="1261440"/>
          </a:xfrm>
          <a:prstGeom prst="rect">
            <a:avLst/>
          </a:prstGeom>
          <a:solidFill>
            <a:srgbClr val="f0f7ff"/>
          </a:solidFill>
          <a:ln w="12700">
            <a:solidFill>
              <a:srgbClr val="bbde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8" name="Shape 3"/>
          <p:cNvSpPr/>
          <p:nvPr/>
        </p:nvSpPr>
        <p:spPr>
          <a:xfrm>
            <a:off x="365760" y="1005840"/>
            <a:ext cx="1691280" cy="1261440"/>
          </a:xfrm>
          <a:prstGeom prst="rect">
            <a:avLst/>
          </a:prstGeom>
          <a:solidFill>
            <a:srgbClr val="0d47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09" name="Text 4"/>
          <p:cNvSpPr/>
          <p:nvPr/>
        </p:nvSpPr>
        <p:spPr>
          <a:xfrm>
            <a:off x="365760" y="1115640"/>
            <a:ext cx="1691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Part 01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0" name="Text 5"/>
          <p:cNvSpPr/>
          <p:nvPr/>
        </p:nvSpPr>
        <p:spPr>
          <a:xfrm>
            <a:off x="402480" y="1508760"/>
            <a:ext cx="16272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Distributed Data Management in IoT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1" name="Text 6"/>
          <p:cNvSpPr/>
          <p:nvPr/>
        </p:nvSpPr>
        <p:spPr>
          <a:xfrm>
            <a:off x="2176200" y="1115640"/>
            <a:ext cx="6491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▸  </a:t>
            </a:r>
            <a:r>
              <a:rPr b="0" lang="en-US" sz="11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IoT generates data at zettabyte scale across 6 deployment domains (Consumer, IIoT, Smart City, Healthcare, Agri, Auto)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2" name="Text 7"/>
          <p:cNvSpPr/>
          <p:nvPr/>
        </p:nvSpPr>
        <p:spPr>
          <a:xfrm>
            <a:off x="2176200" y="1627560"/>
            <a:ext cx="6491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▸  </a:t>
            </a:r>
            <a:r>
              <a:rPr b="0" lang="en-US" sz="11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Cloud-centric architectures fail across 5 dimensions: latency, bandwidth, reliability, compliance, and economics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3" name="Text 8"/>
          <p:cNvSpPr/>
          <p:nvPr/>
        </p:nvSpPr>
        <p:spPr>
          <a:xfrm>
            <a:off x="2176200" y="2139840"/>
            <a:ext cx="6491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d47a1"/>
                </a:solidFill>
                <a:uFillTx/>
                <a:latin typeface="Calibri"/>
                <a:ea typeface="Calibri"/>
              </a:rPr>
              <a:t>▸  </a:t>
            </a:r>
            <a:r>
              <a:rPr b="0" lang="en-US" sz="11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5 core principles: Tier Appropriateness · Autonomous Sufficiency · Progressive Refinement · Partition Resilience · Security by Distribution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4" name="Shape 9"/>
          <p:cNvSpPr/>
          <p:nvPr/>
        </p:nvSpPr>
        <p:spPr>
          <a:xfrm>
            <a:off x="365760" y="2359080"/>
            <a:ext cx="8412120" cy="1261440"/>
          </a:xfrm>
          <a:prstGeom prst="rect">
            <a:avLst/>
          </a:prstGeom>
          <a:solidFill>
            <a:srgbClr val="f0f7ff"/>
          </a:solidFill>
          <a:ln w="12700">
            <a:solidFill>
              <a:srgbClr val="bbde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5" name="Shape 10"/>
          <p:cNvSpPr/>
          <p:nvPr/>
        </p:nvSpPr>
        <p:spPr>
          <a:xfrm>
            <a:off x="365760" y="2359080"/>
            <a:ext cx="1691280" cy="1261440"/>
          </a:xfrm>
          <a:prstGeom prst="rect">
            <a:avLst/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16" name="Text 11"/>
          <p:cNvSpPr/>
          <p:nvPr/>
        </p:nvSpPr>
        <p:spPr>
          <a:xfrm>
            <a:off x="365760" y="2468880"/>
            <a:ext cx="1691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Part 02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7" name="Text 12"/>
          <p:cNvSpPr/>
          <p:nvPr/>
        </p:nvSpPr>
        <p:spPr>
          <a:xfrm>
            <a:off x="402480" y="2862000"/>
            <a:ext cx="16272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Spark MLlib K-Means Clustering (Assign 2a)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8" name="Text 13"/>
          <p:cNvSpPr/>
          <p:nvPr/>
        </p:nvSpPr>
        <p:spPr>
          <a:xfrm>
            <a:off x="2176200" y="2468880"/>
            <a:ext cx="6491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2e7d32"/>
                </a:solidFill>
                <a:uFillTx/>
                <a:latin typeface="Calibri"/>
                <a:ea typeface="Calibri"/>
              </a:rPr>
              <a:t>▸  </a:t>
            </a:r>
            <a:r>
              <a:rPr b="0" lang="en-US" sz="11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K=9 automatically selected via Silhouette (0.4570); 500K records processed in ~202s total pipeline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9" name="Text 14"/>
          <p:cNvSpPr/>
          <p:nvPr/>
        </p:nvSpPr>
        <p:spPr>
          <a:xfrm>
            <a:off x="2176200" y="2980800"/>
            <a:ext cx="6491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2e7d32"/>
                </a:solidFill>
                <a:uFillTx/>
                <a:latin typeface="Calibri"/>
                <a:ea typeface="Calibri"/>
              </a:rPr>
              <a:t>▸  </a:t>
            </a:r>
            <a:r>
              <a:rPr b="0" lang="en-US" sz="11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9 data-driven agro-climatic zones; Spark in-memory RDD ~100× faster than MapReduce per iteration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0" name="Shape 15"/>
          <p:cNvSpPr/>
          <p:nvPr/>
        </p:nvSpPr>
        <p:spPr>
          <a:xfrm>
            <a:off x="365760" y="3712320"/>
            <a:ext cx="8412120" cy="1261440"/>
          </a:xfrm>
          <a:prstGeom prst="rect">
            <a:avLst/>
          </a:prstGeom>
          <a:solidFill>
            <a:srgbClr val="f0f7ff"/>
          </a:solidFill>
          <a:ln w="12700">
            <a:solidFill>
              <a:srgbClr val="bbde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1" name="Shape 16"/>
          <p:cNvSpPr/>
          <p:nvPr/>
        </p:nvSpPr>
        <p:spPr>
          <a:xfrm>
            <a:off x="365760" y="3712320"/>
            <a:ext cx="1691280" cy="1261440"/>
          </a:xfrm>
          <a:prstGeom prst="rect">
            <a:avLst/>
          </a:prstGeom>
          <a:solidFill>
            <a:srgbClr val="006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22" name="Text 17"/>
          <p:cNvSpPr/>
          <p:nvPr/>
        </p:nvSpPr>
        <p:spPr>
          <a:xfrm>
            <a:off x="365760" y="3822120"/>
            <a:ext cx="1691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Part 03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3" name="Text 18"/>
          <p:cNvSpPr/>
          <p:nvPr/>
        </p:nvSpPr>
        <p:spPr>
          <a:xfrm>
            <a:off x="402480" y="4215240"/>
            <a:ext cx="16272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WFAR Custom Algorithm (Assign 2b)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4" name="Text 19"/>
          <p:cNvSpPr/>
          <p:nvPr/>
        </p:nvSpPr>
        <p:spPr>
          <a:xfrm>
            <a:off x="2176200" y="3822120"/>
            <a:ext cx="6491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0695c"/>
                </a:solidFill>
                <a:uFillTx/>
                <a:latin typeface="Calibri"/>
                <a:ea typeface="Calibri"/>
              </a:rPr>
              <a:t>▸  </a:t>
            </a:r>
            <a:r>
              <a:rPr b="0" lang="en-US" sz="11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84.06% overall accuracy; 100% precision on Chickpea &amp; Grapes; 18.94% borderline detection rate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5" name="Text 20"/>
          <p:cNvSpPr/>
          <p:nvPr/>
        </p:nvSpPr>
        <p:spPr>
          <a:xfrm>
            <a:off x="2176200" y="4334400"/>
            <a:ext cx="6491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0695c"/>
                </a:solidFill>
                <a:uFillTx/>
                <a:latin typeface="Calibri"/>
                <a:ea typeface="Calibri"/>
              </a:rPr>
              <a:t>▸  </a:t>
            </a:r>
            <a:r>
              <a:rPr b="0" lang="en-US" sz="1100" strike="noStrike" u="none">
                <a:solidFill>
                  <a:srgbClr val="0d1b3e"/>
                </a:solidFill>
                <a:uFillTx/>
                <a:latin typeface="Calibri"/>
                <a:ea typeface="Calibri"/>
              </a:rPr>
              <a:t>Domain-weighted distances + fuzzy membership = richer, confidence-weighted inference on top of Spark KMeans clusters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6" name="Shape 21"/>
          <p:cNvSpPr/>
          <p:nvPr/>
        </p:nvSpPr>
        <p:spPr>
          <a:xfrm>
            <a:off x="365760" y="4800600"/>
            <a:ext cx="8412120" cy="255600"/>
          </a:xfrm>
          <a:prstGeom prst="rect">
            <a:avLst/>
          </a:prstGeom>
          <a:solidFill>
            <a:srgbClr val="0d47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27" name="Text 22"/>
          <p:cNvSpPr/>
          <p:nvPr/>
        </p:nvSpPr>
        <p:spPr>
          <a:xfrm>
            <a:off x="365760" y="480060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Anjali Makkena  ·  252CS018  ·  Distributed Data Management Lab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LibreOffice/24.8.7.2$Linux_X86_64 LibreOffice_project/480$Build-2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2026-05-06T13:13:16Z</dcterms:created>
  <dc:creator>PptxGenJS</dc:creator>
  <dc:description/>
  <dc:language>en-US</dc:language>
  <cp:lastModifiedBy/>
  <dcterms:modified xsi:type="dcterms:W3CDTF">2026-05-06T18:50:22Z</dcterms:modified>
  <cp:revision>3</cp:revision>
  <dc:subject>PptxGenJS Presentation</dc:subject>
  <dc:title>DDM Lab Assignments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17</vt:i4>
  </property>
  <property fmtid="{D5CDD505-2E9C-101B-9397-08002B2CF9AE}" pid="3" name="PresentationFormat">
    <vt:lpwstr>On-screen Show (16:9)</vt:lpwstr>
  </property>
  <property fmtid="{D5CDD505-2E9C-101B-9397-08002B2CF9AE}" pid="4" name="Slides">
    <vt:i4>17</vt:i4>
  </property>
</Properties>
</file>